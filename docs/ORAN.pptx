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22"/>
  </p:notesMasterIdLst>
  <p:sldIdLst>
    <p:sldId id="281" r:id="rId2"/>
    <p:sldId id="292" r:id="rId3"/>
    <p:sldId id="293" r:id="rId4"/>
    <p:sldId id="294" r:id="rId5"/>
    <p:sldId id="295" r:id="rId6"/>
    <p:sldId id="296" r:id="rId7"/>
    <p:sldId id="297" r:id="rId8"/>
    <p:sldId id="298" r:id="rId9"/>
    <p:sldId id="299" r:id="rId10"/>
    <p:sldId id="300" r:id="rId11"/>
    <p:sldId id="301" r:id="rId12"/>
    <p:sldId id="302" r:id="rId13"/>
    <p:sldId id="303" r:id="rId14"/>
    <p:sldId id="269" r:id="rId15"/>
    <p:sldId id="270" r:id="rId16"/>
    <p:sldId id="304" r:id="rId17"/>
    <p:sldId id="305" r:id="rId18"/>
    <p:sldId id="306" r:id="rId19"/>
    <p:sldId id="307" r:id="rId20"/>
    <p:sldId id="308"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3245E6-064E-A4EF-8AE4-2143C2BDF6F3}" v="665" dt="2025-02-06T23:10:58.066"/>
    <p1510:client id="{8030209A-3322-1550-7C59-1E754D194A6D}" v="807" dt="2025-02-06T18:21:25.352"/>
    <p1510:client id="{AE9F87D7-4849-4FF0-9456-05A64F90D06E}" v="167" dt="2025-02-06T17:47:18.170"/>
    <p1510:client id="{D33D1DFB-A975-F7AC-5E4C-DBE01D7EE03C}" v="382" dt="2025-02-08T03:36:18.799"/>
    <p1510:client id="{E7D9521B-9746-8E7A-1E2E-BAE9F401D4EC}" v="52" dt="2025-02-07T18:05:47.355"/>
  </p1510:revLst>
</p1510:revInfo>
</file>

<file path=ppt/tableStyles.xml><?xml version="1.0" encoding="utf-8"?>
<a:tblStyleLst xmlns:a="http://schemas.openxmlformats.org/drawingml/2006/main" def="{980B7FB5-9FBB-480C-B280-15BEEB81B580}">
  <a:tblStyle styleId="{980B7FB5-9FBB-480C-B280-15BEEB81B580}"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DFD"/>
          </a:solidFill>
        </a:fill>
      </a:tcStyle>
    </a:wholeTbl>
    <a:band1H>
      <a:tcTxStyle/>
      <a:tcStyle>
        <a:tcBdr/>
        <a:fill>
          <a:solidFill>
            <a:srgbClr val="CDD8FB"/>
          </a:solidFill>
        </a:fill>
      </a:tcStyle>
    </a:band1H>
    <a:band2H>
      <a:tcTxStyle/>
      <a:tcStyle>
        <a:tcBdr/>
      </a:tcStyle>
    </a:band2H>
    <a:band1V>
      <a:tcTxStyle/>
      <a:tcStyle>
        <a:tcBdr/>
        <a:fill>
          <a:solidFill>
            <a:srgbClr val="CDD8FB"/>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72344AE7-A9FE-4D3B-A008-8B7B3BD79478}"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30F815C8-2530-2CF5-2AB8-4C70C370CD96}"/>
            </a:ext>
          </a:extLst>
        </p:cNvPr>
        <p:cNvGrpSpPr/>
        <p:nvPr/>
      </p:nvGrpSpPr>
      <p:grpSpPr>
        <a:xfrm>
          <a:off x="0" y="0"/>
          <a:ext cx="0" cy="0"/>
          <a:chOff x="0" y="0"/>
          <a:chExt cx="0" cy="0"/>
        </a:xfrm>
      </p:grpSpPr>
      <p:sp>
        <p:nvSpPr>
          <p:cNvPr id="51" name="Google Shape;51;p1:notes">
            <a:extLst>
              <a:ext uri="{FF2B5EF4-FFF2-40B4-BE49-F238E27FC236}">
                <a16:creationId xmlns:a16="http://schemas.microsoft.com/office/drawing/2014/main" id="{763E83C1-69E2-95A9-56B4-36EBC59F60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a:extLst>
              <a:ext uri="{FF2B5EF4-FFF2-40B4-BE49-F238E27FC236}">
                <a16:creationId xmlns:a16="http://schemas.microsoft.com/office/drawing/2014/main" id="{BAF4889F-A280-1077-8C0A-1AFB2B4E46E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10750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4" name="Google Shape;14;p2"/>
          <p:cNvPicPr preferRelativeResize="0"/>
          <p:nvPr/>
        </p:nvPicPr>
        <p:blipFill rotWithShape="1">
          <a:blip r:embed="rId2">
            <a:alphaModFix/>
          </a:blip>
          <a:srcRect/>
          <a:stretch/>
        </p:blipFill>
        <p:spPr>
          <a:xfrm>
            <a:off x="3463213" y="4730051"/>
            <a:ext cx="2217574" cy="3372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391725" y="77650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5" name="Google Shape;25;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 name="Google Shape;26;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91725" y="776500"/>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 name="Google Shape;33;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9" name="Google Shape;49;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目录">
    <p:bg>
      <p:bgPr>
        <a:solidFill>
          <a:srgbClr val="FFFFFF">
            <a:alpha val="0"/>
          </a:srgbClr>
        </a:solidFill>
        <a:effectLst/>
      </p:bgPr>
    </p:bg>
    <p:spTree>
      <p:nvGrpSpPr>
        <p:cNvPr id="1" name=""/>
        <p:cNvGrpSpPr/>
        <p:nvPr/>
      </p:nvGrpSpPr>
      <p:grpSpPr>
        <a:xfrm>
          <a:off x="0" y="0"/>
          <a:ext cx="0" cy="0"/>
          <a:chOff x="0" y="0"/>
          <a:chExt cx="0" cy="0"/>
        </a:xfrm>
      </p:grpSpPr>
      <p:sp>
        <p:nvSpPr>
          <p:cNvPr id="2" name="AutoShape 2"/>
          <p:cNvSpPr>
            <a:spLocks noGrp="1"/>
          </p:cNvSpPr>
          <p:nvPr>
            <p:ph type="body" sz="quarter" idx="14"/>
          </p:nvPr>
        </p:nvSpPr>
        <p:spPr>
          <a:xfrm>
            <a:off x="495300" y="1125141"/>
            <a:ext cx="2127422" cy="445970"/>
          </a:xfrm>
        </p:spPr>
        <p:txBody>
          <a:bodyPr vert="horz" lIns="91440" tIns="45720" rIns="91440" bIns="45720" anchor="t">
            <a:normAutofit/>
          </a:bodyPr>
          <a:lstStyle>
            <a:lvl1pPr marL="0" indent="0" algn="r">
              <a:lnSpc>
                <a:spcPct val="90000"/>
              </a:lnSpc>
              <a:spcBef>
                <a:spcPts val="750"/>
              </a:spcBef>
              <a:defRPr/>
            </a:lvl1pPr>
          </a:lstStyle>
          <a:p>
            <a:pPr marL="0" indent="0" algn="r">
              <a:lnSpc>
                <a:spcPct val="90000"/>
              </a:lnSpc>
              <a:spcBef>
                <a:spcPts val="1000"/>
              </a:spcBef>
            </a:pPr>
            <a:r>
              <a:rPr lang="en-US" sz="1800" b="1" i="0" u="none" baseline="0">
                <a:solidFill>
                  <a:srgbClr val="2F2F2F"/>
                </a:solidFill>
                <a:latin typeface="Arial"/>
                <a:ea typeface="Arial"/>
              </a:rPr>
              <a:t>CONTENTS</a:t>
            </a:r>
          </a:p>
        </p:txBody>
      </p:sp>
      <p:sp>
        <p:nvSpPr>
          <p:cNvPr id="3" name="AutoShape 3"/>
          <p:cNvSpPr>
            <a:spLocks noGrp="1"/>
          </p:cNvSpPr>
          <p:nvPr>
            <p:ph type="body" sz="quarter" idx="13"/>
          </p:nvPr>
        </p:nvSpPr>
        <p:spPr>
          <a:xfrm>
            <a:off x="2735877" y="1125141"/>
            <a:ext cx="5903284" cy="3475435"/>
          </a:xfrm>
        </p:spPr>
        <p:txBody>
          <a:bodyPr vert="horz" lIns="91440" tIns="45720" rIns="91440" bIns="45720" anchor="t">
            <a:normAutofit/>
          </a:bodyPr>
          <a:lstStyle>
            <a:lvl1pPr marL="257175" indent="-257175" algn="l">
              <a:lnSpc>
                <a:spcPct val="90000"/>
              </a:lnSpc>
              <a:spcBef>
                <a:spcPts val="750"/>
              </a:spcBef>
              <a:defRPr/>
            </a:lvl1pPr>
          </a:lstStyle>
          <a:p>
            <a:pPr marL="342900" indent="-342900" algn="l">
              <a:lnSpc>
                <a:spcPct val="90000"/>
              </a:lnSpc>
              <a:spcBef>
                <a:spcPts val="1000"/>
              </a:spcBef>
            </a:pPr>
            <a:r>
              <a:rPr lang="en-US" sz="1350" b="0" i="0" u="none" baseline="0">
                <a:solidFill>
                  <a:srgbClr val="2F2F2F"/>
                </a:solidFill>
                <a:latin typeface="Arial"/>
                <a:ea typeface="Arial"/>
              </a:rPr>
              <a:t>Click to edit Master text styles</a:t>
            </a:r>
          </a:p>
          <a:p>
            <a:pPr marL="600075" lvl="1" indent="-257175" algn="l">
              <a:lnSpc>
                <a:spcPct val="90000"/>
              </a:lnSpc>
              <a:spcBef>
                <a:spcPts val="375"/>
              </a:spcBef>
            </a:pPr>
            <a:r>
              <a:rPr lang="en-US" sz="1200" b="0" i="0" u="none" baseline="0">
                <a:solidFill>
                  <a:srgbClr val="2F2F2F"/>
                </a:solidFill>
                <a:latin typeface="Arial"/>
                <a:ea typeface="Arial"/>
              </a:rPr>
              <a:t>Second level</a:t>
            </a:r>
          </a:p>
          <a:p>
            <a:pPr marL="942975" lvl="2" indent="-257175" algn="l">
              <a:lnSpc>
                <a:spcPct val="90000"/>
              </a:lnSpc>
              <a:spcBef>
                <a:spcPts val="375"/>
              </a:spcBef>
            </a:pPr>
            <a:r>
              <a:rPr lang="en-US" sz="1050" b="0" i="0" u="none" baseline="0">
                <a:solidFill>
                  <a:srgbClr val="2F2F2F"/>
                </a:solidFill>
                <a:latin typeface="Arial"/>
                <a:ea typeface="Arial"/>
              </a:rPr>
              <a:t>Third level</a:t>
            </a:r>
          </a:p>
          <a:p>
            <a:pPr marL="1200150" lvl="3" indent="-171450" algn="l">
              <a:lnSpc>
                <a:spcPct val="90000"/>
              </a:lnSpc>
              <a:spcBef>
                <a:spcPts val="375"/>
              </a:spcBef>
            </a:pPr>
            <a:r>
              <a:rPr lang="en-US" sz="900" b="0" i="0" u="none" baseline="0">
                <a:solidFill>
                  <a:srgbClr val="2F2F2F"/>
                </a:solidFill>
                <a:latin typeface="Arial"/>
                <a:ea typeface="Arial"/>
              </a:rPr>
              <a:t>Fourth level</a:t>
            </a:r>
          </a:p>
          <a:p>
            <a:pPr marL="1543050" lvl="4" indent="-171450" algn="l">
              <a:lnSpc>
                <a:spcPct val="90000"/>
              </a:lnSpc>
              <a:spcBef>
                <a:spcPts val="375"/>
              </a:spcBef>
            </a:pPr>
            <a:r>
              <a:rPr lang="en-US" sz="900" b="0" i="0" u="none" baseline="0">
                <a:solidFill>
                  <a:srgbClr val="2F2F2F"/>
                </a:solidFill>
                <a:latin typeface="Arial"/>
                <a:ea typeface="Arial"/>
              </a:rPr>
              <a:t>Fifth level</a:t>
            </a:r>
          </a:p>
        </p:txBody>
      </p:sp>
      <p:sp>
        <p:nvSpPr>
          <p:cNvPr id="4" name="AutoShape 4"/>
          <p:cNvSpPr>
            <a:spLocks noGrp="1"/>
          </p:cNvSpPr>
          <p:nvPr>
            <p:ph type="ftr" sz="quarter" idx="10"/>
          </p:nvPr>
        </p:nvSpPr>
        <p:spPr>
          <a:xfrm>
            <a:off x="495301" y="4829175"/>
            <a:ext cx="2994128" cy="161925"/>
          </a:xfrm>
        </p:spPr>
        <p:txBody>
          <a:bodyPr vert="horz" lIns="91440" tIns="45720" rIns="91440" bIns="45720" anchor="ctr">
            <a:normAutofit/>
          </a:bodyPr>
          <a:lstStyle/>
          <a:p>
            <a:endParaRPr lang="en-IN"/>
          </a:p>
        </p:txBody>
      </p:sp>
      <p:sp>
        <p:nvSpPr>
          <p:cNvPr id="5" name="AutoShape 5"/>
          <p:cNvSpPr>
            <a:spLocks noGrp="1"/>
          </p:cNvSpPr>
          <p:nvPr>
            <p:ph type="dt" sz="half" idx="11"/>
          </p:nvPr>
        </p:nvSpPr>
        <p:spPr>
          <a:xfrm>
            <a:off x="4128492" y="4829175"/>
            <a:ext cx="1352193" cy="161925"/>
          </a:xfrm>
        </p:spPr>
        <p:txBody>
          <a:bodyPr vert="horz" lIns="91440" tIns="45720" rIns="91440" bIns="45720" anchor="ctr">
            <a:normAutofit/>
          </a:bodyPr>
          <a:lstStyle/>
          <a:p>
            <a:pPr algn="ctr"/>
            <a:r>
              <a:rPr lang="zh-CN" altLang="en-US" sz="750">
                <a:solidFill>
                  <a:srgbClr val="2F2F2F">
                    <a:lumMod val="50000"/>
                    <a:lumOff val="50000"/>
                  </a:srgbClr>
                </a:solidFill>
              </a:rPr>
              <a:t>2024/8/26</a:t>
            </a:r>
          </a:p>
        </p:txBody>
      </p:sp>
      <p:sp>
        <p:nvSpPr>
          <p:cNvPr id="6" name="AutoShape 6"/>
          <p:cNvSpPr>
            <a:spLocks noGrp="1"/>
          </p:cNvSpPr>
          <p:nvPr>
            <p:ph type="sldNum" sz="quarter" idx="12"/>
          </p:nvPr>
        </p:nvSpPr>
        <p:spPr>
          <a:xfrm>
            <a:off x="6643089" y="4829175"/>
            <a:ext cx="1996086" cy="161925"/>
          </a:xfrm>
        </p:spPr>
        <p:txBody>
          <a:bodyPr vert="horz" lIns="91440" tIns="45720" rIns="91440" bIns="45720" anchor="ctr">
            <a:normAutofit/>
          </a:bodyPr>
          <a:lstStyle/>
          <a:p>
            <a:fld id="{3386411A-70EE-422D-B97C-F56BEE3FF077}" type="slidenum">
              <a:rPr lang="en-US" sz="750" smtClean="0">
                <a:solidFill>
                  <a:srgbClr val="2F2F2F">
                    <a:lumMod val="50000"/>
                    <a:lumOff val="50000"/>
                  </a:srgbClr>
                </a:solidFill>
              </a:rPr>
              <a:pPr/>
              <a:t>‹#›</a:t>
            </a:fld>
            <a:endParaRPr lang="en-US" sz="750">
              <a:solidFill>
                <a:srgbClr val="2F2F2F">
                  <a:lumMod val="50000"/>
                  <a:lumOff val="50000"/>
                </a:srgbClr>
              </a:solidFill>
            </a:endParaRPr>
          </a:p>
        </p:txBody>
      </p:sp>
      <p:cxnSp>
        <p:nvCxnSpPr>
          <p:cNvPr id="7" name="Connector 7"/>
          <p:cNvCxnSpPr/>
          <p:nvPr/>
        </p:nvCxnSpPr>
        <p:spPr>
          <a:xfrm>
            <a:off x="2715764" y="1125141"/>
            <a:ext cx="0" cy="3475435"/>
          </a:xfrm>
          <a:prstGeom prst="line">
            <a:avLst/>
          </a:prstGeom>
          <a:solidFill>
            <a:srgbClr val="FFCC00"/>
          </a:solidFill>
          <a:ln w="3175" cap="flat" cmpd="sng">
            <a:solidFill>
              <a:srgbClr val="FFFFFF">
                <a:alpha val="0"/>
                <a:lumMod val="75000"/>
              </a:srgbClr>
            </a:solidFill>
            <a:prstDash val="solid"/>
          </a:ln>
        </p:spPr>
      </p:cxnSp>
      <p:sp>
        <p:nvSpPr>
          <p:cNvPr id="8" name="Freeform 8"/>
          <p:cNvSpPr/>
          <p:nvPr/>
        </p:nvSpPr>
        <p:spPr>
          <a:xfrm>
            <a:off x="1969842" y="3914406"/>
            <a:ext cx="652880" cy="686750"/>
          </a:xfrm>
          <a:custGeom>
            <a:avLst/>
            <a:gdLst/>
            <a:ahLst/>
            <a:cxnLst/>
            <a:rect l="l" t="t"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FFFFFF">
              <a:alpha val="0"/>
              <a:lumMod val="85000"/>
            </a:srgbClr>
          </a:solidFill>
          <a:ln>
            <a:noFill/>
          </a:ln>
        </p:spPr>
        <p:txBody>
          <a:bodyPr vert="horz" lIns="68580" tIns="34290" rIns="68580" bIns="34290" anchor="t">
            <a:normAutofit/>
          </a:bodyPr>
          <a:lstStyle/>
          <a:p>
            <a:pPr marL="0" algn="l"/>
            <a:endParaRPr sz="1050"/>
          </a:p>
        </p:txBody>
      </p:sp>
    </p:spTree>
    <p:extLst>
      <p:ext uri="{BB962C8B-B14F-4D97-AF65-F5344CB8AC3E}">
        <p14:creationId xmlns:p14="http://schemas.microsoft.com/office/powerpoint/2010/main" val="2314759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zh-CN" altLang="en-US" sz="1350">
                <a:solidFill>
                  <a:srgbClr val="2F2F2F"/>
                </a:solidFill>
              </a:rPr>
              <a:t>2024/8/26</a:t>
            </a:r>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algn="l"/>
            <a:fld id="{3386411A-70EE-422D-B97C-F56BEE3FF077}" type="slidenum">
              <a:rPr lang="en-US" sz="1350" smtClean="0">
                <a:solidFill>
                  <a:srgbClr val="2F2F2F"/>
                </a:solidFill>
              </a:rPr>
              <a:pPr algn="l"/>
              <a:t>‹#›</a:t>
            </a:fld>
            <a:endParaRPr lang="en-US" sz="1350">
              <a:solidFill>
                <a:srgbClr val="2F2F2F"/>
              </a:solidFill>
            </a:endParaRPr>
          </a:p>
        </p:txBody>
      </p:sp>
    </p:spTree>
    <p:extLst>
      <p:ext uri="{BB962C8B-B14F-4D97-AF65-F5344CB8AC3E}">
        <p14:creationId xmlns:p14="http://schemas.microsoft.com/office/powerpoint/2010/main" val="1574680375"/>
      </p:ext>
    </p:extLst>
  </p:cSld>
  <p:clrMapOvr>
    <a:masterClrMapping/>
  </p:clrMapOvr>
  <p:hf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2">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91725" y="776500"/>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506800"/>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1"/>
          <p:cNvPicPr preferRelativeResize="0"/>
          <p:nvPr/>
        </p:nvPicPr>
        <p:blipFill rotWithShape="1">
          <a:blip r:embed="rId13">
            <a:alphaModFix/>
          </a:blip>
          <a:srcRect/>
          <a:stretch/>
        </p:blipFill>
        <p:spPr>
          <a:xfrm>
            <a:off x="216000" y="216000"/>
            <a:ext cx="1507681" cy="64799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60" r:id="rId9"/>
    <p:sldLayoutId id="214748366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600A8B27-7695-FB1C-4216-501F3587FB28}"/>
            </a:ext>
          </a:extLst>
        </p:cNvPr>
        <p:cNvGrpSpPr/>
        <p:nvPr/>
      </p:nvGrpSpPr>
      <p:grpSpPr>
        <a:xfrm>
          <a:off x="0" y="0"/>
          <a:ext cx="0" cy="0"/>
          <a:chOff x="0" y="0"/>
          <a:chExt cx="0" cy="0"/>
        </a:xfrm>
      </p:grpSpPr>
      <p:sp>
        <p:nvSpPr>
          <p:cNvPr id="54" name="Google Shape;54;p12">
            <a:extLst>
              <a:ext uri="{FF2B5EF4-FFF2-40B4-BE49-F238E27FC236}">
                <a16:creationId xmlns:a16="http://schemas.microsoft.com/office/drawing/2014/main" id="{91222EA5-9160-1280-9B6B-3BE5E555F6F8}"/>
              </a:ext>
            </a:extLst>
          </p:cNvPr>
          <p:cNvSpPr txBox="1"/>
          <p:nvPr/>
        </p:nvSpPr>
        <p:spPr>
          <a:xfrm>
            <a:off x="917876" y="1173067"/>
            <a:ext cx="7803300" cy="313002"/>
          </a:xfrm>
          <a:prstGeom prst="rect">
            <a:avLst/>
          </a:prstGeom>
          <a:noFill/>
          <a:ln>
            <a:noFill/>
          </a:ln>
        </p:spPr>
        <p:txBody>
          <a:bodyPr spcFirstLastPara="1" wrap="square" lIns="0" tIns="5175" rIns="0" bIns="0" anchor="t" anchorCtr="0">
            <a:spAutoFit/>
          </a:bodyPr>
          <a:lstStyle/>
          <a:p>
            <a:pPr marL="12700" marR="0" lvl="0" indent="0" algn="ctr" rtl="0">
              <a:lnSpc>
                <a:spcPct val="100000"/>
              </a:lnSpc>
              <a:spcBef>
                <a:spcPts val="0"/>
              </a:spcBef>
              <a:spcAft>
                <a:spcPts val="0"/>
              </a:spcAft>
              <a:buNone/>
            </a:pPr>
            <a:r>
              <a:rPr lang="en-US" sz="2000" b="1" i="0" u="none" strike="noStrike" cap="none" dirty="0">
                <a:solidFill>
                  <a:schemeClr val="dk1"/>
                </a:solidFill>
                <a:latin typeface="Times New Roman"/>
                <a:ea typeface="Times New Roman"/>
                <a:cs typeface="Times New Roman"/>
                <a:sym typeface="Times New Roman"/>
              </a:rPr>
              <a:t>“NS-3 ORAN MODELLING AND SIMULATION</a:t>
            </a:r>
            <a:r>
              <a:rPr lang="en-US" sz="2000" b="1" dirty="0">
                <a:solidFill>
                  <a:schemeClr val="dk1"/>
                </a:solidFill>
                <a:latin typeface="Times New Roman"/>
                <a:cs typeface="Times New Roman"/>
                <a:sym typeface="Times New Roman"/>
              </a:rPr>
              <a:t>”</a:t>
            </a:r>
            <a:endParaRPr sz="2000" b="1" dirty="0">
              <a:solidFill>
                <a:schemeClr val="dk1"/>
              </a:solidFill>
              <a:latin typeface="Times New Roman"/>
              <a:cs typeface="Times New Roman"/>
              <a:sym typeface="Times New Roman"/>
            </a:endParaRPr>
          </a:p>
        </p:txBody>
      </p:sp>
      <p:sp>
        <p:nvSpPr>
          <p:cNvPr id="55" name="Google Shape;55;p12">
            <a:extLst>
              <a:ext uri="{FF2B5EF4-FFF2-40B4-BE49-F238E27FC236}">
                <a16:creationId xmlns:a16="http://schemas.microsoft.com/office/drawing/2014/main" id="{C4DA0FBB-4DA3-DBCE-E05F-311AB62EFA37}"/>
              </a:ext>
            </a:extLst>
          </p:cNvPr>
          <p:cNvSpPr/>
          <p:nvPr/>
        </p:nvSpPr>
        <p:spPr>
          <a:xfrm>
            <a:off x="2548825" y="607921"/>
            <a:ext cx="66428" cy="67146"/>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6" name="Google Shape;56;p12">
            <a:extLst>
              <a:ext uri="{FF2B5EF4-FFF2-40B4-BE49-F238E27FC236}">
                <a16:creationId xmlns:a16="http://schemas.microsoft.com/office/drawing/2014/main" id="{1BF98778-64C9-9CC7-D1EE-7CEBAFFAFB0B}"/>
              </a:ext>
            </a:extLst>
          </p:cNvPr>
          <p:cNvSpPr txBox="1"/>
          <p:nvPr/>
        </p:nvSpPr>
        <p:spPr>
          <a:xfrm>
            <a:off x="6547520" y="185553"/>
            <a:ext cx="2332211" cy="221276"/>
          </a:xfrm>
          <a:prstGeom prst="rect">
            <a:avLst/>
          </a:prstGeom>
          <a:noFill/>
          <a:ln>
            <a:noFill/>
          </a:ln>
        </p:spPr>
        <p:txBody>
          <a:bodyPr spcFirstLastPara="1" wrap="square" lIns="0" tIns="5775" rIns="0" bIns="0" anchor="t" anchorCtr="0">
            <a:spAutoFit/>
          </a:bodyPr>
          <a:lstStyle/>
          <a:p>
            <a:pPr marL="5776" marR="0" lvl="0" indent="0" algn="l" rtl="0">
              <a:lnSpc>
                <a:spcPct val="100000"/>
              </a:lnSpc>
              <a:spcBef>
                <a:spcPts val="0"/>
              </a:spcBef>
              <a:spcAft>
                <a:spcPts val="0"/>
              </a:spcAft>
              <a:buNone/>
            </a:pPr>
            <a:r>
              <a:rPr lang="en-US" sz="1400" b="0" i="1" u="none" strike="noStrike" cap="none">
                <a:solidFill>
                  <a:srgbClr val="422C75"/>
                </a:solidFill>
                <a:latin typeface="Playfair Display"/>
                <a:ea typeface="Playfair Display"/>
                <a:cs typeface="Playfair Display"/>
                <a:sym typeface="Playfair Display"/>
              </a:rPr>
              <a:t>Go, change the world</a:t>
            </a:r>
            <a:endParaRPr sz="1400" b="0" i="0" u="none" strike="noStrike" cap="none">
              <a:solidFill>
                <a:srgbClr val="000000"/>
              </a:solidFill>
              <a:latin typeface="Playfair Display"/>
              <a:ea typeface="Playfair Display"/>
              <a:cs typeface="Playfair Display"/>
              <a:sym typeface="Playfair Display"/>
            </a:endParaRPr>
          </a:p>
        </p:txBody>
      </p:sp>
      <p:sp>
        <p:nvSpPr>
          <p:cNvPr id="57" name="Google Shape;57;p12">
            <a:extLst>
              <a:ext uri="{FF2B5EF4-FFF2-40B4-BE49-F238E27FC236}">
                <a16:creationId xmlns:a16="http://schemas.microsoft.com/office/drawing/2014/main" id="{94A9B460-2337-6FAD-754D-4D66F1E71CAE}"/>
              </a:ext>
            </a:extLst>
          </p:cNvPr>
          <p:cNvSpPr txBox="1"/>
          <p:nvPr/>
        </p:nvSpPr>
        <p:spPr>
          <a:xfrm>
            <a:off x="2158919" y="1873388"/>
            <a:ext cx="4826100" cy="339300"/>
          </a:xfrm>
          <a:prstGeom prst="rect">
            <a:avLst/>
          </a:prstGeom>
          <a:noFill/>
          <a:ln>
            <a:noFill/>
          </a:ln>
        </p:spPr>
        <p:txBody>
          <a:bodyPr spcFirstLastPara="1" wrap="square" lIns="41575" tIns="20775" rIns="41575" bIns="20775" anchor="t" anchorCtr="0">
            <a:noAutofit/>
          </a:bodyPr>
          <a:lstStyle/>
          <a:p>
            <a:pPr marL="0" marR="0" lvl="0" indent="0" algn="ctr" rtl="0">
              <a:lnSpc>
                <a:spcPct val="100000"/>
              </a:lnSpc>
              <a:spcBef>
                <a:spcPts val="0"/>
              </a:spcBef>
              <a:spcAft>
                <a:spcPts val="0"/>
              </a:spcAft>
              <a:buNone/>
            </a:pPr>
            <a:r>
              <a:rPr lang="en-US" sz="1800" b="1" i="0" u="none" strike="noStrike" cap="none" dirty="0">
                <a:solidFill>
                  <a:srgbClr val="0033CC"/>
                </a:solidFill>
                <a:latin typeface="Arial"/>
                <a:ea typeface="Arial"/>
                <a:cs typeface="Arial"/>
                <a:sym typeface="Arial"/>
              </a:rPr>
              <a:t>Minor Project Presentation</a:t>
            </a:r>
            <a:endParaRPr dirty="0"/>
          </a:p>
          <a:p>
            <a:pPr marL="0" marR="0" lvl="0" indent="0" algn="l" rtl="0">
              <a:lnSpc>
                <a:spcPct val="100000"/>
              </a:lnSpc>
              <a:spcBef>
                <a:spcPts val="300"/>
              </a:spcBef>
              <a:spcAft>
                <a:spcPts val="0"/>
              </a:spcAft>
              <a:buClr>
                <a:srgbClr val="000000"/>
              </a:buClr>
              <a:buSzPts val="1500"/>
              <a:buFont typeface="Arial"/>
              <a:buNone/>
            </a:pPr>
            <a:endParaRPr sz="1500" b="1" i="0" u="none" strike="noStrike" cap="none" dirty="0">
              <a:solidFill>
                <a:srgbClr val="000000"/>
              </a:solidFill>
              <a:latin typeface="Arial"/>
              <a:ea typeface="Arial"/>
              <a:cs typeface="Arial"/>
              <a:sym typeface="Arial"/>
            </a:endParaRPr>
          </a:p>
          <a:p>
            <a:pPr marL="0" marR="0" lvl="0" indent="0" algn="l" rtl="0">
              <a:lnSpc>
                <a:spcPct val="100000"/>
              </a:lnSpc>
              <a:spcBef>
                <a:spcPts val="300"/>
              </a:spcBef>
              <a:spcAft>
                <a:spcPts val="0"/>
              </a:spcAft>
              <a:buClr>
                <a:srgbClr val="000000"/>
              </a:buClr>
              <a:buSzPts val="1500"/>
              <a:buFont typeface="Arial"/>
              <a:buNone/>
            </a:pPr>
            <a:endParaRPr sz="1500" b="1" i="0" u="none" strike="noStrike" cap="none" dirty="0">
              <a:solidFill>
                <a:srgbClr val="000000"/>
              </a:solidFill>
              <a:latin typeface="Arial"/>
              <a:ea typeface="Arial"/>
              <a:cs typeface="Arial"/>
              <a:sym typeface="Arial"/>
            </a:endParaRPr>
          </a:p>
        </p:txBody>
      </p:sp>
      <p:sp>
        <p:nvSpPr>
          <p:cNvPr id="58" name="Google Shape;58;p12">
            <a:extLst>
              <a:ext uri="{FF2B5EF4-FFF2-40B4-BE49-F238E27FC236}">
                <a16:creationId xmlns:a16="http://schemas.microsoft.com/office/drawing/2014/main" id="{6D8EA9F3-F2C7-7036-DCF6-63AF4FFC2A28}"/>
              </a:ext>
            </a:extLst>
          </p:cNvPr>
          <p:cNvSpPr/>
          <p:nvPr/>
        </p:nvSpPr>
        <p:spPr>
          <a:xfrm>
            <a:off x="1944356" y="2425876"/>
            <a:ext cx="5973010" cy="1405834"/>
          </a:xfrm>
          <a:prstGeom prst="rect">
            <a:avLst/>
          </a:prstGeom>
          <a:noFill/>
          <a:ln>
            <a:noFill/>
          </a:ln>
        </p:spPr>
        <p:txBody>
          <a:bodyPr spcFirstLastPara="1" wrap="square" lIns="41575" tIns="20775" rIns="41575" bIns="20775" anchor="t" anchorCtr="0">
            <a:noAutofit/>
          </a:bodyPr>
          <a:lstStyle/>
          <a:p>
            <a:pPr marL="0" marR="0" lvl="0" indent="0" algn="l" rtl="0">
              <a:lnSpc>
                <a:spcPct val="100000"/>
              </a:lnSpc>
              <a:spcBef>
                <a:spcPts val="0"/>
              </a:spcBef>
              <a:spcAft>
                <a:spcPts val="0"/>
              </a:spcAft>
              <a:buNone/>
            </a:pPr>
            <a:r>
              <a:rPr lang="en-US" b="1" dirty="0" err="1">
                <a:solidFill>
                  <a:schemeClr val="dk1"/>
                </a:solidFill>
                <a:latin typeface="Calibri"/>
                <a:ea typeface="Calibri"/>
                <a:cs typeface="Calibri"/>
                <a:sym typeface="Calibri"/>
              </a:rPr>
              <a:t>Nayakula</a:t>
            </a:r>
            <a:r>
              <a:rPr lang="en-US" b="1" dirty="0">
                <a:solidFill>
                  <a:schemeClr val="dk1"/>
                </a:solidFill>
                <a:latin typeface="Calibri"/>
                <a:ea typeface="Calibri"/>
                <a:cs typeface="Calibri"/>
                <a:sym typeface="Calibri"/>
              </a:rPr>
              <a:t> Sachin Deshik </a:t>
            </a:r>
            <a:r>
              <a:rPr lang="en-US" b="1" i="0" u="none" strike="noStrike" cap="none" dirty="0">
                <a:solidFill>
                  <a:schemeClr val="dk1"/>
                </a:solidFill>
                <a:latin typeface="Calibri"/>
                <a:ea typeface="Calibri"/>
                <a:cs typeface="Calibri"/>
                <a:sym typeface="Calibri"/>
              </a:rPr>
              <a:t>	                            		1RV21EC113</a:t>
            </a:r>
            <a:endParaRPr dirty="0">
              <a:latin typeface="Calibri"/>
              <a:ea typeface="Calibri"/>
              <a:cs typeface="Calibri"/>
              <a:sym typeface="Calibri"/>
            </a:endParaRPr>
          </a:p>
          <a:p>
            <a:pPr marL="0" marR="0" lvl="0" indent="0" algn="l" rtl="0">
              <a:lnSpc>
                <a:spcPct val="100000"/>
              </a:lnSpc>
              <a:spcBef>
                <a:spcPts val="0"/>
              </a:spcBef>
              <a:spcAft>
                <a:spcPts val="0"/>
              </a:spcAft>
              <a:buNone/>
            </a:pPr>
            <a:r>
              <a:rPr lang="en-US" b="1" i="0" u="none" strike="noStrike" cap="none" dirty="0">
                <a:solidFill>
                  <a:schemeClr val="dk1"/>
                </a:solidFill>
                <a:latin typeface="Calibri"/>
                <a:ea typeface="Calibri"/>
                <a:cs typeface="Calibri"/>
                <a:sym typeface="Calibri"/>
              </a:rPr>
              <a:t>			</a:t>
            </a:r>
            <a:endParaRPr b="1" i="0" u="none" strike="noStrike" cap="none" dirty="0">
              <a:solidFill>
                <a:schemeClr val="dk1"/>
              </a:solidFill>
              <a:latin typeface="Calibri"/>
              <a:ea typeface="Calibri"/>
              <a:cs typeface="Calibri"/>
              <a:sym typeface="Calibri"/>
            </a:endParaRPr>
          </a:p>
        </p:txBody>
      </p:sp>
      <p:sp>
        <p:nvSpPr>
          <p:cNvPr id="59" name="Google Shape;59;p12">
            <a:extLst>
              <a:ext uri="{FF2B5EF4-FFF2-40B4-BE49-F238E27FC236}">
                <a16:creationId xmlns:a16="http://schemas.microsoft.com/office/drawing/2014/main" id="{6CFDACF3-4E0C-ECCD-DBAE-B4823429D2AF}"/>
              </a:ext>
            </a:extLst>
          </p:cNvPr>
          <p:cNvSpPr txBox="1"/>
          <p:nvPr/>
        </p:nvSpPr>
        <p:spPr>
          <a:xfrm>
            <a:off x="1944356" y="3831710"/>
            <a:ext cx="5979178" cy="734453"/>
          </a:xfrm>
          <a:prstGeom prst="rect">
            <a:avLst/>
          </a:prstGeom>
          <a:noFill/>
          <a:ln>
            <a:noFill/>
          </a:ln>
        </p:spPr>
        <p:txBody>
          <a:bodyPr spcFirstLastPara="1" wrap="square" lIns="41575" tIns="20775" rIns="41575" bIns="20775" anchor="t" anchorCtr="0">
            <a:spAutoFit/>
          </a:bodyPr>
          <a:lstStyle/>
          <a:p>
            <a:pPr marL="0" marR="0" lvl="0" indent="0" algn="l" rtl="0">
              <a:lnSpc>
                <a:spcPct val="100000"/>
              </a:lnSpc>
              <a:spcBef>
                <a:spcPts val="0"/>
              </a:spcBef>
              <a:spcAft>
                <a:spcPts val="0"/>
              </a:spcAft>
              <a:buNone/>
            </a:pPr>
            <a:r>
              <a:rPr lang="en-US" sz="1500" b="1" i="0" u="none" strike="noStrike" cap="none" dirty="0">
                <a:solidFill>
                  <a:srgbClr val="000000"/>
                </a:solidFill>
                <a:latin typeface="Arial"/>
                <a:ea typeface="Arial"/>
                <a:cs typeface="Arial"/>
                <a:sym typeface="Arial"/>
              </a:rPr>
              <a:t>Guide Name: Dr. </a:t>
            </a:r>
            <a:r>
              <a:rPr lang="en-US" sz="1500" b="1" i="0" u="none" strike="noStrike" cap="none" dirty="0" err="1">
                <a:solidFill>
                  <a:srgbClr val="000000"/>
                </a:solidFill>
                <a:latin typeface="Arial"/>
                <a:ea typeface="Arial"/>
                <a:cs typeface="Arial"/>
                <a:sym typeface="Arial"/>
              </a:rPr>
              <a:t>Nethravathi</a:t>
            </a:r>
            <a:r>
              <a:rPr lang="en-US" sz="1500" b="1" i="0" u="none" strike="noStrike" cap="none" dirty="0">
                <a:solidFill>
                  <a:srgbClr val="000000"/>
                </a:solidFill>
                <a:latin typeface="Arial"/>
                <a:ea typeface="Arial"/>
                <a:cs typeface="Arial"/>
                <a:sym typeface="Arial"/>
              </a:rPr>
              <a:t> K.A</a:t>
            </a:r>
            <a:r>
              <a:rPr lang="en-US" sz="1500" b="1" dirty="0"/>
              <a:t>.</a:t>
            </a:r>
            <a:endParaRPr dirty="0"/>
          </a:p>
          <a:p>
            <a:pPr marL="0" marR="0" lvl="0" indent="0" algn="l" rtl="0">
              <a:lnSpc>
                <a:spcPct val="100000"/>
              </a:lnSpc>
              <a:spcBef>
                <a:spcPts val="0"/>
              </a:spcBef>
              <a:spcAft>
                <a:spcPts val="0"/>
              </a:spcAft>
              <a:buNone/>
            </a:pPr>
            <a:r>
              <a:rPr lang="en-US" sz="1500" b="1" i="0" u="none" strike="noStrike" cap="none" dirty="0">
                <a:solidFill>
                  <a:srgbClr val="000000"/>
                </a:solidFill>
                <a:latin typeface="Arial"/>
                <a:ea typeface="Arial"/>
                <a:cs typeface="Arial"/>
                <a:sym typeface="Arial"/>
              </a:rPr>
              <a:t>Designation: A</a:t>
            </a:r>
            <a:r>
              <a:rPr lang="en-US" sz="1500" b="1" dirty="0"/>
              <a:t>ssistant Professor</a:t>
            </a:r>
            <a:endParaRPr dirty="0"/>
          </a:p>
          <a:p>
            <a:pPr marL="0" marR="0" lvl="0" indent="0" algn="l" rtl="0">
              <a:lnSpc>
                <a:spcPct val="100000"/>
              </a:lnSpc>
              <a:spcBef>
                <a:spcPts val="0"/>
              </a:spcBef>
              <a:spcAft>
                <a:spcPts val="0"/>
              </a:spcAft>
              <a:buNone/>
            </a:pPr>
            <a:r>
              <a:rPr lang="en-US" sz="1500" b="1" i="0" u="none" strike="noStrike" cap="none" dirty="0">
                <a:solidFill>
                  <a:srgbClr val="000000"/>
                </a:solidFill>
                <a:latin typeface="Arial"/>
                <a:ea typeface="Arial"/>
                <a:cs typeface="Arial"/>
                <a:sym typeface="Arial"/>
              </a:rPr>
              <a:t>Department of Electronics and Communication Engineering</a:t>
            </a:r>
            <a:endParaRPr dirty="0"/>
          </a:p>
        </p:txBody>
      </p:sp>
      <p:sp>
        <p:nvSpPr>
          <p:cNvPr id="60" name="Google Shape;60;p12">
            <a:extLst>
              <a:ext uri="{FF2B5EF4-FFF2-40B4-BE49-F238E27FC236}">
                <a16:creationId xmlns:a16="http://schemas.microsoft.com/office/drawing/2014/main" id="{3B4FFD32-4475-895D-46F4-B2B090D08464}"/>
              </a:ext>
            </a:extLst>
          </p:cNvPr>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1</a:t>
            </a:fld>
            <a:endParaRPr/>
          </a:p>
        </p:txBody>
      </p:sp>
    </p:spTree>
    <p:extLst>
      <p:ext uri="{BB962C8B-B14F-4D97-AF65-F5344CB8AC3E}">
        <p14:creationId xmlns:p14="http://schemas.microsoft.com/office/powerpoint/2010/main" val="3865522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3"/>
          </p:nvPr>
        </p:nvSpPr>
        <p:spPr>
          <a:xfrm>
            <a:off x="2253890" y="6167"/>
            <a:ext cx="5181600" cy="1169038"/>
          </a:xfrm>
          <a:noFill/>
        </p:spPr>
        <p:txBody>
          <a:bodyPr spcFirstLastPara="1" vert="horz" wrap="square" lIns="68580" tIns="34290" rIns="68580" bIns="34290" anchor="t" anchorCtr="0">
            <a:spAutoFit/>
          </a:bodyPr>
          <a:lstStyle/>
          <a:p>
            <a:pPr marL="0" indent="0">
              <a:buNone/>
            </a:pPr>
            <a:r>
              <a:rPr lang="en-GB" sz="7200" b="1" dirty="0">
                <a:solidFill>
                  <a:srgbClr val="2F2F2F"/>
                </a:solidFill>
              </a:rPr>
              <a:t>Contents</a:t>
            </a:r>
          </a:p>
        </p:txBody>
      </p:sp>
      <p:grpSp>
        <p:nvGrpSpPr>
          <p:cNvPr id="3" name="Group 3"/>
          <p:cNvGrpSpPr/>
          <p:nvPr/>
        </p:nvGrpSpPr>
        <p:grpSpPr>
          <a:xfrm>
            <a:off x="517436" y="1076502"/>
            <a:ext cx="1628804" cy="671413"/>
            <a:chOff x="6841779" y="3052740"/>
            <a:chExt cx="2806761" cy="895217"/>
          </a:xfrm>
        </p:grpSpPr>
        <p:cxnSp>
          <p:nvCxnSpPr>
            <p:cNvPr id="4" name="Connector 4"/>
            <p:cNvCxnSpPr/>
            <p:nvPr/>
          </p:nvCxnSpPr>
          <p:spPr>
            <a:xfrm>
              <a:off x="6841779" y="3947957"/>
              <a:ext cx="2806761" cy="0"/>
            </a:xfrm>
            <a:prstGeom prst="straightConnector1">
              <a:avLst/>
            </a:prstGeom>
            <a:ln w="25400">
              <a:solidFill>
                <a:schemeClr val="accent1"/>
              </a:solidFill>
              <a:headEnd type="oval"/>
            </a:ln>
          </p:spPr>
        </p:cxnSp>
        <p:sp>
          <p:nvSpPr>
            <p:cNvPr id="5" name="TextBox 5"/>
            <p:cNvSpPr txBox="1"/>
            <p:nvPr/>
          </p:nvSpPr>
          <p:spPr>
            <a:xfrm>
              <a:off x="6841779" y="3052740"/>
              <a:ext cx="1094002" cy="895217"/>
            </a:xfrm>
            <a:prstGeom prst="rect">
              <a:avLst/>
            </a:prstGeom>
            <a:noFill/>
          </p:spPr>
          <p:txBody>
            <a:bodyPr vert="horz" wrap="none" lIns="81000" tIns="81000" rIns="81000" bIns="81000" rtlCol="0" anchor="b">
              <a:spAutoFit/>
            </a:bodyPr>
            <a:lstStyle/>
            <a:p>
              <a:pPr>
                <a:defRPr/>
              </a:pPr>
              <a:r>
                <a:rPr lang="en-US" sz="3300" b="1">
                  <a:solidFill>
                    <a:schemeClr val="accent1"/>
                  </a:solidFill>
                </a:rPr>
                <a:t>01</a:t>
              </a:r>
              <a:endParaRPr lang="en-US" sz="825"/>
            </a:p>
          </p:txBody>
        </p:sp>
      </p:grpSp>
      <p:sp>
        <p:nvSpPr>
          <p:cNvPr id="6" name="AutoShape 6"/>
          <p:cNvSpPr/>
          <p:nvPr/>
        </p:nvSpPr>
        <p:spPr>
          <a:xfrm>
            <a:off x="517437" y="1866800"/>
            <a:ext cx="1508160" cy="893295"/>
          </a:xfrm>
          <a:prstGeom prst="round2DiagRect">
            <a:avLst>
              <a:gd name="adj1" fmla="val 33200"/>
              <a:gd name="adj2" fmla="val 0"/>
            </a:avLst>
          </a:prstGeom>
          <a:solidFill>
            <a:srgbClr val="2F2F2F">
              <a:alpha val="20000"/>
              <a:lumMod val="25000"/>
              <a:lumOff val="75000"/>
            </a:srgbClr>
          </a:solidFill>
          <a:ln cap="flat">
            <a:noFill/>
            <a:prstDash val="solid"/>
            <a:miter lim="800000"/>
          </a:ln>
        </p:spPr>
        <p:txBody>
          <a:bodyPr vert="horz" lIns="68580" tIns="34290" rIns="68580" bIns="34290" anchor="ctr">
            <a:normAutofit/>
          </a:bodyPr>
          <a:lstStyle/>
          <a:p>
            <a:endParaRPr sz="1050"/>
          </a:p>
        </p:txBody>
      </p:sp>
      <p:sp>
        <p:nvSpPr>
          <p:cNvPr id="7" name="AutoShape 7"/>
          <p:cNvSpPr/>
          <p:nvPr/>
        </p:nvSpPr>
        <p:spPr>
          <a:xfrm>
            <a:off x="628650" y="2017001"/>
            <a:ext cx="1259534" cy="692497"/>
          </a:xfrm>
          <a:prstGeom prst="rect">
            <a:avLst/>
          </a:prstGeom>
          <a:noFill/>
          <a:ln>
            <a:noFill/>
          </a:ln>
        </p:spPr>
        <p:txBody>
          <a:bodyPr vert="horz" wrap="square" lIns="68580" tIns="34290" rIns="68580" bIns="34290" anchor="t">
            <a:spAutoFit/>
          </a:bodyPr>
          <a:lstStyle/>
          <a:p>
            <a:pPr algn="ctr"/>
            <a:r>
              <a:rPr lang="zh-CN" altLang="en-US" sz="1350" b="1" dirty="0">
                <a:solidFill>
                  <a:srgbClr val="2F2F2F"/>
                </a:solidFill>
                <a:latin typeface="微软雅黑"/>
                <a:ea typeface="微软雅黑"/>
              </a:rPr>
              <a:t>Introduction to O-RAN and ns-3</a:t>
            </a:r>
          </a:p>
        </p:txBody>
      </p:sp>
      <p:cxnSp>
        <p:nvCxnSpPr>
          <p:cNvPr id="8" name="Connector 8"/>
          <p:cNvCxnSpPr/>
          <p:nvPr/>
        </p:nvCxnSpPr>
        <p:spPr>
          <a:xfrm>
            <a:off x="2146204" y="1747915"/>
            <a:ext cx="1628804" cy="0"/>
          </a:xfrm>
          <a:prstGeom prst="straightConnector1">
            <a:avLst/>
          </a:prstGeom>
          <a:ln w="25400">
            <a:solidFill>
              <a:schemeClr val="accent1"/>
            </a:solidFill>
            <a:headEnd type="oval"/>
          </a:ln>
        </p:spPr>
      </p:cxnSp>
      <p:sp>
        <p:nvSpPr>
          <p:cNvPr id="9" name="TextBox 9"/>
          <p:cNvSpPr txBox="1"/>
          <p:nvPr/>
        </p:nvSpPr>
        <p:spPr>
          <a:xfrm>
            <a:off x="2146205" y="1076502"/>
            <a:ext cx="634865" cy="671413"/>
          </a:xfrm>
          <a:prstGeom prst="rect">
            <a:avLst/>
          </a:prstGeom>
          <a:noFill/>
        </p:spPr>
        <p:txBody>
          <a:bodyPr vert="horz" wrap="none" lIns="81000" tIns="81000" rIns="81000" bIns="81000" rtlCol="0" anchor="b">
            <a:spAutoFit/>
          </a:bodyPr>
          <a:lstStyle/>
          <a:p>
            <a:pPr>
              <a:defRPr/>
            </a:pPr>
            <a:r>
              <a:rPr lang="en-US" sz="3300" b="1">
                <a:solidFill>
                  <a:schemeClr val="accent1"/>
                </a:solidFill>
              </a:rPr>
              <a:t>02</a:t>
            </a:r>
            <a:endParaRPr lang="en-US" sz="825"/>
          </a:p>
        </p:txBody>
      </p:sp>
      <p:sp>
        <p:nvSpPr>
          <p:cNvPr id="10" name="AutoShape 10"/>
          <p:cNvSpPr/>
          <p:nvPr/>
        </p:nvSpPr>
        <p:spPr>
          <a:xfrm>
            <a:off x="2143322" y="1866800"/>
            <a:ext cx="1508160" cy="893295"/>
          </a:xfrm>
          <a:prstGeom prst="round2DiagRect">
            <a:avLst>
              <a:gd name="adj1" fmla="val 33200"/>
              <a:gd name="adj2" fmla="val 0"/>
            </a:avLst>
          </a:prstGeom>
          <a:solidFill>
            <a:srgbClr val="2F2F2F">
              <a:alpha val="20000"/>
              <a:lumMod val="25000"/>
              <a:lumOff val="75000"/>
            </a:srgbClr>
          </a:solidFill>
          <a:ln cap="flat">
            <a:noFill/>
            <a:prstDash val="solid"/>
            <a:miter lim="800000"/>
          </a:ln>
        </p:spPr>
        <p:txBody>
          <a:bodyPr vert="horz" lIns="68580" tIns="34290" rIns="68580" bIns="34290" anchor="ctr">
            <a:normAutofit/>
          </a:bodyPr>
          <a:lstStyle/>
          <a:p>
            <a:endParaRPr sz="1050"/>
          </a:p>
        </p:txBody>
      </p:sp>
      <p:sp>
        <p:nvSpPr>
          <p:cNvPr id="11" name="AutoShape 11"/>
          <p:cNvSpPr/>
          <p:nvPr/>
        </p:nvSpPr>
        <p:spPr>
          <a:xfrm>
            <a:off x="2228660" y="2017001"/>
            <a:ext cx="1285409" cy="692497"/>
          </a:xfrm>
          <a:prstGeom prst="rect">
            <a:avLst/>
          </a:prstGeom>
          <a:noFill/>
          <a:ln>
            <a:noFill/>
          </a:ln>
        </p:spPr>
        <p:txBody>
          <a:bodyPr vert="horz" wrap="square" lIns="68580" tIns="34290" rIns="68580" bIns="34290" anchor="t">
            <a:spAutoFit/>
          </a:bodyPr>
          <a:lstStyle/>
          <a:p>
            <a:pPr algn="ctr"/>
            <a:r>
              <a:rPr lang="zh-CN" altLang="en-US" sz="1350" b="1" dirty="0">
                <a:solidFill>
                  <a:srgbClr val="2F2F2F"/>
                </a:solidFill>
                <a:latin typeface="微软雅黑"/>
                <a:ea typeface="微软雅黑"/>
              </a:rPr>
              <a:t>O-RAN Architecture Components</a:t>
            </a:r>
          </a:p>
        </p:txBody>
      </p:sp>
      <p:cxnSp>
        <p:nvCxnSpPr>
          <p:cNvPr id="12" name="Connector 12"/>
          <p:cNvCxnSpPr/>
          <p:nvPr/>
        </p:nvCxnSpPr>
        <p:spPr>
          <a:xfrm>
            <a:off x="3774972" y="1747915"/>
            <a:ext cx="1628804" cy="0"/>
          </a:xfrm>
          <a:prstGeom prst="straightConnector1">
            <a:avLst/>
          </a:prstGeom>
          <a:ln w="25400">
            <a:solidFill>
              <a:schemeClr val="accent1"/>
            </a:solidFill>
            <a:headEnd type="oval"/>
          </a:ln>
        </p:spPr>
      </p:cxnSp>
      <p:sp>
        <p:nvSpPr>
          <p:cNvPr id="13" name="TextBox 13"/>
          <p:cNvSpPr txBox="1"/>
          <p:nvPr/>
        </p:nvSpPr>
        <p:spPr>
          <a:xfrm>
            <a:off x="3774972" y="1076502"/>
            <a:ext cx="634865" cy="671413"/>
          </a:xfrm>
          <a:prstGeom prst="rect">
            <a:avLst/>
          </a:prstGeom>
          <a:noFill/>
        </p:spPr>
        <p:txBody>
          <a:bodyPr vert="horz" wrap="none" lIns="81000" tIns="81000" rIns="81000" bIns="81000" rtlCol="0" anchor="b">
            <a:spAutoFit/>
          </a:bodyPr>
          <a:lstStyle/>
          <a:p>
            <a:pPr>
              <a:defRPr/>
            </a:pPr>
            <a:r>
              <a:rPr lang="en-US" sz="3300" b="1">
                <a:solidFill>
                  <a:schemeClr val="accent1"/>
                </a:solidFill>
              </a:rPr>
              <a:t>03</a:t>
            </a:r>
            <a:endParaRPr lang="en-US" sz="825"/>
          </a:p>
        </p:txBody>
      </p:sp>
      <p:sp>
        <p:nvSpPr>
          <p:cNvPr id="14" name="AutoShape 14"/>
          <p:cNvSpPr/>
          <p:nvPr/>
        </p:nvSpPr>
        <p:spPr>
          <a:xfrm>
            <a:off x="3769208" y="1866800"/>
            <a:ext cx="1508160" cy="893295"/>
          </a:xfrm>
          <a:prstGeom prst="round2DiagRect">
            <a:avLst>
              <a:gd name="adj1" fmla="val 33200"/>
              <a:gd name="adj2" fmla="val 0"/>
            </a:avLst>
          </a:prstGeom>
          <a:solidFill>
            <a:srgbClr val="2F2F2F">
              <a:alpha val="20000"/>
              <a:lumMod val="25000"/>
              <a:lumOff val="75000"/>
            </a:srgbClr>
          </a:solidFill>
          <a:ln cap="flat">
            <a:noFill/>
            <a:prstDash val="solid"/>
            <a:miter lim="800000"/>
          </a:ln>
        </p:spPr>
        <p:txBody>
          <a:bodyPr vert="horz" lIns="68580" tIns="34290" rIns="68580" bIns="34290" anchor="ctr">
            <a:normAutofit/>
          </a:bodyPr>
          <a:lstStyle/>
          <a:p>
            <a:endParaRPr sz="1050"/>
          </a:p>
        </p:txBody>
      </p:sp>
      <p:sp>
        <p:nvSpPr>
          <p:cNvPr id="15" name="AutoShape 15"/>
          <p:cNvSpPr/>
          <p:nvPr/>
        </p:nvSpPr>
        <p:spPr>
          <a:xfrm>
            <a:off x="3854545" y="2017001"/>
            <a:ext cx="1285409" cy="484748"/>
          </a:xfrm>
          <a:prstGeom prst="rect">
            <a:avLst/>
          </a:prstGeom>
          <a:noFill/>
          <a:ln>
            <a:noFill/>
          </a:ln>
        </p:spPr>
        <p:txBody>
          <a:bodyPr vert="horz" wrap="square" lIns="68580" tIns="34290" rIns="68580" bIns="34290" anchor="t">
            <a:spAutoFit/>
          </a:bodyPr>
          <a:lstStyle/>
          <a:p>
            <a:pPr algn="ctr"/>
            <a:r>
              <a:rPr lang="zh-CN" altLang="en-US" sz="1350" b="1">
                <a:solidFill>
                  <a:srgbClr val="2F2F2F"/>
                </a:solidFill>
                <a:latin typeface="微软雅黑"/>
                <a:ea typeface="微软雅黑"/>
              </a:rPr>
              <a:t>Project Objectives</a:t>
            </a:r>
          </a:p>
        </p:txBody>
      </p:sp>
      <p:cxnSp>
        <p:nvCxnSpPr>
          <p:cNvPr id="16" name="Connector 16"/>
          <p:cNvCxnSpPr/>
          <p:nvPr/>
        </p:nvCxnSpPr>
        <p:spPr>
          <a:xfrm>
            <a:off x="1508457" y="3431509"/>
            <a:ext cx="1628804" cy="0"/>
          </a:xfrm>
          <a:prstGeom prst="straightConnector1">
            <a:avLst/>
          </a:prstGeom>
          <a:ln w="25400">
            <a:solidFill>
              <a:schemeClr val="accent1"/>
            </a:solidFill>
            <a:headEnd type="oval"/>
          </a:ln>
        </p:spPr>
      </p:cxnSp>
      <p:sp>
        <p:nvSpPr>
          <p:cNvPr id="17" name="TextBox 17"/>
          <p:cNvSpPr txBox="1"/>
          <p:nvPr/>
        </p:nvSpPr>
        <p:spPr>
          <a:xfrm>
            <a:off x="1508457" y="2760096"/>
            <a:ext cx="634865" cy="671413"/>
          </a:xfrm>
          <a:prstGeom prst="rect">
            <a:avLst/>
          </a:prstGeom>
          <a:noFill/>
        </p:spPr>
        <p:txBody>
          <a:bodyPr vert="horz" wrap="none" lIns="81000" tIns="81000" rIns="81000" bIns="81000" rtlCol="0" anchor="b">
            <a:spAutoFit/>
          </a:bodyPr>
          <a:lstStyle/>
          <a:p>
            <a:pPr>
              <a:defRPr/>
            </a:pPr>
            <a:r>
              <a:rPr lang="en-US" sz="3300" b="1">
                <a:solidFill>
                  <a:schemeClr val="accent1"/>
                </a:solidFill>
              </a:rPr>
              <a:t>04</a:t>
            </a:r>
            <a:endParaRPr lang="en-US" sz="825"/>
          </a:p>
        </p:txBody>
      </p:sp>
      <p:sp>
        <p:nvSpPr>
          <p:cNvPr id="18" name="AutoShape 18"/>
          <p:cNvSpPr/>
          <p:nvPr/>
        </p:nvSpPr>
        <p:spPr>
          <a:xfrm>
            <a:off x="1499810" y="3550394"/>
            <a:ext cx="1508160" cy="893295"/>
          </a:xfrm>
          <a:prstGeom prst="round2DiagRect">
            <a:avLst>
              <a:gd name="adj1" fmla="val 33200"/>
              <a:gd name="adj2" fmla="val 0"/>
            </a:avLst>
          </a:prstGeom>
          <a:solidFill>
            <a:srgbClr val="2F2F2F">
              <a:alpha val="20000"/>
              <a:lumMod val="25000"/>
              <a:lumOff val="75000"/>
            </a:srgbClr>
          </a:solidFill>
          <a:ln cap="flat">
            <a:noFill/>
            <a:prstDash val="solid"/>
            <a:miter lim="800000"/>
          </a:ln>
        </p:spPr>
        <p:txBody>
          <a:bodyPr vert="horz" lIns="68580" tIns="34290" rIns="68580" bIns="34290" anchor="ctr">
            <a:normAutofit/>
          </a:bodyPr>
          <a:lstStyle/>
          <a:p>
            <a:endParaRPr sz="1050"/>
          </a:p>
        </p:txBody>
      </p:sp>
      <p:sp>
        <p:nvSpPr>
          <p:cNvPr id="19" name="AutoShape 19"/>
          <p:cNvSpPr/>
          <p:nvPr/>
        </p:nvSpPr>
        <p:spPr>
          <a:xfrm>
            <a:off x="1513697" y="3700595"/>
            <a:ext cx="1488473" cy="692497"/>
          </a:xfrm>
          <a:prstGeom prst="rect">
            <a:avLst/>
          </a:prstGeom>
          <a:noFill/>
          <a:ln>
            <a:noFill/>
          </a:ln>
        </p:spPr>
        <p:txBody>
          <a:bodyPr vert="horz" wrap="square" lIns="68580" tIns="34290" rIns="68580" bIns="34290" anchor="t">
            <a:spAutoFit/>
          </a:bodyPr>
          <a:lstStyle/>
          <a:p>
            <a:pPr algn="ctr"/>
            <a:r>
              <a:rPr lang="zh-CN" altLang="en-US" sz="1350" b="1" dirty="0">
                <a:solidFill>
                  <a:srgbClr val="2F2F2F"/>
                </a:solidFill>
                <a:latin typeface="微软雅黑"/>
                <a:ea typeface="微软雅黑"/>
              </a:rPr>
              <a:t>Methodology of Simulation Setup</a:t>
            </a:r>
          </a:p>
        </p:txBody>
      </p:sp>
      <p:cxnSp>
        <p:nvCxnSpPr>
          <p:cNvPr id="20" name="Connector 20"/>
          <p:cNvCxnSpPr/>
          <p:nvPr/>
        </p:nvCxnSpPr>
        <p:spPr>
          <a:xfrm>
            <a:off x="3137224" y="3431509"/>
            <a:ext cx="1628804" cy="0"/>
          </a:xfrm>
          <a:prstGeom prst="straightConnector1">
            <a:avLst/>
          </a:prstGeom>
          <a:ln w="25400">
            <a:solidFill>
              <a:schemeClr val="accent1"/>
            </a:solidFill>
            <a:headEnd type="oval"/>
          </a:ln>
        </p:spPr>
      </p:cxnSp>
      <p:sp>
        <p:nvSpPr>
          <p:cNvPr id="21" name="TextBox 21"/>
          <p:cNvSpPr txBox="1"/>
          <p:nvPr/>
        </p:nvSpPr>
        <p:spPr>
          <a:xfrm>
            <a:off x="3137225" y="2760096"/>
            <a:ext cx="634865" cy="671413"/>
          </a:xfrm>
          <a:prstGeom prst="rect">
            <a:avLst/>
          </a:prstGeom>
          <a:noFill/>
        </p:spPr>
        <p:txBody>
          <a:bodyPr vert="horz" wrap="none" lIns="81000" tIns="81000" rIns="81000" bIns="81000" rtlCol="0" anchor="b">
            <a:spAutoFit/>
          </a:bodyPr>
          <a:lstStyle/>
          <a:p>
            <a:pPr>
              <a:defRPr/>
            </a:pPr>
            <a:r>
              <a:rPr lang="en-US" sz="3300" b="1">
                <a:solidFill>
                  <a:schemeClr val="accent1"/>
                </a:solidFill>
              </a:rPr>
              <a:t>05</a:t>
            </a:r>
            <a:endParaRPr lang="en-US" sz="825"/>
          </a:p>
        </p:txBody>
      </p:sp>
      <p:sp>
        <p:nvSpPr>
          <p:cNvPr id="22" name="AutoShape 22"/>
          <p:cNvSpPr/>
          <p:nvPr/>
        </p:nvSpPr>
        <p:spPr>
          <a:xfrm>
            <a:off x="3125696" y="3550394"/>
            <a:ext cx="1508160" cy="893295"/>
          </a:xfrm>
          <a:prstGeom prst="round2DiagRect">
            <a:avLst>
              <a:gd name="adj1" fmla="val 33200"/>
              <a:gd name="adj2" fmla="val 0"/>
            </a:avLst>
          </a:prstGeom>
          <a:solidFill>
            <a:srgbClr val="2F2F2F">
              <a:alpha val="20000"/>
              <a:lumMod val="25000"/>
              <a:lumOff val="75000"/>
            </a:srgbClr>
          </a:solidFill>
          <a:ln cap="flat">
            <a:noFill/>
            <a:prstDash val="solid"/>
            <a:miter lim="800000"/>
          </a:ln>
        </p:spPr>
        <p:txBody>
          <a:bodyPr vert="horz" lIns="68580" tIns="34290" rIns="68580" bIns="34290" anchor="ctr">
            <a:normAutofit/>
          </a:bodyPr>
          <a:lstStyle/>
          <a:p>
            <a:endParaRPr sz="1050"/>
          </a:p>
        </p:txBody>
      </p:sp>
      <p:sp>
        <p:nvSpPr>
          <p:cNvPr id="23" name="AutoShape 23"/>
          <p:cNvSpPr/>
          <p:nvPr/>
        </p:nvSpPr>
        <p:spPr>
          <a:xfrm>
            <a:off x="3211033" y="3700595"/>
            <a:ext cx="1285409" cy="692497"/>
          </a:xfrm>
          <a:prstGeom prst="rect">
            <a:avLst/>
          </a:prstGeom>
          <a:noFill/>
          <a:ln>
            <a:noFill/>
          </a:ln>
        </p:spPr>
        <p:txBody>
          <a:bodyPr vert="horz" wrap="square" lIns="68580" tIns="34290" rIns="68580" bIns="34290" anchor="t">
            <a:spAutoFit/>
          </a:bodyPr>
          <a:lstStyle/>
          <a:p>
            <a:pPr algn="ctr"/>
            <a:r>
              <a:rPr lang="zh-CN" altLang="en-US" sz="1350" b="1" dirty="0">
                <a:solidFill>
                  <a:srgbClr val="2F2F2F"/>
                </a:solidFill>
                <a:latin typeface="微软雅黑"/>
                <a:ea typeface="微软雅黑"/>
              </a:rPr>
              <a:t>Results and Performance Analysis</a:t>
            </a:r>
          </a:p>
        </p:txBody>
      </p:sp>
      <p:cxnSp>
        <p:nvCxnSpPr>
          <p:cNvPr id="24" name="Connector 24"/>
          <p:cNvCxnSpPr/>
          <p:nvPr/>
        </p:nvCxnSpPr>
        <p:spPr>
          <a:xfrm>
            <a:off x="4768910" y="3431509"/>
            <a:ext cx="1628804" cy="0"/>
          </a:xfrm>
          <a:prstGeom prst="straightConnector1">
            <a:avLst/>
          </a:prstGeom>
          <a:ln w="25400">
            <a:solidFill>
              <a:schemeClr val="accent1"/>
            </a:solidFill>
            <a:headEnd type="oval"/>
          </a:ln>
        </p:spPr>
      </p:cxnSp>
      <p:sp>
        <p:nvSpPr>
          <p:cNvPr id="25" name="TextBox 25"/>
          <p:cNvSpPr txBox="1"/>
          <p:nvPr/>
        </p:nvSpPr>
        <p:spPr>
          <a:xfrm>
            <a:off x="4768910" y="2760096"/>
            <a:ext cx="634865" cy="671413"/>
          </a:xfrm>
          <a:prstGeom prst="rect">
            <a:avLst/>
          </a:prstGeom>
          <a:noFill/>
        </p:spPr>
        <p:txBody>
          <a:bodyPr vert="horz" wrap="none" lIns="81000" tIns="81000" rIns="81000" bIns="81000" rtlCol="0" anchor="b">
            <a:spAutoFit/>
          </a:bodyPr>
          <a:lstStyle/>
          <a:p>
            <a:pPr>
              <a:defRPr/>
            </a:pPr>
            <a:r>
              <a:rPr lang="en-US" sz="3300" b="1">
                <a:solidFill>
                  <a:schemeClr val="accent1"/>
                </a:solidFill>
              </a:rPr>
              <a:t>06</a:t>
            </a:r>
            <a:endParaRPr lang="en-US" sz="825"/>
          </a:p>
        </p:txBody>
      </p:sp>
      <p:sp>
        <p:nvSpPr>
          <p:cNvPr id="26" name="AutoShape 26"/>
          <p:cNvSpPr/>
          <p:nvPr/>
        </p:nvSpPr>
        <p:spPr>
          <a:xfrm>
            <a:off x="4757381" y="3550394"/>
            <a:ext cx="1508160" cy="893295"/>
          </a:xfrm>
          <a:prstGeom prst="round2DiagRect">
            <a:avLst>
              <a:gd name="adj1" fmla="val 33200"/>
              <a:gd name="adj2" fmla="val 0"/>
            </a:avLst>
          </a:prstGeom>
          <a:solidFill>
            <a:srgbClr val="2F2F2F">
              <a:alpha val="20000"/>
              <a:lumMod val="25000"/>
              <a:lumOff val="75000"/>
            </a:srgbClr>
          </a:solidFill>
          <a:ln cap="flat">
            <a:noFill/>
            <a:prstDash val="solid"/>
            <a:miter lim="800000"/>
          </a:ln>
        </p:spPr>
        <p:txBody>
          <a:bodyPr vert="horz" lIns="68580" tIns="34290" rIns="68580" bIns="34290" anchor="ctr">
            <a:normAutofit/>
          </a:bodyPr>
          <a:lstStyle/>
          <a:p>
            <a:endParaRPr sz="1050"/>
          </a:p>
        </p:txBody>
      </p:sp>
      <p:sp>
        <p:nvSpPr>
          <p:cNvPr id="27" name="AutoShape 27"/>
          <p:cNvSpPr/>
          <p:nvPr/>
        </p:nvSpPr>
        <p:spPr>
          <a:xfrm>
            <a:off x="4842719" y="3600450"/>
            <a:ext cx="1422823" cy="900246"/>
          </a:xfrm>
          <a:prstGeom prst="rect">
            <a:avLst/>
          </a:prstGeom>
          <a:noFill/>
          <a:ln>
            <a:noFill/>
          </a:ln>
        </p:spPr>
        <p:txBody>
          <a:bodyPr vert="horz" wrap="square" lIns="68580" tIns="34290" rIns="68580" bIns="34290" anchor="t">
            <a:spAutoFit/>
          </a:bodyPr>
          <a:lstStyle/>
          <a:p>
            <a:pPr algn="ctr"/>
            <a:r>
              <a:rPr lang="zh-CN" altLang="en-US" sz="1350" b="1" dirty="0">
                <a:solidFill>
                  <a:srgbClr val="2F2F2F"/>
                </a:solidFill>
                <a:latin typeface="微软雅黑"/>
                <a:ea typeface="微软雅黑"/>
              </a:rPr>
              <a:t>Challenges, Limitations, and Future Work</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par>
                          <p:cTn id="13" fill="hold">
                            <p:stCondLst>
                              <p:cond delay="0"/>
                            </p:stCondLst>
                            <p:childTnLst>
                              <p:par>
                                <p:cTn id="14" presetID="16" presetClass="entr" presetSubtype="37" fill="hold" nodeType="afterEffect">
                                  <p:stCondLst>
                                    <p:cond delay="0"/>
                                  </p:stCondLst>
                                  <p:childTnLst>
                                    <p:animEffect transition="in" filter="barn(outVertical)">
                                      <p:cBhvr>
                                        <p:cTn id="15" dur="500"/>
                                        <p:tgtEl>
                                          <p:spTgt spid="7"/>
                                        </p:tgtEl>
                                      </p:cBhvr>
                                    </p:animEffect>
                                    <p:set>
                                      <p:cBhvr>
                                        <p:cTn id="16" dur="500" fill="hold">
                                          <p:stCondLst>
                                            <p:cond delay="0"/>
                                          </p:stCondLst>
                                        </p:cTn>
                                        <p:tgtEl>
                                          <p:spTgt spid="7"/>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9"/>
                                        </p:tgtEl>
                                        <p:attrNameLst>
                                          <p:attrName>style.visibility</p:attrName>
                                        </p:attrNameLst>
                                      </p:cBhvr>
                                      <p:to>
                                        <p:strVal val="visible"/>
                                      </p:to>
                                    </p:set>
                                  </p:childTnLst>
                                </p:cTn>
                              </p:par>
                            </p:childTnLst>
                          </p:cTn>
                        </p:par>
                        <p:par>
                          <p:cTn id="26" fill="hold">
                            <p:stCondLst>
                              <p:cond delay="0"/>
                            </p:stCondLst>
                            <p:childTnLst>
                              <p:par>
                                <p:cTn id="27" presetID="6" presetClass="entr" presetSubtype="16" fill="hold" nodeType="afterEffect">
                                  <p:stCondLst>
                                    <p:cond delay="0"/>
                                  </p:stCondLst>
                                  <p:childTnLst>
                                    <p:animEffect transition="in" filter="circle(in)">
                                      <p:cBhvr>
                                        <p:cTn id="28" dur="1000"/>
                                        <p:tgtEl>
                                          <p:spTgt spid="11"/>
                                        </p:tgtEl>
                                      </p:cBhvr>
                                    </p:animEffect>
                                    <p:set>
                                      <p:cBhvr>
                                        <p:cTn id="29" dur="1000" fill="hold">
                                          <p:stCondLst>
                                            <p:cond delay="0"/>
                                          </p:stCondLst>
                                        </p:cTn>
                                        <p:tgtEl>
                                          <p:spTgt spid="11"/>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nodeType="after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par>
                          <p:cTn id="39" fill="hold">
                            <p:stCondLst>
                              <p:cond delay="0"/>
                            </p:stCondLst>
                            <p:childTnLst>
                              <p:par>
                                <p:cTn id="40" presetID="58" presetClass="entr" presetSubtype="0" fill="hold" nodeType="afterEffect">
                                  <p:stCondLst>
                                    <p:cond delay="0"/>
                                  </p:stCondLst>
                                  <p:childTnLst>
                                    <p:anim calcmode="lin" valueType="num">
                                      <p:cBhvr>
                                        <p:cTn id="41" dur="1000" fill="hold"/>
                                        <p:tgtEl>
                                          <p:spTgt spid="15"/>
                                        </p:tgtEl>
                                        <p:attrNameLst>
                                          <p:attrName>ppt_w</p:attrName>
                                        </p:attrNameLst>
                                      </p:cBhvr>
                                      <p:tavLst>
                                        <p:tav tm="0">
                                          <p:val>
                                            <p:strVal val="#ppt_w*2.5"/>
                                          </p:val>
                                        </p:tav>
                                        <p:tav tm="100000">
                                          <p:val>
                                            <p:strVal val="#ppt_w"/>
                                          </p:val>
                                        </p:tav>
                                      </p:tavLst>
                                    </p:anim>
                                    <p:anim calcmode="lin" valueType="num">
                                      <p:cBhvr>
                                        <p:cTn id="42" dur="1000" fill="hold"/>
                                        <p:tgtEl>
                                          <p:spTgt spid="15"/>
                                        </p:tgtEl>
                                        <p:attrNameLst>
                                          <p:attrName>ppt_h</p:attrName>
                                        </p:attrNameLst>
                                      </p:cBhvr>
                                      <p:tavLst>
                                        <p:tav tm="0">
                                          <p:val>
                                            <p:strVal val="#ppt_h*0.01"/>
                                          </p:val>
                                        </p:tav>
                                        <p:tav tm="100000">
                                          <p:val>
                                            <p:strVal val="#ppt_h"/>
                                          </p:val>
                                        </p:tav>
                                      </p:tavLst>
                                    </p:anim>
                                    <p:anim calcmode="lin" valueType="num">
                                      <p:cBhvr>
                                        <p:cTn id="43" dur="1000" fill="hold"/>
                                        <p:tgtEl>
                                          <p:spTgt spid="15"/>
                                        </p:tgtEl>
                                        <p:attrNameLst>
                                          <p:attrName>ppt_x</p:attrName>
                                        </p:attrNameLst>
                                      </p:cBhvr>
                                      <p:tavLst>
                                        <p:tav tm="0">
                                          <p:val>
                                            <p:strVal val="#ppt_x"/>
                                          </p:val>
                                        </p:tav>
                                        <p:tav tm="100000">
                                          <p:val>
                                            <p:strVal val="#ppt_x"/>
                                          </p:val>
                                        </p:tav>
                                      </p:tavLst>
                                    </p:anim>
                                    <p:anim calcmode="lin" valueType="num">
                                      <p:cBhvr>
                                        <p:cTn id="44" dur="1000" fill="hold"/>
                                        <p:tgtEl>
                                          <p:spTgt spid="15"/>
                                        </p:tgtEl>
                                        <p:attrNameLst>
                                          <p:attrName>ppt_y</p:attrName>
                                        </p:attrNameLst>
                                      </p:cBhvr>
                                      <p:tavLst>
                                        <p:tav tm="0">
                                          <p:val>
                                            <p:strVal val="#ppt_h+1"/>
                                          </p:val>
                                        </p:tav>
                                        <p:tav tm="100000">
                                          <p:val>
                                            <p:strVal val="#ppt_y"/>
                                          </p:val>
                                        </p:tav>
                                      </p:tavLst>
                                    </p:anim>
                                    <p:animEffect transition="in" filter="fade">
                                      <p:cBhvr>
                                        <p:cTn id="45" dur="1000"/>
                                        <p:tgtEl>
                                          <p:spTgt spid="15"/>
                                        </p:tgtEl>
                                      </p:cBhvr>
                                    </p:animEffect>
                                    <p:set>
                                      <p:cBhvr>
                                        <p:cTn id="46" dur="1000" fill="hold">
                                          <p:stCondLst>
                                            <p:cond delay="0"/>
                                          </p:stCondLst>
                                        </p:cTn>
                                        <p:tgtEl>
                                          <p:spTgt spid="15"/>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nodeType="afterEffect">
                                  <p:stCondLst>
                                    <p:cond delay="0"/>
                                  </p:stCondLst>
                                  <p:childTnLst>
                                    <p:set>
                                      <p:cBhvr>
                                        <p:cTn id="49" dur="1" fill="hold">
                                          <p:stCondLst>
                                            <p:cond delay="0"/>
                                          </p:stCondLst>
                                        </p:cTn>
                                        <p:tgtEl>
                                          <p:spTgt spid="16"/>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nodeType="afterEffect">
                                  <p:stCondLst>
                                    <p:cond delay="0"/>
                                  </p:stCondLst>
                                  <p:childTnLst>
                                    <p:set>
                                      <p:cBhvr>
                                        <p:cTn id="55" dur="1" fill="hold">
                                          <p:stCondLst>
                                            <p:cond delay="0"/>
                                          </p:stCondLst>
                                        </p:cTn>
                                        <p:tgtEl>
                                          <p:spTgt spid="17"/>
                                        </p:tgtEl>
                                        <p:attrNameLst>
                                          <p:attrName>style.visibility</p:attrName>
                                        </p:attrNameLst>
                                      </p:cBhvr>
                                      <p:to>
                                        <p:strVal val="visible"/>
                                      </p:to>
                                    </p:set>
                                  </p:childTnLst>
                                </p:cTn>
                              </p:par>
                            </p:childTnLst>
                          </p:cTn>
                        </p:par>
                        <p:par>
                          <p:cTn id="56" fill="hold">
                            <p:stCondLst>
                              <p:cond delay="0"/>
                            </p:stCondLst>
                            <p:childTnLst>
                              <p:par>
                                <p:cTn id="57" presetID="6" presetClass="entr" presetSubtype="16" fill="hold" nodeType="afterEffect">
                                  <p:stCondLst>
                                    <p:cond delay="0"/>
                                  </p:stCondLst>
                                  <p:childTnLst>
                                    <p:animEffect transition="in" filter="circle(in)">
                                      <p:cBhvr>
                                        <p:cTn id="58" dur="1000"/>
                                        <p:tgtEl>
                                          <p:spTgt spid="19"/>
                                        </p:tgtEl>
                                      </p:cBhvr>
                                    </p:animEffect>
                                    <p:set>
                                      <p:cBhvr>
                                        <p:cTn id="59" dur="1000" fill="hold">
                                          <p:stCondLst>
                                            <p:cond delay="0"/>
                                          </p:stCondLst>
                                        </p:cTn>
                                        <p:tgtEl>
                                          <p:spTgt spid="19"/>
                                        </p:tgtEl>
                                        <p:attrNameLst>
                                          <p:attrName>style.visibility</p:attrName>
                                        </p:attrNameLst>
                                      </p:cBhvr>
                                      <p:to>
                                        <p:strVal val="visible"/>
                                      </p:to>
                                    </p:set>
                                  </p:childTnLst>
                                </p:cTn>
                              </p:par>
                            </p:childTnLst>
                          </p:cTn>
                        </p:par>
                        <p:par>
                          <p:cTn id="60" fill="hold">
                            <p:stCondLst>
                              <p:cond delay="0"/>
                            </p:stCondLst>
                            <p:childTnLst>
                              <p:par>
                                <p:cTn id="61" presetID="1" presetClass="entr" presetSubtype="0" fill="hold" nodeType="after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childTnLst>
                          </p:cTn>
                        </p:par>
                        <p:par>
                          <p:cTn id="63" fill="hold">
                            <p:stCondLst>
                              <p:cond delay="0"/>
                            </p:stCondLst>
                            <p:childTnLst>
                              <p:par>
                                <p:cTn id="64" presetID="1" presetClass="entr" presetSubtype="0" fill="hold" nodeType="withEffect">
                                  <p:stCondLst>
                                    <p:cond delay="0"/>
                                  </p:stCondLst>
                                  <p:childTnLst>
                                    <p:set>
                                      <p:cBhvr>
                                        <p:cTn id="65" dur="1" fill="hold">
                                          <p:stCondLst>
                                            <p:cond delay="0"/>
                                          </p:stCondLst>
                                        </p:cTn>
                                        <p:tgtEl>
                                          <p:spTgt spid="22"/>
                                        </p:tgtEl>
                                        <p:attrNameLst>
                                          <p:attrName>style.visibility</p:attrName>
                                        </p:attrNameLst>
                                      </p:cBhvr>
                                      <p:to>
                                        <p:strVal val="visible"/>
                                      </p:to>
                                    </p:set>
                                  </p:childTnLst>
                                </p:cTn>
                              </p:par>
                            </p:childTnLst>
                          </p:cTn>
                        </p:par>
                        <p:par>
                          <p:cTn id="66" fill="hold">
                            <p:stCondLst>
                              <p:cond delay="0"/>
                            </p:stCondLst>
                            <p:childTnLst>
                              <p:par>
                                <p:cTn id="67" presetID="1" presetClass="entr" presetSubtype="0" fill="hold" nodeType="afterEffect">
                                  <p:stCondLst>
                                    <p:cond delay="0"/>
                                  </p:stCondLst>
                                  <p:childTnLst>
                                    <p:set>
                                      <p:cBhvr>
                                        <p:cTn id="68" dur="1" fill="hold">
                                          <p:stCondLst>
                                            <p:cond delay="0"/>
                                          </p:stCondLst>
                                        </p:cTn>
                                        <p:tgtEl>
                                          <p:spTgt spid="21"/>
                                        </p:tgtEl>
                                        <p:attrNameLst>
                                          <p:attrName>style.visibility</p:attrName>
                                        </p:attrNameLst>
                                      </p:cBhvr>
                                      <p:to>
                                        <p:strVal val="visible"/>
                                      </p:to>
                                    </p:set>
                                  </p:childTnLst>
                                </p:cTn>
                              </p:par>
                            </p:childTnLst>
                          </p:cTn>
                        </p:par>
                        <p:par>
                          <p:cTn id="69" fill="hold">
                            <p:stCondLst>
                              <p:cond delay="0"/>
                            </p:stCondLst>
                            <p:childTnLst>
                              <p:par>
                                <p:cTn id="70" presetID="23" presetClass="entr" presetSubtype="32" fill="hold" nodeType="afterEffect">
                                  <p:stCondLst>
                                    <p:cond delay="0"/>
                                  </p:stCondLst>
                                  <p:childTnLst>
                                    <p:anim calcmode="lin" valueType="num">
                                      <p:cBhvr>
                                        <p:cTn id="71" dur="500" fill="hold"/>
                                        <p:tgtEl>
                                          <p:spTgt spid="23"/>
                                        </p:tgtEl>
                                        <p:attrNameLst>
                                          <p:attrName>ppt_w</p:attrName>
                                        </p:attrNameLst>
                                      </p:cBhvr>
                                      <p:tavLst>
                                        <p:tav tm="0">
                                          <p:val>
                                            <p:strVal val="4*#ppt_w"/>
                                          </p:val>
                                        </p:tav>
                                        <p:tav tm="100000">
                                          <p:val>
                                            <p:strVal val="#ppt_w"/>
                                          </p:val>
                                        </p:tav>
                                      </p:tavLst>
                                    </p:anim>
                                    <p:anim calcmode="lin" valueType="num">
                                      <p:cBhvr>
                                        <p:cTn id="72" dur="500" fill="hold"/>
                                        <p:tgtEl>
                                          <p:spTgt spid="23"/>
                                        </p:tgtEl>
                                        <p:attrNameLst>
                                          <p:attrName>ppt_h</p:attrName>
                                        </p:attrNameLst>
                                      </p:cBhvr>
                                      <p:tavLst>
                                        <p:tav tm="0">
                                          <p:val>
                                            <p:strVal val="4*#ppt_h"/>
                                          </p:val>
                                        </p:tav>
                                        <p:tav tm="100000">
                                          <p:val>
                                            <p:strVal val="#ppt_h"/>
                                          </p:val>
                                        </p:tav>
                                      </p:tavLst>
                                    </p:anim>
                                    <p:set>
                                      <p:cBhvr>
                                        <p:cTn id="73" dur="500" fill="hold">
                                          <p:stCondLst>
                                            <p:cond delay="0"/>
                                          </p:stCondLst>
                                        </p:cTn>
                                        <p:tgtEl>
                                          <p:spTgt spid="23"/>
                                        </p:tgtEl>
                                        <p:attrNameLst>
                                          <p:attrName>style.visibility</p:attrName>
                                        </p:attrNameLst>
                                      </p:cBhvr>
                                      <p:to>
                                        <p:strVal val="visible"/>
                                      </p:to>
                                    </p:set>
                                  </p:childTnLst>
                                </p:cTn>
                              </p:par>
                            </p:childTnLst>
                          </p:cTn>
                        </p:par>
                        <p:par>
                          <p:cTn id="74" fill="hold">
                            <p:stCondLst>
                              <p:cond delay="0"/>
                            </p:stCondLst>
                            <p:childTnLst>
                              <p:par>
                                <p:cTn id="75" presetID="1" presetClass="entr" presetSubtype="0" fill="hold" nodeType="afterEffect">
                                  <p:stCondLst>
                                    <p:cond delay="0"/>
                                  </p:stCondLst>
                                  <p:childTnLst>
                                    <p:set>
                                      <p:cBhvr>
                                        <p:cTn id="76" dur="1" fill="hold">
                                          <p:stCondLst>
                                            <p:cond delay="0"/>
                                          </p:stCondLst>
                                        </p:cTn>
                                        <p:tgtEl>
                                          <p:spTgt spid="24"/>
                                        </p:tgtEl>
                                        <p:attrNameLst>
                                          <p:attrName>style.visibility</p:attrName>
                                        </p:attrNameLst>
                                      </p:cBhvr>
                                      <p:to>
                                        <p:strVal val="visible"/>
                                      </p:to>
                                    </p:set>
                                  </p:childTnLst>
                                </p:cTn>
                              </p:par>
                            </p:childTnLst>
                          </p:cTn>
                        </p:par>
                        <p:par>
                          <p:cTn id="77" fill="hold">
                            <p:stCondLst>
                              <p:cond delay="0"/>
                            </p:stCondLst>
                            <p:childTnLst>
                              <p:par>
                                <p:cTn id="78" presetID="1" presetClass="entr" presetSubtype="0" fill="hold" nodeType="withEffect">
                                  <p:stCondLst>
                                    <p:cond delay="0"/>
                                  </p:stCondLst>
                                  <p:childTnLst>
                                    <p:set>
                                      <p:cBhvr>
                                        <p:cTn id="79" dur="1" fill="hold">
                                          <p:stCondLst>
                                            <p:cond delay="0"/>
                                          </p:stCondLst>
                                        </p:cTn>
                                        <p:tgtEl>
                                          <p:spTgt spid="26"/>
                                        </p:tgtEl>
                                        <p:attrNameLst>
                                          <p:attrName>style.visibility</p:attrName>
                                        </p:attrNameLst>
                                      </p:cBhvr>
                                      <p:to>
                                        <p:strVal val="visible"/>
                                      </p:to>
                                    </p:set>
                                  </p:childTnLst>
                                </p:cTn>
                              </p:par>
                            </p:childTnLst>
                          </p:cTn>
                        </p:par>
                        <p:par>
                          <p:cTn id="80" fill="hold">
                            <p:stCondLst>
                              <p:cond delay="0"/>
                            </p:stCondLst>
                            <p:childTnLst>
                              <p:par>
                                <p:cTn id="81" presetID="1" presetClass="entr" presetSubtype="0" fill="hold" nodeType="afterEffect">
                                  <p:stCondLst>
                                    <p:cond delay="0"/>
                                  </p:stCondLst>
                                  <p:childTnLst>
                                    <p:set>
                                      <p:cBhvr>
                                        <p:cTn id="82" dur="1" fill="hold">
                                          <p:stCondLst>
                                            <p:cond delay="0"/>
                                          </p:stCondLst>
                                        </p:cTn>
                                        <p:tgtEl>
                                          <p:spTgt spid="25"/>
                                        </p:tgtEl>
                                        <p:attrNameLst>
                                          <p:attrName>style.visibility</p:attrName>
                                        </p:attrNameLst>
                                      </p:cBhvr>
                                      <p:to>
                                        <p:strVal val="visible"/>
                                      </p:to>
                                    </p:set>
                                  </p:childTnLst>
                                </p:cTn>
                              </p:par>
                            </p:childTnLst>
                          </p:cTn>
                        </p:par>
                        <p:par>
                          <p:cTn id="83" fill="hold">
                            <p:stCondLst>
                              <p:cond delay="0"/>
                            </p:stCondLst>
                            <p:childTnLst>
                              <p:par>
                                <p:cTn id="84" presetID="22" presetClass="entr" presetSubtype="8" fill="hold" nodeType="afterEffect">
                                  <p:stCondLst>
                                    <p:cond delay="0"/>
                                  </p:stCondLst>
                                  <p:childTnLst>
                                    <p:animEffect transition="in" filter="wipe(left)">
                                      <p:cBhvr>
                                        <p:cTn id="85" dur="500"/>
                                        <p:tgtEl>
                                          <p:spTgt spid="27"/>
                                        </p:tgtEl>
                                      </p:cBhvr>
                                    </p:animEffect>
                                    <p:set>
                                      <p:cBhvr>
                                        <p:cTn id="86" dur="500"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a:xfrm>
            <a:off x="687133" y="2611177"/>
            <a:ext cx="4775288" cy="360098"/>
          </a:xfrm>
        </p:spPr>
        <p:txBody>
          <a:bodyPr spcFirstLastPara="1" vert="horz" wrap="square" lIns="68580" tIns="34290" rIns="68580" bIns="34290" anchor="t" anchorCtr="0">
            <a:normAutofit/>
          </a:bodyPr>
          <a:lstStyle/>
          <a:p>
            <a:pPr algn="l">
              <a:lnSpc>
                <a:spcPct val="90000"/>
              </a:lnSpc>
              <a:spcBef>
                <a:spcPct val="0"/>
              </a:spcBef>
            </a:pPr>
            <a:r>
              <a:rPr lang="zh-CN" altLang="en-US" sz="1917" b="1">
                <a:solidFill>
                  <a:srgbClr val="2F2F2F"/>
                </a:solidFill>
                <a:latin typeface="微软雅黑"/>
                <a:ea typeface="微软雅黑"/>
              </a:rPr>
              <a:t>Introduction to O-RAN and ns-3</a:t>
            </a:r>
          </a:p>
        </p:txBody>
      </p:sp>
      <p:sp>
        <p:nvSpPr>
          <p:cNvPr id="3" name="TextBox 3"/>
          <p:cNvSpPr txBox="1"/>
          <p:nvPr/>
        </p:nvSpPr>
        <p:spPr>
          <a:xfrm>
            <a:off x="759513" y="1439471"/>
            <a:ext cx="160238" cy="925365"/>
          </a:xfrm>
          <a:prstGeom prst="rect">
            <a:avLst/>
          </a:prstGeom>
          <a:noFill/>
          <a:ln>
            <a:noFill/>
          </a:ln>
        </p:spPr>
        <p:txBody>
          <a:bodyPr vert="horz" wrap="none" lIns="68580" tIns="34290" rIns="68580" bIns="34290" numCol="1" rtlCol="0" anchor="t">
            <a:prstTxWarp prst="textPlain">
              <a:avLst/>
            </a:prstTxWarp>
            <a:spAutoFit/>
          </a:bodyPr>
          <a:lstStyle/>
          <a:p>
            <a:pPr>
              <a:defRPr/>
            </a:pPr>
            <a:r>
              <a:rPr lang="en-US" sz="1350" spc="75">
                <a:solidFill>
                  <a:schemeClr val="accent1"/>
                </a:solidFill>
                <a:latin typeface="Impact"/>
                <a:ea typeface="Impact"/>
              </a:rPr>
              <a:t>/</a:t>
            </a:r>
            <a:endParaRPr lang="en-US" sz="825"/>
          </a:p>
        </p:txBody>
      </p:sp>
      <p:sp>
        <p:nvSpPr>
          <p:cNvPr id="4" name="TextBox 4"/>
          <p:cNvSpPr txBox="1"/>
          <p:nvPr/>
        </p:nvSpPr>
        <p:spPr>
          <a:xfrm>
            <a:off x="930205" y="1313531"/>
            <a:ext cx="1248689" cy="1177245"/>
          </a:xfrm>
          <a:prstGeom prst="rect">
            <a:avLst/>
          </a:prstGeom>
          <a:noFill/>
        </p:spPr>
        <p:txBody>
          <a:bodyPr vert="horz" wrap="square" lIns="68580" tIns="34290" rIns="68580" bIns="34290" rtlCol="0" anchor="t">
            <a:spAutoFit/>
          </a:bodyPr>
          <a:lstStyle/>
          <a:p>
            <a:pPr>
              <a:defRPr/>
            </a:pPr>
            <a:r>
              <a:rPr lang="en-US" sz="7200" spc="75">
                <a:solidFill>
                  <a:schemeClr val="accent1"/>
                </a:solidFill>
                <a:latin typeface="Impact"/>
                <a:ea typeface="Impact"/>
              </a:rPr>
              <a:t>01</a:t>
            </a:r>
            <a:endParaRPr lang="en-US" sz="825"/>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anim calcmode="lin" valueType="num">
                                      <p:cBhvr>
                                        <p:cTn id="6" dur="1000" fill="hold"/>
                                        <p:tgtEl>
                                          <p:spTgt spid="4"/>
                                        </p:tgtEl>
                                        <p:attrNameLst>
                                          <p:attrName>ppt_w</p:attrName>
                                        </p:attrNameLst>
                                      </p:cBhvr>
                                      <p:tavLst>
                                        <p:tav tm="0">
                                          <p:val>
                                            <p:fltVal val="0"/>
                                          </p:val>
                                        </p:tav>
                                        <p:tav tm="100000">
                                          <p:val>
                                            <p:strVal val="#ppt_w"/>
                                          </p:val>
                                        </p:tav>
                                      </p:tavLst>
                                    </p:anim>
                                    <p:anim calcmode="lin" valueType="num">
                                      <p:cBhvr>
                                        <p:cTn id="7" dur="1000" fill="hold"/>
                                        <p:tgtEl>
                                          <p:spTgt spid="4"/>
                                        </p:tgtEl>
                                        <p:attrNameLst>
                                          <p:attrName>ppt_h</p:attrName>
                                        </p:attrNameLst>
                                      </p:cBhvr>
                                      <p:tavLst>
                                        <p:tav tm="0">
                                          <p:val>
                                            <p:fltVal val="0"/>
                                          </p:val>
                                        </p:tav>
                                        <p:tav tm="100000">
                                          <p:val>
                                            <p:strVal val="#ppt_h"/>
                                          </p:val>
                                        </p:tav>
                                      </p:tavLst>
                                    </p:anim>
                                    <p:anim calcmode="lin" valueType="num">
                                      <p:cBhvr>
                                        <p:cTn id="8" dur="1000" fill="hold"/>
                                        <p:tgtEl>
                                          <p:spTgt spid="4"/>
                                        </p:tgtEl>
                                        <p:attrNameLst>
                                          <p:attrName>style.rotation</p:attrName>
                                        </p:attrNameLst>
                                      </p:cBhvr>
                                      <p:tavLst>
                                        <p:tav tm="0">
                                          <p:val>
                                            <p:fltVal val="90"/>
                                          </p:val>
                                        </p:tav>
                                        <p:tav tm="100000">
                                          <p:val>
                                            <p:fltVal val="0"/>
                                          </p:val>
                                        </p:tav>
                                      </p:tavLst>
                                    </p:anim>
                                    <p:animEffect transition="in" filter="fade">
                                      <p:cBhvr>
                                        <p:cTn id="9" dur="1000"/>
                                        <p:tgtEl>
                                          <p:spTgt spid="4"/>
                                        </p:tgtEl>
                                      </p:cBhvr>
                                    </p:animEffect>
                                    <p:set>
                                      <p:cBhvr>
                                        <p:cTn id="10" dur="1" fill="hold">
                                          <p:stCondLst>
                                            <p:cond delay="0"/>
                                          </p:stCondLst>
                                        </p:cTn>
                                        <p:tgtEl>
                                          <p:spTgt spid="4"/>
                                        </p:tgtEl>
                                        <p:attrNameLst>
                                          <p:attrName>style.visibility</p:attrName>
                                        </p:attrNameLst>
                                      </p:cBhvr>
                                      <p:to>
                                        <p:strVal val="visible"/>
                                      </p:to>
                                    </p:set>
                                  </p:childTnLst>
                                </p:cTn>
                              </p:par>
                            </p:childTnLst>
                          </p:cTn>
                        </p:par>
                        <p:par>
                          <p:cTn id="11" fill="hold">
                            <p:stCondLst>
                              <p:cond delay="0"/>
                            </p:stCondLst>
                            <p:childTnLst>
                              <p:par>
                                <p:cTn id="12" presetID="23" presetClass="entr" presetSubtype="16" fill="hold" nodeType="afterEffect">
                                  <p:stCondLst>
                                    <p:cond delay="0"/>
                                  </p:stCondLst>
                                  <p:childTnLs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p:txBody>
          <a:bodyPr spcFirstLastPara="1" vert="horz" wrap="square" lIns="68580" tIns="34290" rIns="68580" bIns="34290" anchor="b" anchorCtr="0">
            <a:normAutofit/>
          </a:bodyPr>
          <a:lstStyle/>
          <a:p>
            <a:pPr algn="l">
              <a:lnSpc>
                <a:spcPct val="90000"/>
              </a:lnSpc>
              <a:spcBef>
                <a:spcPct val="0"/>
              </a:spcBef>
            </a:pPr>
            <a:r>
              <a:rPr lang="zh-CN" altLang="en-US" sz="2100" b="1">
                <a:solidFill>
                  <a:srgbClr val="2F2F2F"/>
                </a:solidFill>
                <a:latin typeface="微软雅黑"/>
                <a:ea typeface="微软雅黑"/>
              </a:rPr>
              <a:t>O-RAN Concept</a:t>
            </a:r>
          </a:p>
        </p:txBody>
      </p:sp>
      <p:sp>
        <p:nvSpPr>
          <p:cNvPr id="3" name="Freeform 3"/>
          <p:cNvSpPr/>
          <p:nvPr/>
        </p:nvSpPr>
        <p:spPr>
          <a:xfrm flipH="1">
            <a:off x="1125536" y="1326246"/>
            <a:ext cx="1362076" cy="1337907"/>
          </a:xfrm>
          <a:custGeom>
            <a:avLst/>
            <a:gdLst/>
            <a:ahLst/>
            <a:cxnLst/>
            <a:rect l="l" t="t" r="r" b="b"/>
            <a:pathLst>
              <a:path w="1400" h="1375">
                <a:moveTo>
                  <a:pt x="1254" y="0"/>
                </a:moveTo>
                <a:cubicBezTo>
                  <a:pt x="146" y="120"/>
                  <a:pt x="146" y="120"/>
                  <a:pt x="146" y="120"/>
                </a:cubicBezTo>
                <a:cubicBezTo>
                  <a:pt x="66" y="120"/>
                  <a:pt x="0" y="185"/>
                  <a:pt x="0" y="265"/>
                </a:cubicBezTo>
                <a:cubicBezTo>
                  <a:pt x="0" y="1122"/>
                  <a:pt x="0" y="1122"/>
                  <a:pt x="0" y="1122"/>
                </a:cubicBezTo>
                <a:cubicBezTo>
                  <a:pt x="0" y="1202"/>
                  <a:pt x="66" y="1267"/>
                  <a:pt x="146" y="1267"/>
                </a:cubicBezTo>
                <a:cubicBezTo>
                  <a:pt x="1254" y="1375"/>
                  <a:pt x="1254" y="1375"/>
                  <a:pt x="1254" y="1375"/>
                </a:cubicBezTo>
                <a:cubicBezTo>
                  <a:pt x="1334" y="1375"/>
                  <a:pt x="1400" y="1310"/>
                  <a:pt x="1400" y="1230"/>
                </a:cubicBezTo>
                <a:cubicBezTo>
                  <a:pt x="1400" y="145"/>
                  <a:pt x="1400" y="145"/>
                  <a:pt x="1400" y="145"/>
                </a:cubicBezTo>
                <a:cubicBezTo>
                  <a:pt x="1400" y="65"/>
                  <a:pt x="1334" y="0"/>
                  <a:pt x="1254" y="0"/>
                </a:cubicBezTo>
              </a:path>
            </a:pathLst>
          </a:custGeom>
          <a:solidFill>
            <a:srgbClr val="E4E6EA">
              <a:alpha val="40000"/>
            </a:srgbClr>
          </a:solidFill>
          <a:ln>
            <a:noFill/>
          </a:ln>
          <a:effectLst/>
        </p:spPr>
        <p:txBody>
          <a:bodyPr rot="0" vert="horz" wrap="square" lIns="68580" tIns="34290" rIns="68580" bIns="34290" anchor="t">
            <a:prstTxWarp prst="textNoShape">
              <a:avLst/>
            </a:prstTxWarp>
            <a:noAutofit/>
          </a:bodyPr>
          <a:lstStyle/>
          <a:p>
            <a:pPr algn="ctr"/>
            <a:endParaRPr sz="1050"/>
          </a:p>
        </p:txBody>
      </p:sp>
      <p:sp>
        <p:nvSpPr>
          <p:cNvPr id="4" name="AutoShape 4"/>
          <p:cNvSpPr/>
          <p:nvPr/>
        </p:nvSpPr>
        <p:spPr>
          <a:xfrm>
            <a:off x="2278062" y="1326246"/>
            <a:ext cx="400050" cy="400050"/>
          </a:xfrm>
          <a:prstGeom prst="roundRect">
            <a:avLst>
              <a:gd name="adj" fmla="val 50000"/>
            </a:avLst>
          </a:prstGeom>
          <a:solidFill>
            <a:schemeClr val="accent1"/>
          </a:solidFill>
          <a:ln>
            <a:noFill/>
          </a:ln>
        </p:spPr>
        <p:txBody>
          <a:bodyPr vert="horz" lIns="68580" tIns="34290" rIns="68580" bIns="34290" anchor="ctr">
            <a:normAutofit/>
          </a:bodyPr>
          <a:lstStyle/>
          <a:p>
            <a:pPr algn="ctr"/>
            <a:r>
              <a:rPr lang="en-US" sz="900" b="1">
                <a:solidFill>
                  <a:schemeClr val="lt1"/>
                </a:solidFill>
              </a:rPr>
              <a:t>01</a:t>
            </a:r>
          </a:p>
        </p:txBody>
      </p:sp>
      <p:sp>
        <p:nvSpPr>
          <p:cNvPr id="5" name="AutoShape 5"/>
          <p:cNvSpPr/>
          <p:nvPr/>
        </p:nvSpPr>
        <p:spPr>
          <a:xfrm>
            <a:off x="1125536" y="1768051"/>
            <a:ext cx="1352552" cy="438582"/>
          </a:xfrm>
          <a:prstGeom prst="rect">
            <a:avLst/>
          </a:prstGeom>
          <a:noFill/>
          <a:ln>
            <a:noFill/>
          </a:ln>
        </p:spPr>
        <p:txBody>
          <a:bodyPr vert="horz" wrap="square" lIns="68580" tIns="34290" rIns="68580" bIns="34290" anchor="t">
            <a:spAutoFit/>
          </a:bodyPr>
          <a:lstStyle/>
          <a:p>
            <a:pPr algn="ctr"/>
            <a:r>
              <a:rPr lang="en-US" sz="1200" b="1">
                <a:solidFill>
                  <a:srgbClr val="2F2F2F"/>
                </a:solidFill>
                <a:latin typeface="+mn-ea"/>
                <a:ea typeface="+mn-ea"/>
              </a:rPr>
              <a:t>Openness in 5G Networks</a:t>
            </a:r>
          </a:p>
        </p:txBody>
      </p:sp>
      <p:sp>
        <p:nvSpPr>
          <p:cNvPr id="6" name="AutoShape 6"/>
          <p:cNvSpPr/>
          <p:nvPr/>
        </p:nvSpPr>
        <p:spPr>
          <a:xfrm>
            <a:off x="736600" y="2433054"/>
            <a:ext cx="2589373" cy="2529026"/>
          </a:xfrm>
          <a:prstGeom prst="rect">
            <a:avLst/>
          </a:prstGeom>
          <a:noFill/>
          <a:ln>
            <a:noFill/>
          </a:ln>
        </p:spPr>
        <p:txBody>
          <a:bodyPr vert="horz" wrap="square" lIns="68580" tIns="34290" rIns="68580" bIns="34290" anchor="t">
            <a:spAutoFit/>
          </a:bodyPr>
          <a:lstStyle/>
          <a:p>
            <a:pPr>
              <a:lnSpc>
                <a:spcPct val="150000"/>
              </a:lnSpc>
            </a:pPr>
            <a:r>
              <a:rPr lang="en-US" sz="1200" dirty="0">
                <a:solidFill>
                  <a:srgbClr val="2F2F2F"/>
                </a:solidFill>
                <a:latin typeface="Times New Roman" panose="02020603050405020304" pitchFamily="18" charset="0"/>
                <a:ea typeface="+mn-ea"/>
                <a:cs typeface="Times New Roman" panose="02020603050405020304" pitchFamily="18" charset="0"/>
              </a:rPr>
              <a:t>The Open Radio Access Network (O-RAN) promotes an open approach to network architecture, facilitating interoperable solutions. Its framework encourages multiple vendors to contribute to the RAN through standard interfaces, enabling innovation and reducing costs associated with proprietary systems.</a:t>
            </a:r>
          </a:p>
        </p:txBody>
      </p:sp>
      <p:sp>
        <p:nvSpPr>
          <p:cNvPr id="7" name="Freeform 7"/>
          <p:cNvSpPr/>
          <p:nvPr/>
        </p:nvSpPr>
        <p:spPr>
          <a:xfrm flipH="1">
            <a:off x="3801597" y="1326246"/>
            <a:ext cx="1362076" cy="1337907"/>
          </a:xfrm>
          <a:custGeom>
            <a:avLst/>
            <a:gdLst/>
            <a:ahLst/>
            <a:cxnLst/>
            <a:rect l="l" t="t" r="r" b="b"/>
            <a:pathLst>
              <a:path w="1400" h="1375">
                <a:moveTo>
                  <a:pt x="1254" y="0"/>
                </a:moveTo>
                <a:cubicBezTo>
                  <a:pt x="146" y="120"/>
                  <a:pt x="146" y="120"/>
                  <a:pt x="146" y="120"/>
                </a:cubicBezTo>
                <a:cubicBezTo>
                  <a:pt x="66" y="120"/>
                  <a:pt x="0" y="185"/>
                  <a:pt x="0" y="265"/>
                </a:cubicBezTo>
                <a:cubicBezTo>
                  <a:pt x="0" y="1122"/>
                  <a:pt x="0" y="1122"/>
                  <a:pt x="0" y="1122"/>
                </a:cubicBezTo>
                <a:cubicBezTo>
                  <a:pt x="0" y="1202"/>
                  <a:pt x="66" y="1267"/>
                  <a:pt x="146" y="1267"/>
                </a:cubicBezTo>
                <a:cubicBezTo>
                  <a:pt x="1254" y="1375"/>
                  <a:pt x="1254" y="1375"/>
                  <a:pt x="1254" y="1375"/>
                </a:cubicBezTo>
                <a:cubicBezTo>
                  <a:pt x="1334" y="1375"/>
                  <a:pt x="1400" y="1310"/>
                  <a:pt x="1400" y="1230"/>
                </a:cubicBezTo>
                <a:cubicBezTo>
                  <a:pt x="1400" y="145"/>
                  <a:pt x="1400" y="145"/>
                  <a:pt x="1400" y="145"/>
                </a:cubicBezTo>
                <a:cubicBezTo>
                  <a:pt x="1400" y="65"/>
                  <a:pt x="1334" y="0"/>
                  <a:pt x="1254" y="0"/>
                </a:cubicBezTo>
              </a:path>
            </a:pathLst>
          </a:custGeom>
          <a:solidFill>
            <a:srgbClr val="E4E6EA">
              <a:alpha val="40000"/>
            </a:srgbClr>
          </a:solidFill>
          <a:ln>
            <a:noFill/>
          </a:ln>
          <a:effectLst/>
        </p:spPr>
        <p:txBody>
          <a:bodyPr rot="0" vert="horz" wrap="square" lIns="68580" tIns="34290" rIns="68580" bIns="34290" anchor="t">
            <a:prstTxWarp prst="textNoShape">
              <a:avLst/>
            </a:prstTxWarp>
            <a:noAutofit/>
          </a:bodyPr>
          <a:lstStyle/>
          <a:p>
            <a:pPr algn="ctr"/>
            <a:endParaRPr sz="1050"/>
          </a:p>
        </p:txBody>
      </p:sp>
      <p:sp>
        <p:nvSpPr>
          <p:cNvPr id="8" name="AutoShape 8"/>
          <p:cNvSpPr/>
          <p:nvPr/>
        </p:nvSpPr>
        <p:spPr>
          <a:xfrm>
            <a:off x="4963648" y="1326246"/>
            <a:ext cx="400050" cy="400050"/>
          </a:xfrm>
          <a:prstGeom prst="roundRect">
            <a:avLst>
              <a:gd name="adj" fmla="val 50000"/>
            </a:avLst>
          </a:prstGeom>
          <a:solidFill>
            <a:schemeClr val="accent1"/>
          </a:solidFill>
          <a:ln>
            <a:noFill/>
          </a:ln>
        </p:spPr>
        <p:txBody>
          <a:bodyPr vert="horz" lIns="68580" tIns="34290" rIns="68580" bIns="34290" anchor="ctr">
            <a:normAutofit/>
          </a:bodyPr>
          <a:lstStyle/>
          <a:p>
            <a:pPr algn="ctr"/>
            <a:r>
              <a:rPr lang="en-US" sz="900" b="1">
                <a:solidFill>
                  <a:schemeClr val="lt1"/>
                </a:solidFill>
              </a:rPr>
              <a:t>02</a:t>
            </a:r>
          </a:p>
        </p:txBody>
      </p:sp>
      <p:sp>
        <p:nvSpPr>
          <p:cNvPr id="9" name="AutoShape 9"/>
          <p:cNvSpPr/>
          <p:nvPr/>
        </p:nvSpPr>
        <p:spPr>
          <a:xfrm>
            <a:off x="3801598" y="1768051"/>
            <a:ext cx="1352552" cy="623248"/>
          </a:xfrm>
          <a:prstGeom prst="rect">
            <a:avLst/>
          </a:prstGeom>
          <a:noFill/>
          <a:ln>
            <a:noFill/>
          </a:ln>
        </p:spPr>
        <p:txBody>
          <a:bodyPr vert="horz" wrap="square" lIns="68580" tIns="34290" rIns="68580" bIns="34290" anchor="t">
            <a:spAutoFit/>
          </a:bodyPr>
          <a:lstStyle/>
          <a:p>
            <a:pPr algn="ctr"/>
            <a:r>
              <a:rPr lang="en-US" sz="1200" b="1">
                <a:solidFill>
                  <a:srgbClr val="2F2F2F"/>
                </a:solidFill>
                <a:latin typeface="+mn-ea"/>
                <a:ea typeface="+mn-ea"/>
              </a:rPr>
              <a:t>Importance of Intelligence in Networks</a:t>
            </a:r>
          </a:p>
        </p:txBody>
      </p:sp>
      <p:sp>
        <p:nvSpPr>
          <p:cNvPr id="10" name="AutoShape 10"/>
          <p:cNvSpPr/>
          <p:nvPr/>
        </p:nvSpPr>
        <p:spPr>
          <a:xfrm>
            <a:off x="3412662" y="2433054"/>
            <a:ext cx="2589373" cy="2252027"/>
          </a:xfrm>
          <a:prstGeom prst="rect">
            <a:avLst/>
          </a:prstGeom>
          <a:noFill/>
          <a:ln>
            <a:noFill/>
          </a:ln>
        </p:spPr>
        <p:txBody>
          <a:bodyPr vert="horz" wrap="square" lIns="68580" tIns="34290" rIns="68580" bIns="34290" anchor="t">
            <a:spAutoFit/>
          </a:bodyPr>
          <a:lstStyle/>
          <a:p>
            <a:pPr>
              <a:lnSpc>
                <a:spcPct val="150000"/>
              </a:lnSpc>
            </a:pPr>
            <a:r>
              <a:rPr lang="en-US" sz="1200">
                <a:solidFill>
                  <a:srgbClr val="2F2F2F"/>
                </a:solidFill>
                <a:latin typeface="Times New Roman" panose="02020603050405020304" pitchFamily="18" charset="0"/>
                <a:ea typeface="+mn-ea"/>
                <a:cs typeface="Times New Roman" panose="02020603050405020304" pitchFamily="18" charset="0"/>
              </a:rPr>
              <a:t>Intelligent control within O-RAN leverages data analytics and machine learning to optimize network performance dynamically. By enabling real-time adjustments and enhancements, networks can better cope with varying demands and improve end-user experiences.</a:t>
            </a:r>
          </a:p>
        </p:txBody>
      </p:sp>
      <p:sp>
        <p:nvSpPr>
          <p:cNvPr id="11" name="Freeform 11"/>
          <p:cNvSpPr/>
          <p:nvPr/>
        </p:nvSpPr>
        <p:spPr>
          <a:xfrm flipH="1">
            <a:off x="6487182" y="1326246"/>
            <a:ext cx="1362076" cy="1337907"/>
          </a:xfrm>
          <a:custGeom>
            <a:avLst/>
            <a:gdLst/>
            <a:ahLst/>
            <a:cxnLst/>
            <a:rect l="l" t="t" r="r" b="b"/>
            <a:pathLst>
              <a:path w="1400" h="1375">
                <a:moveTo>
                  <a:pt x="1254" y="0"/>
                </a:moveTo>
                <a:cubicBezTo>
                  <a:pt x="146" y="120"/>
                  <a:pt x="146" y="120"/>
                  <a:pt x="146" y="120"/>
                </a:cubicBezTo>
                <a:cubicBezTo>
                  <a:pt x="66" y="120"/>
                  <a:pt x="0" y="185"/>
                  <a:pt x="0" y="265"/>
                </a:cubicBezTo>
                <a:cubicBezTo>
                  <a:pt x="0" y="1122"/>
                  <a:pt x="0" y="1122"/>
                  <a:pt x="0" y="1122"/>
                </a:cubicBezTo>
                <a:cubicBezTo>
                  <a:pt x="0" y="1202"/>
                  <a:pt x="66" y="1267"/>
                  <a:pt x="146" y="1267"/>
                </a:cubicBezTo>
                <a:cubicBezTo>
                  <a:pt x="1254" y="1375"/>
                  <a:pt x="1254" y="1375"/>
                  <a:pt x="1254" y="1375"/>
                </a:cubicBezTo>
                <a:cubicBezTo>
                  <a:pt x="1334" y="1375"/>
                  <a:pt x="1400" y="1310"/>
                  <a:pt x="1400" y="1230"/>
                </a:cubicBezTo>
                <a:cubicBezTo>
                  <a:pt x="1400" y="145"/>
                  <a:pt x="1400" y="145"/>
                  <a:pt x="1400" y="145"/>
                </a:cubicBezTo>
                <a:cubicBezTo>
                  <a:pt x="1400" y="65"/>
                  <a:pt x="1334" y="0"/>
                  <a:pt x="1254" y="0"/>
                </a:cubicBezTo>
              </a:path>
            </a:pathLst>
          </a:custGeom>
          <a:solidFill>
            <a:srgbClr val="E4E6EA">
              <a:alpha val="40000"/>
            </a:srgbClr>
          </a:solidFill>
          <a:ln>
            <a:noFill/>
          </a:ln>
          <a:effectLst/>
        </p:spPr>
        <p:txBody>
          <a:bodyPr rot="0" vert="horz" wrap="square" lIns="68580" tIns="34290" rIns="68580" bIns="34290" anchor="t">
            <a:prstTxWarp prst="textNoShape">
              <a:avLst/>
            </a:prstTxWarp>
            <a:noAutofit/>
          </a:bodyPr>
          <a:lstStyle/>
          <a:p>
            <a:pPr algn="ctr"/>
            <a:endParaRPr sz="1050"/>
          </a:p>
        </p:txBody>
      </p:sp>
      <p:sp>
        <p:nvSpPr>
          <p:cNvPr id="12" name="AutoShape 12"/>
          <p:cNvSpPr/>
          <p:nvPr/>
        </p:nvSpPr>
        <p:spPr>
          <a:xfrm>
            <a:off x="7649233" y="1326246"/>
            <a:ext cx="400050" cy="400050"/>
          </a:xfrm>
          <a:prstGeom prst="roundRect">
            <a:avLst>
              <a:gd name="adj" fmla="val 50000"/>
            </a:avLst>
          </a:prstGeom>
          <a:solidFill>
            <a:schemeClr val="accent1"/>
          </a:solidFill>
          <a:ln>
            <a:noFill/>
          </a:ln>
        </p:spPr>
        <p:txBody>
          <a:bodyPr vert="horz" lIns="68580" tIns="34290" rIns="68580" bIns="34290" anchor="ctr">
            <a:normAutofit/>
          </a:bodyPr>
          <a:lstStyle/>
          <a:p>
            <a:pPr algn="ctr"/>
            <a:r>
              <a:rPr lang="en-US" sz="900" b="1">
                <a:solidFill>
                  <a:schemeClr val="lt1"/>
                </a:solidFill>
              </a:rPr>
              <a:t>03</a:t>
            </a:r>
          </a:p>
        </p:txBody>
      </p:sp>
      <p:sp>
        <p:nvSpPr>
          <p:cNvPr id="13" name="AutoShape 13"/>
          <p:cNvSpPr/>
          <p:nvPr/>
        </p:nvSpPr>
        <p:spPr>
          <a:xfrm>
            <a:off x="6487183" y="1768051"/>
            <a:ext cx="1352552" cy="623248"/>
          </a:xfrm>
          <a:prstGeom prst="rect">
            <a:avLst/>
          </a:prstGeom>
          <a:noFill/>
          <a:ln>
            <a:noFill/>
          </a:ln>
        </p:spPr>
        <p:txBody>
          <a:bodyPr vert="horz" wrap="square" lIns="68580" tIns="34290" rIns="68580" bIns="34290" anchor="t">
            <a:spAutoFit/>
          </a:bodyPr>
          <a:lstStyle/>
          <a:p>
            <a:pPr algn="ctr"/>
            <a:r>
              <a:rPr lang="en-US" sz="1200" b="1">
                <a:solidFill>
                  <a:srgbClr val="2F2F2F"/>
                </a:solidFill>
                <a:latin typeface="+mn-ea"/>
                <a:ea typeface="+mn-ea"/>
              </a:rPr>
              <a:t>Overview of O-RAN Architecture</a:t>
            </a:r>
          </a:p>
        </p:txBody>
      </p:sp>
      <p:sp>
        <p:nvSpPr>
          <p:cNvPr id="14" name="AutoShape 14"/>
          <p:cNvSpPr/>
          <p:nvPr/>
        </p:nvSpPr>
        <p:spPr>
          <a:xfrm>
            <a:off x="6098247" y="2433054"/>
            <a:ext cx="2589373" cy="2252027"/>
          </a:xfrm>
          <a:prstGeom prst="rect">
            <a:avLst/>
          </a:prstGeom>
          <a:noFill/>
          <a:ln>
            <a:noFill/>
          </a:ln>
        </p:spPr>
        <p:txBody>
          <a:bodyPr vert="horz" wrap="square" lIns="68580" tIns="34290" rIns="68580" bIns="34290" anchor="t">
            <a:spAutoFit/>
          </a:bodyPr>
          <a:lstStyle/>
          <a:p>
            <a:pPr>
              <a:lnSpc>
                <a:spcPct val="150000"/>
              </a:lnSpc>
            </a:pPr>
            <a:r>
              <a:rPr lang="en-US" sz="1200">
                <a:solidFill>
                  <a:srgbClr val="2F2F2F"/>
                </a:solidFill>
                <a:latin typeface="Times New Roman" panose="02020603050405020304" pitchFamily="18" charset="0"/>
                <a:ea typeface="+mn-ea"/>
                <a:cs typeface="Times New Roman" panose="02020603050405020304" pitchFamily="18" charset="0"/>
              </a:rPr>
              <a:t>O-RAN architecture includes various components such as Near-RT RIC, Non-RT RIC, and xApps that collectively work towards optimizing the RAN by enabling data-driven decision-making and flexibility in deployment, enhancing both performance and network resilience.</a:t>
            </a:r>
          </a:p>
        </p:txBody>
      </p:sp>
    </p:spTree>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8" presetClass="entr" presetSubtype="0" fill="hold" nodeType="afterEffect">
                                  <p:stCondLst>
                                    <p:cond delay="0"/>
                                  </p:stCondLst>
                                  <p:childTnLst>
                                    <p:anim calcmode="lin" valueType="num">
                                      <p:cBhvr>
                                        <p:cTn id="6" dur="1000" fill="hold"/>
                                        <p:tgtEl>
                                          <p:spTgt spid="2"/>
                                        </p:tgtEl>
                                        <p:attrNameLst>
                                          <p:attrName>ppt_w</p:attrName>
                                        </p:attrNameLst>
                                      </p:cBhvr>
                                      <p:tavLst>
                                        <p:tav tm="0">
                                          <p:val>
                                            <p:strVal val="#ppt_w*2.5"/>
                                          </p:val>
                                        </p:tav>
                                        <p:tav tm="100000">
                                          <p:val>
                                            <p:strVal val="#ppt_w"/>
                                          </p:val>
                                        </p:tav>
                                      </p:tavLst>
                                    </p:anim>
                                    <p:anim calcmode="lin" valueType="num">
                                      <p:cBhvr>
                                        <p:cTn id="7" dur="1000" fill="hold"/>
                                        <p:tgtEl>
                                          <p:spTgt spid="2"/>
                                        </p:tgtEl>
                                        <p:attrNameLst>
                                          <p:attrName>ppt_h</p:attrName>
                                        </p:attrNameLst>
                                      </p:cBhvr>
                                      <p:tavLst>
                                        <p:tav tm="0">
                                          <p:val>
                                            <p:strVal val="#ppt_h*0.01"/>
                                          </p:val>
                                        </p:tav>
                                        <p:tav tm="100000">
                                          <p:val>
                                            <p:strVal val="#ppt_h"/>
                                          </p:val>
                                        </p:tav>
                                      </p:tavLst>
                                    </p:anim>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h+1"/>
                                          </p:val>
                                        </p:tav>
                                        <p:tav tm="100000">
                                          <p:val>
                                            <p:strVal val="#ppt_y"/>
                                          </p:val>
                                        </p:tav>
                                      </p:tavLst>
                                    </p:anim>
                                    <p:animEffect transition="in" filter="fade">
                                      <p:cBhvr>
                                        <p:cTn id="10" dur="1000"/>
                                        <p:tgtEl>
                                          <p:spTgt spid="2"/>
                                        </p:tgtEl>
                                      </p:cBhvr>
                                    </p:animEffect>
                                    <p:set>
                                      <p:cBhvr>
                                        <p:cTn id="11" dur="1000" fill="hold">
                                          <p:stCondLst>
                                            <p:cond delay="0"/>
                                          </p:stCondLst>
                                        </p:cTn>
                                        <p:tgtEl>
                                          <p:spTgt spid="2"/>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par>
                          <p:cTn id="15" fill="hold">
                            <p:stCondLst>
                              <p:cond delay="0"/>
                            </p:stCondLst>
                            <p:childTnLst>
                              <p:par>
                                <p:cTn id="16" presetID="2" presetClass="entr" presetSubtype="3" fill="hold" nodeType="afterEffect">
                                  <p:stCondLst>
                                    <p:cond delay="0"/>
                                  </p:stCondLst>
                                  <p:childTnLst>
                                    <p:anim calcmode="lin" valueType="num">
                                      <p:cBhvr additive="base">
                                        <p:cTn id="17" dur="1000" fill="hold"/>
                                        <p:tgtEl>
                                          <p:spTgt spid="5"/>
                                        </p:tgtEl>
                                        <p:attrNameLst>
                                          <p:attrName>ppt_x</p:attrName>
                                        </p:attrNameLst>
                                      </p:cBhvr>
                                      <p:tavLst>
                                        <p:tav tm="0">
                                          <p:val>
                                            <p:strVal val="1+#ppt_w/2"/>
                                          </p:val>
                                        </p:tav>
                                        <p:tav tm="100000">
                                          <p:val>
                                            <p:strVal val="#ppt_x"/>
                                          </p:val>
                                        </p:tav>
                                      </p:tavLst>
                                    </p:anim>
                                    <p:anim calcmode="lin" valueType="num">
                                      <p:cBhvr additive="base">
                                        <p:cTn id="18" dur="1000" fill="hold"/>
                                        <p:tgtEl>
                                          <p:spTgt spid="5"/>
                                        </p:tgtEl>
                                        <p:attrNameLst>
                                          <p:attrName>ppt_y</p:attrName>
                                        </p:attrNameLst>
                                      </p:cBhvr>
                                      <p:tavLst>
                                        <p:tav tm="0">
                                          <p:val>
                                            <p:strVal val="0-#ppt_h/2"/>
                                          </p:val>
                                        </p:tav>
                                        <p:tav tm="100000">
                                          <p:val>
                                            <p:strVal val="#ppt_y"/>
                                          </p:val>
                                        </p:tav>
                                      </p:tavLst>
                                    </p:anim>
                                    <p:set>
                                      <p:cBhvr>
                                        <p:cTn id="19" dur="1000" fill="hold">
                                          <p:stCondLst>
                                            <p:cond delay="0"/>
                                          </p:stCondLst>
                                        </p:cTn>
                                        <p:tgtEl>
                                          <p:spTgt spid="5"/>
                                        </p:tgtEl>
                                        <p:attrNameLst>
                                          <p:attrName>style.visibility</p:attrName>
                                        </p:attrNameLst>
                                      </p:cBhvr>
                                      <p:to>
                                        <p:strVal val="visible"/>
                                      </p:to>
                                    </p:set>
                                  </p:childTnLst>
                                </p:cTn>
                              </p:par>
                            </p:childTnLst>
                          </p:cTn>
                        </p:par>
                        <p:par>
                          <p:cTn id="20" fill="hold">
                            <p:stCondLst>
                              <p:cond delay="0"/>
                            </p:stCondLst>
                            <p:childTnLst>
                              <p:par>
                                <p:cTn id="21" presetID="5" presetClass="entr" presetSubtype="5" fill="hold" nodeType="afterEffect">
                                  <p:stCondLst>
                                    <p:cond delay="0"/>
                                  </p:stCondLst>
                                  <p:childTnLst>
                                    <p:animEffect transition="in" filter="checkerboard(down)">
                                      <p:cBhvr>
                                        <p:cTn id="22" dur="1000"/>
                                        <p:tgtEl>
                                          <p:spTgt spid="6"/>
                                        </p:tgtEl>
                                      </p:cBhvr>
                                    </p:animEffect>
                                    <p:set>
                                      <p:cBhvr>
                                        <p:cTn id="23" dur="1000" fill="hold">
                                          <p:stCondLst>
                                            <p:cond delay="0"/>
                                          </p:stCondLst>
                                        </p:cTn>
                                        <p:tgtEl>
                                          <p:spTgt spid="6"/>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par>
                          <p:cTn id="27" fill="hold">
                            <p:stCondLst>
                              <p:cond delay="0"/>
                            </p:stCondLst>
                            <p:childTnLst>
                              <p:par>
                                <p:cTn id="28" presetID="27" presetClass="entr" presetSubtype="0" fill="hold" grpId="0" nodeType="afterEffect">
                                  <p:stCondLst>
                                    <p:cond delay="0"/>
                                  </p:stCondLst>
                                  <p:iterate type="lt">
                                    <p:tmPct val="50000"/>
                                  </p:iterate>
                                  <p:childTnLst>
                                    <p:anim calcmode="discrete" valueType="clr">
                                      <p:cBhvr override="childStyle">
                                        <p:cTn id="29" dur="50"/>
                                        <p:tgtEl>
                                          <p:spTgt spid="9"/>
                                        </p:tgtEl>
                                        <p:attrNameLst>
                                          <p:attrName>style.color</p:attrName>
                                        </p:attrNameLst>
                                      </p:cBhvr>
                                      <p:tavLst>
                                        <p:tav tm="0">
                                          <p:val>
                                            <p:clrVal>
                                              <a:schemeClr val="accent2"/>
                                            </p:clrVal>
                                          </p:val>
                                        </p:tav>
                                        <p:tav tm="50000">
                                          <p:val>
                                            <p:clrVal>
                                              <a:schemeClr val="hlink"/>
                                            </p:clrVal>
                                          </p:val>
                                        </p:tav>
                                      </p:tavLst>
                                    </p:anim>
                                    <p:anim calcmode="discrete" valueType="clr">
                                      <p:cBhvr>
                                        <p:cTn id="30" dur="50"/>
                                        <p:tgtEl>
                                          <p:spTgt spid="9"/>
                                        </p:tgtEl>
                                        <p:attrNameLst>
                                          <p:attrName>fillcolor</p:attrName>
                                        </p:attrNameLst>
                                      </p:cBhvr>
                                      <p:tavLst>
                                        <p:tav tm="0">
                                          <p:val>
                                            <p:clrVal>
                                              <a:schemeClr val="accent2"/>
                                            </p:clrVal>
                                          </p:val>
                                        </p:tav>
                                        <p:tav tm="50000">
                                          <p:val>
                                            <p:clrVal>
                                              <a:schemeClr val="hlink"/>
                                            </p:clrVal>
                                          </p:val>
                                        </p:tav>
                                      </p:tavLst>
                                    </p:anim>
                                    <p:set>
                                      <p:cBhvr>
                                        <p:cTn id="31" dur="1" fill="hold">
                                          <p:stCondLst>
                                            <p:cond delay="0"/>
                                          </p:stCondLst>
                                        </p:cTn>
                                        <p:tgtEl>
                                          <p:spTgt spid="9"/>
                                        </p:tgtEl>
                                        <p:attrNameLst>
                                          <p:attrName>style.visibility</p:attrName>
                                        </p:attrNameLst>
                                      </p:cBhvr>
                                      <p:to>
                                        <p:strVal val="visible"/>
                                      </p:to>
                                    </p:set>
                                    <p:set>
                                      <p:cBhvr>
                                        <p:cTn id="32" dur="50"/>
                                        <p:tgtEl>
                                          <p:spTgt spid="9"/>
                                        </p:tgtEl>
                                        <p:attrNameLst>
                                          <p:attrName>fill.type</p:attrName>
                                        </p:attrNameLst>
                                      </p:cBhvr>
                                      <p:to>
                                        <p:strVal val="solid"/>
                                      </p:to>
                                    </p:set>
                                  </p:childTnLst>
                                </p:cTn>
                              </p:par>
                            </p:childTnLst>
                          </p:cTn>
                        </p:par>
                        <p:par>
                          <p:cTn id="33" fill="hold">
                            <p:stCondLst>
                              <p:cond delay="0"/>
                            </p:stCondLst>
                            <p:childTnLst>
                              <p:par>
                                <p:cTn id="34" presetID="21" presetClass="entr" presetSubtype="8" fill="hold" nodeType="afterEffect">
                                  <p:stCondLst>
                                    <p:cond delay="0"/>
                                  </p:stCondLst>
                                  <p:childTnLst>
                                    <p:animEffect transition="in" filter="wheel(8)">
                                      <p:cBhvr>
                                        <p:cTn id="35" dur="1000"/>
                                        <p:tgtEl>
                                          <p:spTgt spid="10"/>
                                        </p:tgtEl>
                                      </p:cBhvr>
                                    </p:animEffect>
                                    <p:set>
                                      <p:cBhvr>
                                        <p:cTn id="36" dur="1000" fill="hold">
                                          <p:stCondLst>
                                            <p:cond delay="0"/>
                                          </p:stCondLst>
                                        </p:cTn>
                                        <p:tgtEl>
                                          <p:spTgt spid="10"/>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nodeType="afterEffect">
                                  <p:stCondLst>
                                    <p:cond delay="0"/>
                                  </p:stCondLst>
                                  <p:childTnLst>
                                    <p:set>
                                      <p:cBhvr>
                                        <p:cTn id="39" dur="1" fill="hold">
                                          <p:stCondLst>
                                            <p:cond delay="0"/>
                                          </p:stCondLst>
                                        </p:cTn>
                                        <p:tgtEl>
                                          <p:spTgt spid="12"/>
                                        </p:tgtEl>
                                        <p:attrNameLst>
                                          <p:attrName>style.visibility</p:attrName>
                                        </p:attrNameLst>
                                      </p:cBhvr>
                                      <p:to>
                                        <p:strVal val="visible"/>
                                      </p:to>
                                    </p:set>
                                  </p:childTnLst>
                                </p:cTn>
                              </p:par>
                            </p:childTnLst>
                          </p:cTn>
                        </p:par>
                        <p:par>
                          <p:cTn id="40" fill="hold">
                            <p:stCondLst>
                              <p:cond delay="0"/>
                            </p:stCondLst>
                            <p:childTnLst>
                              <p:par>
                                <p:cTn id="41" presetID="7" presetClass="entr" presetSubtype="8" fill="hold" nodeType="afterEffect">
                                  <p:stCondLst>
                                    <p:cond delay="0"/>
                                  </p:stCondLst>
                                  <p:childTnLst>
                                    <p:anim calcmode="lin" valueType="num">
                                      <p:cBhvr additive="base">
                                        <p:cTn id="42" dur="2000" fill="hold"/>
                                        <p:tgtEl>
                                          <p:spTgt spid="13"/>
                                        </p:tgtEl>
                                        <p:attrNameLst>
                                          <p:attrName>ppt_x</p:attrName>
                                        </p:attrNameLst>
                                      </p:cBhvr>
                                      <p:tavLst>
                                        <p:tav tm="0">
                                          <p:val>
                                            <p:strVal val="0-#ppt_w/2"/>
                                          </p:val>
                                        </p:tav>
                                        <p:tav tm="100000">
                                          <p:val>
                                            <p:strVal val="#ppt_x"/>
                                          </p:val>
                                        </p:tav>
                                      </p:tavLst>
                                    </p:anim>
                                    <p:anim calcmode="lin" valueType="num">
                                      <p:cBhvr additive="base">
                                        <p:cTn id="43" dur="2000" fill="hold"/>
                                        <p:tgtEl>
                                          <p:spTgt spid="13"/>
                                        </p:tgtEl>
                                        <p:attrNameLst>
                                          <p:attrName>ppt_y</p:attrName>
                                        </p:attrNameLst>
                                      </p:cBhvr>
                                      <p:tavLst>
                                        <p:tav tm="0">
                                          <p:val>
                                            <p:strVal val="#ppt_y"/>
                                          </p:val>
                                        </p:tav>
                                        <p:tav tm="100000">
                                          <p:val>
                                            <p:strVal val="#ppt_y"/>
                                          </p:val>
                                        </p:tav>
                                      </p:tavLst>
                                    </p:anim>
                                    <p:set>
                                      <p:cBhvr>
                                        <p:cTn id="44" dur="2000" fill="hold">
                                          <p:stCondLst>
                                            <p:cond delay="0"/>
                                          </p:stCondLst>
                                        </p:cTn>
                                        <p:tgtEl>
                                          <p:spTgt spid="13"/>
                                        </p:tgtEl>
                                        <p:attrNameLst>
                                          <p:attrName>style.visibility</p:attrName>
                                        </p:attrNameLst>
                                      </p:cBhvr>
                                      <p:to>
                                        <p:strVal val="visible"/>
                                      </p:to>
                                    </p:set>
                                  </p:childTnLst>
                                </p:cTn>
                              </p:par>
                            </p:childTnLst>
                          </p:cTn>
                        </p:par>
                        <p:par>
                          <p:cTn id="45" fill="hold">
                            <p:stCondLst>
                              <p:cond delay="0"/>
                            </p:stCondLst>
                            <p:childTnLst>
                              <p:par>
                                <p:cTn id="46" presetID="23" presetClass="entr" presetSubtype="36" fill="hold" nodeType="afterEffect">
                                  <p:stCondLst>
                                    <p:cond delay="0"/>
                                  </p:stCondLst>
                                  <p:childTnLst>
                                    <p:anim calcmode="lin" valueType="num">
                                      <p:cBhvr>
                                        <p:cTn id="47" dur="500" fill="hold"/>
                                        <p:tgtEl>
                                          <p:spTgt spid="14"/>
                                        </p:tgtEl>
                                        <p:attrNameLst>
                                          <p:attrName>ppt_w</p:attrName>
                                        </p:attrNameLst>
                                      </p:cBhvr>
                                      <p:tavLst>
                                        <p:tav tm="0">
                                          <p:val>
                                            <p:strVal val="(6*min(max(#ppt_w*#ppt_h,.3),1)-7.4)/-.7*#ppt_w"/>
                                          </p:val>
                                        </p:tav>
                                        <p:tav tm="100000">
                                          <p:val>
                                            <p:strVal val="#ppt_w"/>
                                          </p:val>
                                        </p:tav>
                                      </p:tavLst>
                                    </p:anim>
                                    <p:anim calcmode="lin" valueType="num">
                                      <p:cBhvr>
                                        <p:cTn id="48" dur="500" fill="hold"/>
                                        <p:tgtEl>
                                          <p:spTgt spid="14"/>
                                        </p:tgtEl>
                                        <p:attrNameLst>
                                          <p:attrName>ppt_h</p:attrName>
                                        </p:attrNameLst>
                                      </p:cBhvr>
                                      <p:tavLst>
                                        <p:tav tm="0">
                                          <p:val>
                                            <p:strVal val="(6*min(max(#ppt_w*#ppt_h,.3),1)-7.4)/-.7*#ppt_h"/>
                                          </p:val>
                                        </p:tav>
                                        <p:tav tm="100000">
                                          <p:val>
                                            <p:strVal val="#ppt_h"/>
                                          </p:val>
                                        </p:tav>
                                      </p:tavLst>
                                    </p:anim>
                                    <p:anim calcmode="lin" valueType="num">
                                      <p:cBhvr>
                                        <p:cTn id="49" dur="500" fill="hold"/>
                                        <p:tgtEl>
                                          <p:spTgt spid="14"/>
                                        </p:tgtEl>
                                        <p:attrNameLst>
                                          <p:attrName>ppt_x</p:attrName>
                                        </p:attrNameLst>
                                      </p:cBhvr>
                                      <p:tavLst>
                                        <p:tav tm="0">
                                          <p:val>
                                            <p:fltVal val="0.5"/>
                                          </p:val>
                                        </p:tav>
                                        <p:tav tm="100000">
                                          <p:val>
                                            <p:strVal val="#ppt_x"/>
                                          </p:val>
                                        </p:tav>
                                      </p:tavLst>
                                    </p:anim>
                                    <p:anim calcmode="lin" valueType="num">
                                      <p:cBhvr>
                                        <p:cTn id="50" dur="500" fill="hold"/>
                                        <p:tgtEl>
                                          <p:spTgt spid="14"/>
                                        </p:tgtEl>
                                        <p:attrNameLst>
                                          <p:attrName>ppt_y</p:attrName>
                                        </p:attrNameLst>
                                      </p:cBhvr>
                                      <p:tavLst>
                                        <p:tav tm="0">
                                          <p:val>
                                            <p:strVal val="1+(6*min(max(#ppt_w*#ppt_h,.3),1)-7.4)/-.7*#ppt_h/2"/>
                                          </p:val>
                                        </p:tav>
                                        <p:tav tm="100000">
                                          <p:val>
                                            <p:strVal val="#ppt_y"/>
                                          </p:val>
                                        </p:tav>
                                      </p:tavLst>
                                    </p:anim>
                                    <p:set>
                                      <p:cBhvr>
                                        <p:cTn id="51" dur="500"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p:txBody>
          <a:bodyPr spcFirstLastPara="1" vert="horz" wrap="square" lIns="68580" tIns="34290" rIns="68580" bIns="34290" anchor="b" anchorCtr="0">
            <a:normAutofit/>
          </a:bodyPr>
          <a:lstStyle/>
          <a:p>
            <a:pPr algn="l">
              <a:lnSpc>
                <a:spcPct val="90000"/>
              </a:lnSpc>
              <a:spcBef>
                <a:spcPct val="0"/>
              </a:spcBef>
            </a:pPr>
            <a:r>
              <a:rPr lang="zh-CN" altLang="en-US" sz="2100" b="1">
                <a:solidFill>
                  <a:srgbClr val="2F2F2F"/>
                </a:solidFill>
                <a:latin typeface="微软雅黑"/>
                <a:ea typeface="微软雅黑"/>
              </a:rPr>
              <a:t>ns-3 Simulation Tool</a:t>
            </a:r>
          </a:p>
        </p:txBody>
      </p:sp>
      <p:sp>
        <p:nvSpPr>
          <p:cNvPr id="3" name="AutoShape 3"/>
          <p:cNvSpPr/>
          <p:nvPr/>
        </p:nvSpPr>
        <p:spPr>
          <a:xfrm>
            <a:off x="533684" y="2138418"/>
            <a:ext cx="2151793" cy="320984"/>
          </a:xfrm>
          <a:prstGeom prst="rect">
            <a:avLst/>
          </a:prstGeom>
          <a:noFill/>
          <a:ln>
            <a:noFill/>
          </a:ln>
        </p:spPr>
        <p:txBody>
          <a:bodyPr vert="horz" wrap="square" lIns="68580" tIns="67500" rIns="68580" bIns="67500" anchor="b">
            <a:spAutoFit/>
          </a:bodyPr>
          <a:lstStyle/>
          <a:p>
            <a:pPr algn="ctr"/>
            <a:r>
              <a:rPr lang="en-US" sz="1200" b="1">
                <a:solidFill>
                  <a:srgbClr val="2F2F2F"/>
                </a:solidFill>
                <a:latin typeface="+mn-ea"/>
                <a:ea typeface="+mn-ea"/>
              </a:rPr>
              <a:t>Overview of ns-3</a:t>
            </a:r>
          </a:p>
        </p:txBody>
      </p:sp>
      <p:sp>
        <p:nvSpPr>
          <p:cNvPr id="4" name="AutoShape 4"/>
          <p:cNvSpPr/>
          <p:nvPr/>
        </p:nvSpPr>
        <p:spPr>
          <a:xfrm>
            <a:off x="533684" y="2454988"/>
            <a:ext cx="2151793" cy="2242293"/>
          </a:xfrm>
          <a:prstGeom prst="rect">
            <a:avLst/>
          </a:prstGeom>
          <a:noFill/>
          <a:ln>
            <a:noFill/>
          </a:ln>
        </p:spPr>
        <p:txBody>
          <a:bodyPr vert="horz" wrap="square" lIns="81000" tIns="81000" rIns="81000" bIns="81000" anchor="t">
            <a:spAutoFit/>
          </a:bodyPr>
          <a:lstStyle/>
          <a:p>
            <a:pPr algn="ctr">
              <a:lnSpc>
                <a:spcPct val="130000"/>
              </a:lnSpc>
            </a:pPr>
            <a:r>
              <a:rPr lang="en-US" sz="1050">
                <a:solidFill>
                  <a:srgbClr val="2F2F2F"/>
                </a:solidFill>
                <a:latin typeface="+mn-ea"/>
                <a:ea typeface="+mn-ea"/>
              </a:rPr>
              <a:t>ns-3 is a popular, open-source discrete-event network simulator designed specifically for serving the needs of academic and industry researchers. It allows for the detailed modeling of network protocols and architecture and supports various network scenarios, making it ideal for testing novel solutions.</a:t>
            </a:r>
          </a:p>
        </p:txBody>
      </p:sp>
      <p:grpSp>
        <p:nvGrpSpPr>
          <p:cNvPr id="5" name="Group 5"/>
          <p:cNvGrpSpPr/>
          <p:nvPr/>
        </p:nvGrpSpPr>
        <p:grpSpPr>
          <a:xfrm>
            <a:off x="1407078" y="1484279"/>
            <a:ext cx="405000" cy="405000"/>
            <a:chOff x="3075538" y="1164218"/>
            <a:chExt cx="454025" cy="454025"/>
          </a:xfrm>
        </p:grpSpPr>
        <p:sp>
          <p:nvSpPr>
            <p:cNvPr id="6" name="AutoShape 6"/>
            <p:cNvSpPr/>
            <p:nvPr/>
          </p:nvSpPr>
          <p:spPr>
            <a:xfrm>
              <a:off x="3075538" y="1164218"/>
              <a:ext cx="454025" cy="454025"/>
            </a:xfrm>
            <a:prstGeom prst="ellipse">
              <a:avLst/>
            </a:prstGeom>
            <a:solidFill>
              <a:schemeClr val="accent1"/>
            </a:solidFill>
            <a:ln>
              <a:noFill/>
            </a:ln>
          </p:spPr>
          <p:txBody>
            <a:bodyPr vert="horz" lIns="68580" tIns="34290" rIns="68580" bIns="34290" anchor="ctr">
              <a:normAutofit/>
            </a:bodyPr>
            <a:lstStyle/>
            <a:p>
              <a:pPr algn="ctr"/>
              <a:endParaRPr sz="1050"/>
            </a:p>
          </p:txBody>
        </p:sp>
        <p:sp>
          <p:nvSpPr>
            <p:cNvPr id="7" name="Freeform 7"/>
            <p:cNvSpPr/>
            <p:nvPr/>
          </p:nvSpPr>
          <p:spPr>
            <a:xfrm>
              <a:off x="3212861" y="1282040"/>
              <a:ext cx="179383" cy="218380"/>
            </a:xfrm>
            <a:custGeom>
              <a:avLst/>
              <a:gdLst/>
              <a:ahLst/>
              <a:cxnLst/>
              <a:rect l="l" t="t" r="r" b="b"/>
              <a:pathLst>
                <a:path w="438150" h="533400">
                  <a:moveTo>
                    <a:pt x="283816" y="621"/>
                  </a:moveTo>
                  <a:cubicBezTo>
                    <a:pt x="284578" y="621"/>
                    <a:pt x="285340" y="621"/>
                    <a:pt x="286102" y="716"/>
                  </a:cubicBezTo>
                  <a:lnTo>
                    <a:pt x="286102" y="124446"/>
                  </a:lnTo>
                  <a:lnTo>
                    <a:pt x="286197" y="126160"/>
                  </a:lnTo>
                  <a:cubicBezTo>
                    <a:pt x="287055" y="141115"/>
                    <a:pt x="299532" y="153021"/>
                    <a:pt x="314677" y="153021"/>
                  </a:cubicBezTo>
                  <a:lnTo>
                    <a:pt x="314677" y="153021"/>
                  </a:lnTo>
                  <a:lnTo>
                    <a:pt x="438407" y="153021"/>
                  </a:lnTo>
                  <a:cubicBezTo>
                    <a:pt x="438502" y="153783"/>
                    <a:pt x="438502" y="154545"/>
                    <a:pt x="438502" y="155307"/>
                  </a:cubicBezTo>
                  <a:lnTo>
                    <a:pt x="438502" y="505446"/>
                  </a:lnTo>
                  <a:cubicBezTo>
                    <a:pt x="438502" y="521257"/>
                    <a:pt x="425739" y="534021"/>
                    <a:pt x="409927" y="534021"/>
                  </a:cubicBezTo>
                  <a:lnTo>
                    <a:pt x="28927" y="534021"/>
                  </a:lnTo>
                  <a:cubicBezTo>
                    <a:pt x="13115" y="534021"/>
                    <a:pt x="352" y="521257"/>
                    <a:pt x="352" y="505446"/>
                  </a:cubicBezTo>
                  <a:lnTo>
                    <a:pt x="352" y="29196"/>
                  </a:lnTo>
                  <a:cubicBezTo>
                    <a:pt x="352" y="13385"/>
                    <a:pt x="13115" y="621"/>
                    <a:pt x="28927" y="621"/>
                  </a:cubicBezTo>
                  <a:lnTo>
                    <a:pt x="283816" y="621"/>
                  </a:lnTo>
                  <a:close/>
                  <a:moveTo>
                    <a:pt x="248002" y="200646"/>
                  </a:moveTo>
                  <a:lnTo>
                    <a:pt x="152752" y="200646"/>
                  </a:lnTo>
                  <a:lnTo>
                    <a:pt x="152752" y="410196"/>
                  </a:lnTo>
                  <a:lnTo>
                    <a:pt x="171802" y="410196"/>
                  </a:lnTo>
                  <a:lnTo>
                    <a:pt x="171802" y="314946"/>
                  </a:lnTo>
                  <a:lnTo>
                    <a:pt x="248002" y="314946"/>
                  </a:lnTo>
                  <a:lnTo>
                    <a:pt x="250098" y="314946"/>
                  </a:lnTo>
                  <a:cubicBezTo>
                    <a:pt x="280673" y="313803"/>
                    <a:pt x="305152" y="288657"/>
                    <a:pt x="305152" y="257796"/>
                  </a:cubicBezTo>
                  <a:cubicBezTo>
                    <a:pt x="305152" y="226268"/>
                    <a:pt x="279530" y="200646"/>
                    <a:pt x="248002" y="200646"/>
                  </a:cubicBezTo>
                  <a:lnTo>
                    <a:pt x="248002" y="200646"/>
                  </a:lnTo>
                  <a:close/>
                  <a:moveTo>
                    <a:pt x="248002" y="219696"/>
                  </a:moveTo>
                  <a:cubicBezTo>
                    <a:pt x="269052" y="219696"/>
                    <a:pt x="286102" y="236746"/>
                    <a:pt x="286102" y="257796"/>
                  </a:cubicBezTo>
                  <a:cubicBezTo>
                    <a:pt x="286102" y="278846"/>
                    <a:pt x="269052" y="295896"/>
                    <a:pt x="248002" y="295896"/>
                  </a:cubicBezTo>
                  <a:lnTo>
                    <a:pt x="248002" y="295896"/>
                  </a:lnTo>
                  <a:lnTo>
                    <a:pt x="171802" y="295896"/>
                  </a:lnTo>
                  <a:lnTo>
                    <a:pt x="171802" y="219696"/>
                  </a:lnTo>
                  <a:lnTo>
                    <a:pt x="248002" y="219696"/>
                  </a:lnTo>
                  <a:close/>
                  <a:moveTo>
                    <a:pt x="428977" y="133971"/>
                  </a:moveTo>
                  <a:lnTo>
                    <a:pt x="314677" y="133971"/>
                  </a:lnTo>
                  <a:lnTo>
                    <a:pt x="313534" y="133876"/>
                  </a:lnTo>
                  <a:cubicBezTo>
                    <a:pt x="308772" y="133304"/>
                    <a:pt x="305152" y="129304"/>
                    <a:pt x="305152" y="124446"/>
                  </a:cubicBezTo>
                  <a:lnTo>
                    <a:pt x="305152" y="124446"/>
                  </a:lnTo>
                  <a:lnTo>
                    <a:pt x="305152" y="10146"/>
                  </a:lnTo>
                  <a:lnTo>
                    <a:pt x="428977" y="133971"/>
                  </a:lnTo>
                  <a:close/>
                </a:path>
              </a:pathLst>
            </a:custGeom>
            <a:solidFill>
              <a:srgbClr val="FFFFFF"/>
            </a:solidFill>
            <a:ln>
              <a:noFill/>
            </a:ln>
          </p:spPr>
          <p:txBody>
            <a:bodyPr vert="horz" lIns="68580" tIns="34290" rIns="68580" bIns="34290" anchor="t">
              <a:normAutofit fontScale="92500" lnSpcReduction="20000"/>
            </a:bodyPr>
            <a:lstStyle/>
            <a:p>
              <a:endParaRPr sz="1050"/>
            </a:p>
          </p:txBody>
        </p:sp>
      </p:grpSp>
      <p:sp>
        <p:nvSpPr>
          <p:cNvPr id="8" name="AutoShape 8"/>
          <p:cNvSpPr/>
          <p:nvPr/>
        </p:nvSpPr>
        <p:spPr>
          <a:xfrm>
            <a:off x="3612022" y="1953752"/>
            <a:ext cx="2035874" cy="505650"/>
          </a:xfrm>
          <a:prstGeom prst="rect">
            <a:avLst/>
          </a:prstGeom>
          <a:noFill/>
          <a:ln>
            <a:noFill/>
          </a:ln>
        </p:spPr>
        <p:txBody>
          <a:bodyPr vert="horz" wrap="square" lIns="68580" tIns="67500" rIns="68580" bIns="67500" anchor="b">
            <a:spAutoFit/>
          </a:bodyPr>
          <a:lstStyle/>
          <a:p>
            <a:pPr algn="ctr"/>
            <a:r>
              <a:rPr lang="en-US" sz="1200" b="1">
                <a:solidFill>
                  <a:srgbClr val="2F2F2F"/>
                </a:solidFill>
                <a:latin typeface="+mn-ea"/>
                <a:ea typeface="+mn-ea"/>
              </a:rPr>
              <a:t>Applications in Research and Development</a:t>
            </a:r>
          </a:p>
        </p:txBody>
      </p:sp>
      <p:sp>
        <p:nvSpPr>
          <p:cNvPr id="9" name="AutoShape 9"/>
          <p:cNvSpPr/>
          <p:nvPr/>
        </p:nvSpPr>
        <p:spPr>
          <a:xfrm>
            <a:off x="3612022" y="2454988"/>
            <a:ext cx="2035874" cy="2662408"/>
          </a:xfrm>
          <a:prstGeom prst="rect">
            <a:avLst/>
          </a:prstGeom>
          <a:noFill/>
          <a:ln>
            <a:noFill/>
          </a:ln>
        </p:spPr>
        <p:txBody>
          <a:bodyPr vert="horz" wrap="square" lIns="81000" tIns="81000" rIns="81000" bIns="81000" anchor="t">
            <a:spAutoFit/>
          </a:bodyPr>
          <a:lstStyle/>
          <a:p>
            <a:pPr algn="ctr">
              <a:lnSpc>
                <a:spcPct val="130000"/>
              </a:lnSpc>
            </a:pPr>
            <a:r>
              <a:rPr lang="en-US" sz="1050">
                <a:solidFill>
                  <a:srgbClr val="2F2F2F"/>
                </a:solidFill>
                <a:latin typeface="+mn-ea"/>
                <a:ea typeface="+mn-ea"/>
              </a:rPr>
              <a:t>Researchers use ns-3 to simulate real-world network conditions and evaluate the performance of new protocols and algorithms. Its modular design allows for easy integration of custom components, making it a versatile tool in the development of network systems and enhancement technologies.</a:t>
            </a:r>
          </a:p>
        </p:txBody>
      </p:sp>
      <p:grpSp>
        <p:nvGrpSpPr>
          <p:cNvPr id="10" name="Group 10"/>
          <p:cNvGrpSpPr/>
          <p:nvPr/>
        </p:nvGrpSpPr>
        <p:grpSpPr>
          <a:xfrm>
            <a:off x="4427459" y="1484279"/>
            <a:ext cx="405000" cy="405000"/>
            <a:chOff x="3589016" y="1164217"/>
            <a:chExt cx="454025" cy="454025"/>
          </a:xfrm>
        </p:grpSpPr>
        <p:sp>
          <p:nvSpPr>
            <p:cNvPr id="11" name="AutoShape 11"/>
            <p:cNvSpPr/>
            <p:nvPr/>
          </p:nvSpPr>
          <p:spPr>
            <a:xfrm>
              <a:off x="3589016" y="1164217"/>
              <a:ext cx="454025" cy="454025"/>
            </a:xfrm>
            <a:prstGeom prst="ellipse">
              <a:avLst/>
            </a:prstGeom>
            <a:solidFill>
              <a:schemeClr val="accent1"/>
            </a:solidFill>
            <a:ln>
              <a:noFill/>
            </a:ln>
          </p:spPr>
          <p:txBody>
            <a:bodyPr vert="horz" lIns="68580" tIns="34290" rIns="68580" bIns="34290" anchor="ctr">
              <a:normAutofit/>
            </a:bodyPr>
            <a:lstStyle/>
            <a:p>
              <a:pPr algn="ctr"/>
              <a:endParaRPr sz="1050"/>
            </a:p>
          </p:txBody>
        </p:sp>
        <p:sp>
          <p:nvSpPr>
            <p:cNvPr id="12" name="Freeform 12"/>
            <p:cNvSpPr/>
            <p:nvPr/>
          </p:nvSpPr>
          <p:spPr>
            <a:xfrm>
              <a:off x="3714490" y="1282039"/>
              <a:ext cx="203077" cy="218380"/>
            </a:xfrm>
            <a:custGeom>
              <a:avLst/>
              <a:gdLst/>
              <a:ahLst/>
              <a:cxnLst/>
              <a:rect l="l" t="t" r="r" b="b"/>
              <a:pathLst>
                <a:path w="487162" h="523875">
                  <a:moveTo>
                    <a:pt x="8774" y="514114"/>
                  </a:moveTo>
                  <a:lnTo>
                    <a:pt x="8203" y="513447"/>
                  </a:lnTo>
                  <a:lnTo>
                    <a:pt x="8203" y="513447"/>
                  </a:lnTo>
                  <a:lnTo>
                    <a:pt x="7727" y="512780"/>
                  </a:lnTo>
                  <a:cubicBezTo>
                    <a:pt x="6964" y="511828"/>
                    <a:pt x="6393" y="510780"/>
                    <a:pt x="5726" y="509732"/>
                  </a:cubicBezTo>
                  <a:lnTo>
                    <a:pt x="5726" y="509732"/>
                  </a:lnTo>
                  <a:lnTo>
                    <a:pt x="5250" y="508970"/>
                  </a:lnTo>
                  <a:lnTo>
                    <a:pt x="4488" y="507446"/>
                  </a:lnTo>
                  <a:lnTo>
                    <a:pt x="3821" y="505827"/>
                  </a:lnTo>
                  <a:lnTo>
                    <a:pt x="3726" y="505637"/>
                  </a:lnTo>
                  <a:lnTo>
                    <a:pt x="3631" y="505351"/>
                  </a:lnTo>
                  <a:lnTo>
                    <a:pt x="3631" y="505160"/>
                  </a:lnTo>
                  <a:lnTo>
                    <a:pt x="2964" y="503160"/>
                  </a:lnTo>
                  <a:cubicBezTo>
                    <a:pt x="2869" y="502684"/>
                    <a:pt x="2678" y="502303"/>
                    <a:pt x="2583" y="501826"/>
                  </a:cubicBezTo>
                  <a:cubicBezTo>
                    <a:pt x="2393" y="501160"/>
                    <a:pt x="2202" y="500588"/>
                    <a:pt x="2107" y="499921"/>
                  </a:cubicBezTo>
                  <a:cubicBezTo>
                    <a:pt x="1726" y="498493"/>
                    <a:pt x="1535" y="497064"/>
                    <a:pt x="1250" y="495635"/>
                  </a:cubicBezTo>
                  <a:lnTo>
                    <a:pt x="964" y="493159"/>
                  </a:lnTo>
                  <a:cubicBezTo>
                    <a:pt x="773" y="490968"/>
                    <a:pt x="678" y="488777"/>
                    <a:pt x="773" y="486587"/>
                  </a:cubicBezTo>
                  <a:cubicBezTo>
                    <a:pt x="1059" y="480300"/>
                    <a:pt x="2583" y="474109"/>
                    <a:pt x="5345" y="468298"/>
                  </a:cubicBezTo>
                  <a:lnTo>
                    <a:pt x="154983" y="151592"/>
                  </a:lnTo>
                  <a:cubicBezTo>
                    <a:pt x="157364" y="146544"/>
                    <a:pt x="158603" y="140924"/>
                    <a:pt x="158603" y="135305"/>
                  </a:cubicBezTo>
                  <a:lnTo>
                    <a:pt x="158603" y="19671"/>
                  </a:lnTo>
                  <a:lnTo>
                    <a:pt x="120503" y="19671"/>
                  </a:lnTo>
                  <a:lnTo>
                    <a:pt x="120503" y="621"/>
                  </a:lnTo>
                  <a:lnTo>
                    <a:pt x="368153" y="621"/>
                  </a:lnTo>
                  <a:lnTo>
                    <a:pt x="368153" y="19671"/>
                  </a:lnTo>
                  <a:lnTo>
                    <a:pt x="330053" y="19671"/>
                  </a:lnTo>
                  <a:lnTo>
                    <a:pt x="330053" y="135305"/>
                  </a:lnTo>
                  <a:cubicBezTo>
                    <a:pt x="330053" y="140924"/>
                    <a:pt x="331291" y="146449"/>
                    <a:pt x="333672" y="151592"/>
                  </a:cubicBezTo>
                  <a:lnTo>
                    <a:pt x="483310" y="468298"/>
                  </a:lnTo>
                  <a:cubicBezTo>
                    <a:pt x="488834" y="480014"/>
                    <a:pt x="489406" y="493444"/>
                    <a:pt x="484834" y="505541"/>
                  </a:cubicBezTo>
                  <a:lnTo>
                    <a:pt x="484739" y="505732"/>
                  </a:lnTo>
                  <a:lnTo>
                    <a:pt x="484167" y="507160"/>
                  </a:lnTo>
                  <a:cubicBezTo>
                    <a:pt x="479690" y="517066"/>
                    <a:pt x="470165" y="523734"/>
                    <a:pt x="459307" y="524401"/>
                  </a:cubicBezTo>
                  <a:lnTo>
                    <a:pt x="457497" y="524496"/>
                  </a:lnTo>
                  <a:lnTo>
                    <a:pt x="31253" y="524496"/>
                  </a:lnTo>
                  <a:lnTo>
                    <a:pt x="29444" y="524401"/>
                  </a:lnTo>
                  <a:cubicBezTo>
                    <a:pt x="28586" y="524305"/>
                    <a:pt x="27824" y="524305"/>
                    <a:pt x="26967" y="524115"/>
                  </a:cubicBezTo>
                  <a:cubicBezTo>
                    <a:pt x="25634" y="523925"/>
                    <a:pt x="24395" y="523639"/>
                    <a:pt x="23157" y="523258"/>
                  </a:cubicBezTo>
                  <a:lnTo>
                    <a:pt x="23157" y="523258"/>
                  </a:lnTo>
                  <a:cubicBezTo>
                    <a:pt x="21252" y="522686"/>
                    <a:pt x="19347" y="521924"/>
                    <a:pt x="17633" y="520972"/>
                  </a:cubicBezTo>
                  <a:lnTo>
                    <a:pt x="16204" y="520210"/>
                  </a:lnTo>
                  <a:cubicBezTo>
                    <a:pt x="15918" y="520020"/>
                    <a:pt x="15632" y="519829"/>
                    <a:pt x="15251" y="519638"/>
                  </a:cubicBezTo>
                  <a:cubicBezTo>
                    <a:pt x="13442" y="518495"/>
                    <a:pt x="11727" y="517066"/>
                    <a:pt x="10298" y="515542"/>
                  </a:cubicBezTo>
                  <a:lnTo>
                    <a:pt x="8774" y="514114"/>
                  </a:lnTo>
                  <a:lnTo>
                    <a:pt x="8774" y="514114"/>
                  </a:lnTo>
                  <a:close/>
                  <a:moveTo>
                    <a:pt x="255377" y="404767"/>
                  </a:moveTo>
                  <a:lnTo>
                    <a:pt x="252519" y="406576"/>
                  </a:lnTo>
                  <a:lnTo>
                    <a:pt x="246995" y="410291"/>
                  </a:lnTo>
                  <a:cubicBezTo>
                    <a:pt x="199751" y="441628"/>
                    <a:pt x="120217" y="442581"/>
                    <a:pt x="55161" y="416864"/>
                  </a:cubicBezTo>
                  <a:lnTo>
                    <a:pt x="51351" y="415339"/>
                  </a:lnTo>
                  <a:lnTo>
                    <a:pt x="22490" y="476395"/>
                  </a:lnTo>
                  <a:lnTo>
                    <a:pt x="21633" y="478300"/>
                  </a:lnTo>
                  <a:cubicBezTo>
                    <a:pt x="19156" y="484872"/>
                    <a:pt x="19061" y="492111"/>
                    <a:pt x="21538" y="498778"/>
                  </a:cubicBezTo>
                  <a:cubicBezTo>
                    <a:pt x="22776" y="502017"/>
                    <a:pt x="25443" y="504303"/>
                    <a:pt x="28681" y="505065"/>
                  </a:cubicBezTo>
                  <a:lnTo>
                    <a:pt x="29920" y="505255"/>
                  </a:lnTo>
                  <a:lnTo>
                    <a:pt x="31063" y="505351"/>
                  </a:lnTo>
                  <a:lnTo>
                    <a:pt x="457306" y="505351"/>
                  </a:lnTo>
                  <a:lnTo>
                    <a:pt x="458450" y="505255"/>
                  </a:lnTo>
                  <a:cubicBezTo>
                    <a:pt x="462260" y="504875"/>
                    <a:pt x="465498" y="502303"/>
                    <a:pt x="466831" y="498683"/>
                  </a:cubicBezTo>
                  <a:cubicBezTo>
                    <a:pt x="469118" y="492778"/>
                    <a:pt x="469308" y="486205"/>
                    <a:pt x="467403" y="480205"/>
                  </a:cubicBezTo>
                  <a:lnTo>
                    <a:pt x="466736" y="478205"/>
                  </a:lnTo>
                  <a:lnTo>
                    <a:pt x="465879" y="476300"/>
                  </a:lnTo>
                  <a:lnTo>
                    <a:pt x="424255" y="388098"/>
                  </a:lnTo>
                  <a:cubicBezTo>
                    <a:pt x="366152" y="373810"/>
                    <a:pt x="296715" y="379335"/>
                    <a:pt x="255377" y="404767"/>
                  </a:cubicBezTo>
                  <a:close/>
                  <a:moveTo>
                    <a:pt x="306240" y="257796"/>
                  </a:moveTo>
                  <a:cubicBezTo>
                    <a:pt x="287857" y="257796"/>
                    <a:pt x="272903" y="272750"/>
                    <a:pt x="272903" y="291134"/>
                  </a:cubicBezTo>
                  <a:cubicBezTo>
                    <a:pt x="272903" y="309517"/>
                    <a:pt x="287857" y="324471"/>
                    <a:pt x="306240" y="324471"/>
                  </a:cubicBezTo>
                  <a:cubicBezTo>
                    <a:pt x="324623" y="324471"/>
                    <a:pt x="339578" y="309517"/>
                    <a:pt x="339578" y="291134"/>
                  </a:cubicBezTo>
                  <a:cubicBezTo>
                    <a:pt x="339578" y="272750"/>
                    <a:pt x="324623" y="257796"/>
                    <a:pt x="306240" y="257796"/>
                  </a:cubicBezTo>
                  <a:close/>
                </a:path>
              </a:pathLst>
            </a:custGeom>
            <a:solidFill>
              <a:srgbClr val="FFFFFF"/>
            </a:solidFill>
            <a:ln>
              <a:noFill/>
            </a:ln>
          </p:spPr>
          <p:txBody>
            <a:bodyPr vert="horz" lIns="68580" tIns="34290" rIns="68580" bIns="34290" anchor="t">
              <a:normAutofit fontScale="92500" lnSpcReduction="20000"/>
            </a:bodyPr>
            <a:lstStyle/>
            <a:p>
              <a:endParaRPr sz="1050"/>
            </a:p>
          </p:txBody>
        </p:sp>
      </p:grpSp>
      <p:sp>
        <p:nvSpPr>
          <p:cNvPr id="13" name="AutoShape 13"/>
          <p:cNvSpPr/>
          <p:nvPr/>
        </p:nvSpPr>
        <p:spPr>
          <a:xfrm>
            <a:off x="6574442" y="1953752"/>
            <a:ext cx="2035874" cy="505650"/>
          </a:xfrm>
          <a:prstGeom prst="rect">
            <a:avLst/>
          </a:prstGeom>
          <a:noFill/>
          <a:ln>
            <a:noFill/>
          </a:ln>
        </p:spPr>
        <p:txBody>
          <a:bodyPr vert="horz" wrap="square" lIns="68580" tIns="67500" rIns="68580" bIns="67500" anchor="b">
            <a:spAutoFit/>
          </a:bodyPr>
          <a:lstStyle/>
          <a:p>
            <a:pPr algn="ctr"/>
            <a:r>
              <a:rPr lang="en-US" sz="1200" b="1">
                <a:solidFill>
                  <a:srgbClr val="2F2F2F"/>
                </a:solidFill>
                <a:latin typeface="+mn-ea"/>
                <a:ea typeface="+mn-ea"/>
              </a:rPr>
              <a:t>Objective of the Simulation</a:t>
            </a:r>
          </a:p>
        </p:txBody>
      </p:sp>
      <p:sp>
        <p:nvSpPr>
          <p:cNvPr id="14" name="AutoShape 14"/>
          <p:cNvSpPr/>
          <p:nvPr/>
        </p:nvSpPr>
        <p:spPr>
          <a:xfrm>
            <a:off x="6574442" y="2454988"/>
            <a:ext cx="2035874" cy="2452350"/>
          </a:xfrm>
          <a:prstGeom prst="rect">
            <a:avLst/>
          </a:prstGeom>
          <a:noFill/>
          <a:ln>
            <a:noFill/>
          </a:ln>
        </p:spPr>
        <p:txBody>
          <a:bodyPr vert="horz" wrap="square" lIns="81000" tIns="81000" rIns="81000" bIns="81000" anchor="t">
            <a:spAutoFit/>
          </a:bodyPr>
          <a:lstStyle/>
          <a:p>
            <a:pPr algn="ctr">
              <a:lnSpc>
                <a:spcPct val="130000"/>
              </a:lnSpc>
            </a:pPr>
            <a:r>
              <a:rPr lang="en-US" sz="1050">
                <a:solidFill>
                  <a:srgbClr val="2F2F2F"/>
                </a:solidFill>
                <a:latin typeface="+mn-ea"/>
                <a:ea typeface="+mn-ea"/>
              </a:rPr>
              <a:t>The primary objective of the simulation involves modeling O-RAN's architecture and analyzing the integration of machine learning mechanisms. This will provide insights into how such integrations can enhance operational efficiencies and enable improved management of network resources.</a:t>
            </a:r>
          </a:p>
        </p:txBody>
      </p:sp>
      <p:grpSp>
        <p:nvGrpSpPr>
          <p:cNvPr id="15" name="Group 15"/>
          <p:cNvGrpSpPr/>
          <p:nvPr/>
        </p:nvGrpSpPr>
        <p:grpSpPr>
          <a:xfrm>
            <a:off x="7389878" y="1484279"/>
            <a:ext cx="405000" cy="405000"/>
            <a:chOff x="3867571" y="1148389"/>
            <a:chExt cx="454025" cy="454025"/>
          </a:xfrm>
        </p:grpSpPr>
        <p:sp>
          <p:nvSpPr>
            <p:cNvPr id="16" name="AutoShape 16"/>
            <p:cNvSpPr/>
            <p:nvPr/>
          </p:nvSpPr>
          <p:spPr>
            <a:xfrm>
              <a:off x="3867571" y="1148389"/>
              <a:ext cx="454025" cy="454025"/>
            </a:xfrm>
            <a:prstGeom prst="ellipse">
              <a:avLst/>
            </a:prstGeom>
            <a:solidFill>
              <a:schemeClr val="accent1"/>
            </a:solidFill>
            <a:ln>
              <a:noFill/>
            </a:ln>
          </p:spPr>
          <p:txBody>
            <a:bodyPr vert="horz" lIns="68580" tIns="34290" rIns="68580" bIns="34290" anchor="ctr">
              <a:normAutofit/>
            </a:bodyPr>
            <a:lstStyle/>
            <a:p>
              <a:pPr algn="ctr"/>
              <a:endParaRPr sz="1050"/>
            </a:p>
          </p:txBody>
        </p:sp>
        <p:sp>
          <p:nvSpPr>
            <p:cNvPr id="17" name="Freeform 17"/>
            <p:cNvSpPr/>
            <p:nvPr/>
          </p:nvSpPr>
          <p:spPr>
            <a:xfrm>
              <a:off x="3985394" y="1288453"/>
              <a:ext cx="218380" cy="173896"/>
            </a:xfrm>
            <a:custGeom>
              <a:avLst/>
              <a:gdLst/>
              <a:ahLst/>
              <a:cxnLst/>
              <a:rect l="l" t="t" r="r" b="b"/>
              <a:pathLst>
                <a:path w="514350" h="409575">
                  <a:moveTo>
                    <a:pt x="486767" y="621"/>
                  </a:moveTo>
                  <a:cubicBezTo>
                    <a:pt x="502579" y="621"/>
                    <a:pt x="515342" y="13385"/>
                    <a:pt x="515342" y="29196"/>
                  </a:cubicBezTo>
                  <a:lnTo>
                    <a:pt x="515342" y="324471"/>
                  </a:lnTo>
                  <a:cubicBezTo>
                    <a:pt x="515342" y="340282"/>
                    <a:pt x="502579" y="353046"/>
                    <a:pt x="486767" y="353046"/>
                  </a:cubicBezTo>
                  <a:lnTo>
                    <a:pt x="192159" y="353046"/>
                  </a:lnTo>
                  <a:lnTo>
                    <a:pt x="115387" y="410196"/>
                  </a:lnTo>
                  <a:lnTo>
                    <a:pt x="115387" y="353046"/>
                  </a:lnTo>
                  <a:lnTo>
                    <a:pt x="29567" y="353046"/>
                  </a:lnTo>
                  <a:cubicBezTo>
                    <a:pt x="13755" y="353046"/>
                    <a:pt x="992" y="340282"/>
                    <a:pt x="992" y="324471"/>
                  </a:cubicBezTo>
                  <a:lnTo>
                    <a:pt x="992" y="29196"/>
                  </a:lnTo>
                  <a:cubicBezTo>
                    <a:pt x="992" y="13385"/>
                    <a:pt x="13755" y="621"/>
                    <a:pt x="29567" y="621"/>
                  </a:cubicBezTo>
                  <a:lnTo>
                    <a:pt x="486767" y="621"/>
                  </a:lnTo>
                  <a:close/>
                  <a:moveTo>
                    <a:pt x="124817" y="143496"/>
                  </a:moveTo>
                  <a:cubicBezTo>
                    <a:pt x="106434" y="143496"/>
                    <a:pt x="91480" y="158450"/>
                    <a:pt x="91480" y="176834"/>
                  </a:cubicBezTo>
                  <a:cubicBezTo>
                    <a:pt x="91480" y="195217"/>
                    <a:pt x="106434" y="210171"/>
                    <a:pt x="124817" y="210171"/>
                  </a:cubicBezTo>
                  <a:cubicBezTo>
                    <a:pt x="143200" y="210171"/>
                    <a:pt x="158155" y="195217"/>
                    <a:pt x="158155" y="176834"/>
                  </a:cubicBezTo>
                  <a:cubicBezTo>
                    <a:pt x="158155" y="158450"/>
                    <a:pt x="143200" y="143496"/>
                    <a:pt x="124817" y="143496"/>
                  </a:cubicBezTo>
                  <a:close/>
                  <a:moveTo>
                    <a:pt x="258167" y="143496"/>
                  </a:moveTo>
                  <a:cubicBezTo>
                    <a:pt x="239784" y="143496"/>
                    <a:pt x="224830" y="158450"/>
                    <a:pt x="224830" y="176834"/>
                  </a:cubicBezTo>
                  <a:cubicBezTo>
                    <a:pt x="224830" y="195217"/>
                    <a:pt x="239784" y="210171"/>
                    <a:pt x="258167" y="210171"/>
                  </a:cubicBezTo>
                  <a:cubicBezTo>
                    <a:pt x="276550" y="210171"/>
                    <a:pt x="291505" y="195217"/>
                    <a:pt x="291505" y="176834"/>
                  </a:cubicBezTo>
                  <a:cubicBezTo>
                    <a:pt x="291505" y="158450"/>
                    <a:pt x="276550" y="143496"/>
                    <a:pt x="258167" y="143496"/>
                  </a:cubicBezTo>
                  <a:close/>
                  <a:moveTo>
                    <a:pt x="391517" y="143496"/>
                  </a:moveTo>
                  <a:cubicBezTo>
                    <a:pt x="373134" y="143496"/>
                    <a:pt x="358180" y="158450"/>
                    <a:pt x="358180" y="176834"/>
                  </a:cubicBezTo>
                  <a:cubicBezTo>
                    <a:pt x="358180" y="195217"/>
                    <a:pt x="373134" y="210171"/>
                    <a:pt x="391517" y="210171"/>
                  </a:cubicBezTo>
                  <a:cubicBezTo>
                    <a:pt x="409900" y="210171"/>
                    <a:pt x="424855" y="195217"/>
                    <a:pt x="424855" y="176834"/>
                  </a:cubicBezTo>
                  <a:cubicBezTo>
                    <a:pt x="424855" y="158450"/>
                    <a:pt x="409900" y="143496"/>
                    <a:pt x="391517" y="143496"/>
                  </a:cubicBezTo>
                  <a:close/>
                </a:path>
              </a:pathLst>
            </a:custGeom>
            <a:solidFill>
              <a:srgbClr val="FFFFFF"/>
            </a:solidFill>
            <a:ln>
              <a:noFill/>
            </a:ln>
          </p:spPr>
          <p:txBody>
            <a:bodyPr vert="horz" lIns="68580" tIns="34290" rIns="68580" bIns="34290" anchor="t">
              <a:normAutofit fontScale="70000" lnSpcReduction="20000"/>
            </a:bodyPr>
            <a:lstStyle/>
            <a:p>
              <a:endParaRPr sz="1050"/>
            </a:p>
          </p:txBody>
        </p:sp>
      </p:grpSp>
    </p:spTree>
  </p:cSld>
  <p:clrMapOvr>
    <a:masterClrMapping/>
  </p:clrMapOvr>
  <p:transition spd="slow">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animEffect transition="in" filter="dissolve">
                                      <p:cBhvr>
                                        <p:cTn id="6" dur="1000"/>
                                        <p:tgtEl>
                                          <p:spTgt spid="2"/>
                                        </p:tgtEl>
                                      </p:cBhvr>
                                    </p:animEffect>
                                    <p:set>
                                      <p:cBhvr>
                                        <p:cTn id="7" dur="1000" fill="hold">
                                          <p:stCondLst>
                                            <p:cond delay="0"/>
                                          </p:stCondLst>
                                        </p:cTn>
                                        <p:tgtEl>
                                          <p:spTgt spid="2"/>
                                        </p:tgtEl>
                                        <p:attrNameLst>
                                          <p:attrName>style.visibility</p:attrName>
                                        </p:attrNameLst>
                                      </p:cBhvr>
                                      <p:to>
                                        <p:strVal val="visible"/>
                                      </p:to>
                                    </p:set>
                                  </p:childTnLst>
                                </p:cTn>
                              </p:par>
                            </p:childTnLst>
                          </p:cTn>
                        </p:par>
                        <p:par>
                          <p:cTn id="8" fill="hold">
                            <p:stCondLst>
                              <p:cond delay="0"/>
                            </p:stCondLst>
                            <p:childTnLst>
                              <p:par>
                                <p:cTn id="9" presetID="1"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par>
                          <p:cTn id="11" fill="hold">
                            <p:stCondLst>
                              <p:cond delay="0"/>
                            </p:stCondLst>
                            <p:childTnLst>
                              <p:par>
                                <p:cTn id="12" presetID="8" presetClass="entr" presetSubtype="32" fill="hold" nodeType="afterEffect">
                                  <p:stCondLst>
                                    <p:cond delay="0"/>
                                  </p:stCondLst>
                                  <p:childTnLst>
                                    <p:animEffect transition="in" filter="diamond(out)">
                                      <p:cBhvr>
                                        <p:cTn id="13" dur="1000"/>
                                        <p:tgtEl>
                                          <p:spTgt spid="4"/>
                                        </p:tgtEl>
                                      </p:cBhvr>
                                    </p:animEffect>
                                    <p:set>
                                      <p:cBhvr>
                                        <p:cTn id="14" dur="1000" fill="hold">
                                          <p:stCondLst>
                                            <p:cond delay="0"/>
                                          </p:stCondLst>
                                        </p:cTn>
                                        <p:tgtEl>
                                          <p:spTgt spid="4"/>
                                        </p:tgtEl>
                                        <p:attrNameLst>
                                          <p:attrName>style.visibility</p:attrName>
                                        </p:attrNameLst>
                                      </p:cBhvr>
                                      <p:to>
                                        <p:strVal val="visible"/>
                                      </p:to>
                                    </p:set>
                                  </p:childTnLst>
                                </p:cTn>
                              </p:par>
                            </p:childTnLst>
                          </p:cTn>
                        </p:par>
                        <p:par>
                          <p:cTn id="15" fill="hold">
                            <p:stCondLst>
                              <p:cond delay="0"/>
                            </p:stCondLst>
                            <p:childTnLst>
                              <p:par>
                                <p:cTn id="16" presetID="21" presetClass="entr" presetSubtype="2" fill="hold" nodeType="afterEffect">
                                  <p:stCondLst>
                                    <p:cond delay="0"/>
                                  </p:stCondLst>
                                  <p:childTnLst>
                                    <p:animEffect transition="in" filter="wheel(2)">
                                      <p:cBhvr>
                                        <p:cTn id="17" dur="1000"/>
                                        <p:tgtEl>
                                          <p:spTgt spid="8"/>
                                        </p:tgtEl>
                                      </p:cBhvr>
                                    </p:animEffect>
                                    <p:set>
                                      <p:cBhvr>
                                        <p:cTn id="18" dur="1000" fill="hold">
                                          <p:stCondLst>
                                            <p:cond delay="0"/>
                                          </p:stCondLst>
                                        </p:cTn>
                                        <p:tgtEl>
                                          <p:spTgt spid="8"/>
                                        </p:tgtEl>
                                        <p:attrNameLst>
                                          <p:attrName>style.visibility</p:attrName>
                                        </p:attrNameLst>
                                      </p:cBhvr>
                                      <p:to>
                                        <p:strVal val="visible"/>
                                      </p:to>
                                    </p:set>
                                  </p:childTnLst>
                                </p:cTn>
                              </p:par>
                            </p:childTnLst>
                          </p:cTn>
                        </p:par>
                        <p:par>
                          <p:cTn id="19" fill="hold">
                            <p:stCondLst>
                              <p:cond delay="0"/>
                            </p:stCondLst>
                            <p:childTnLst>
                              <p:par>
                                <p:cTn id="20" presetID="13" presetClass="entr" presetSubtype="16" fill="hold" nodeType="afterEffect">
                                  <p:stCondLst>
                                    <p:cond delay="0"/>
                                  </p:stCondLst>
                                  <p:childTnLst>
                                    <p:animEffect transition="in" filter="plus(in)">
                                      <p:cBhvr>
                                        <p:cTn id="21" dur="1000"/>
                                        <p:tgtEl>
                                          <p:spTgt spid="9"/>
                                        </p:tgtEl>
                                      </p:cBhvr>
                                    </p:animEffect>
                                    <p:set>
                                      <p:cBhvr>
                                        <p:cTn id="22" dur="1000" fill="hold">
                                          <p:stCondLst>
                                            <p:cond delay="0"/>
                                          </p:stCondLst>
                                        </p:cTn>
                                        <p:tgtEl>
                                          <p:spTgt spid="9"/>
                                        </p:tgtEl>
                                        <p:attrNameLst>
                                          <p:attrName>style.visibility</p:attrName>
                                        </p:attrNameLst>
                                      </p:cBhvr>
                                      <p:to>
                                        <p:strVal val="visible"/>
                                      </p:to>
                                    </p:set>
                                  </p:childTnLst>
                                </p:cTn>
                              </p:par>
                            </p:childTnLst>
                          </p:cTn>
                        </p:par>
                        <p:par>
                          <p:cTn id="23" fill="hold">
                            <p:stCondLst>
                              <p:cond delay="0"/>
                            </p:stCondLst>
                            <p:childTnLst>
                              <p:par>
                                <p:cTn id="24" presetID="14" presetClass="entr" presetSubtype="5" fill="hold" nodeType="afterEffect">
                                  <p:stCondLst>
                                    <p:cond delay="0"/>
                                  </p:stCondLst>
                                  <p:childTnLst>
                                    <p:animEffect transition="in" filter="randombar(vertical)">
                                      <p:cBhvr>
                                        <p:cTn id="25" dur="1000"/>
                                        <p:tgtEl>
                                          <p:spTgt spid="13"/>
                                        </p:tgtEl>
                                      </p:cBhvr>
                                    </p:animEffect>
                                    <p:set>
                                      <p:cBhvr>
                                        <p:cTn id="26" dur="1000" fill="hold">
                                          <p:stCondLst>
                                            <p:cond delay="0"/>
                                          </p:stCondLst>
                                        </p:cTn>
                                        <p:tgtEl>
                                          <p:spTgt spid="13"/>
                                        </p:tgtEl>
                                        <p:attrNameLst>
                                          <p:attrName>style.visibility</p:attrName>
                                        </p:attrNameLst>
                                      </p:cBhvr>
                                      <p:to>
                                        <p:strVal val="visible"/>
                                      </p:to>
                                    </p:set>
                                  </p:childTnLst>
                                </p:cTn>
                              </p:par>
                            </p:childTnLst>
                          </p:cTn>
                        </p:par>
                        <p:par>
                          <p:cTn id="27" fill="hold">
                            <p:stCondLst>
                              <p:cond delay="0"/>
                            </p:stCondLst>
                            <p:childTnLst>
                              <p:par>
                                <p:cTn id="28" presetID="50" presetClass="entr" presetSubtype="0" fill="hold" nodeType="afterEffect">
                                  <p:stCondLst>
                                    <p:cond delay="0"/>
                                  </p:stCondLst>
                                  <p:childTnLst>
                                    <p:anim calcmode="lin" valueType="num">
                                      <p:cBhvr>
                                        <p:cTn id="29" dur="1000" fill="hold"/>
                                        <p:tgtEl>
                                          <p:spTgt spid="14"/>
                                        </p:tgtEl>
                                        <p:attrNameLst>
                                          <p:attrName>ppt_w</p:attrName>
                                        </p:attrNameLst>
                                      </p:cBhvr>
                                      <p:tavLst>
                                        <p:tav tm="0">
                                          <p:val>
                                            <p:strVal val="#ppt_w+.3"/>
                                          </p:val>
                                        </p:tav>
                                        <p:tav tm="100000">
                                          <p:val>
                                            <p:strVal val="#ppt_w"/>
                                          </p:val>
                                        </p:tav>
                                      </p:tavLst>
                                    </p:anim>
                                    <p:anim calcmode="lin" valueType="num">
                                      <p:cBhvr>
                                        <p:cTn id="30" dur="1000" fill="hold"/>
                                        <p:tgtEl>
                                          <p:spTgt spid="14"/>
                                        </p:tgtEl>
                                        <p:attrNameLst>
                                          <p:attrName>ppt_h</p:attrName>
                                        </p:attrNameLst>
                                      </p:cBhvr>
                                      <p:tavLst>
                                        <p:tav tm="0">
                                          <p:val>
                                            <p:strVal val="#ppt_h"/>
                                          </p:val>
                                        </p:tav>
                                        <p:tav tm="100000">
                                          <p:val>
                                            <p:strVal val="#ppt_h"/>
                                          </p:val>
                                        </p:tav>
                                      </p:tavLst>
                                    </p:anim>
                                    <p:animEffect transition="in" filter="fade">
                                      <p:cBhvr>
                                        <p:cTn id="31" dur="1000"/>
                                        <p:tgtEl>
                                          <p:spTgt spid="14"/>
                                        </p:tgtEl>
                                      </p:cBhvr>
                                    </p:animEffect>
                                    <p:set>
                                      <p:cBhvr>
                                        <p:cTn id="3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a:xfrm>
            <a:off x="687133" y="2611177"/>
            <a:ext cx="4775288" cy="360098"/>
          </a:xfrm>
        </p:spPr>
        <p:txBody>
          <a:bodyPr spcFirstLastPara="1" vert="horz" wrap="square" lIns="68580" tIns="34290" rIns="68580" bIns="34290" anchor="t" anchorCtr="0">
            <a:normAutofit/>
          </a:bodyPr>
          <a:lstStyle/>
          <a:p>
            <a:pPr algn="l">
              <a:lnSpc>
                <a:spcPct val="90000"/>
              </a:lnSpc>
              <a:spcBef>
                <a:spcPct val="0"/>
              </a:spcBef>
            </a:pPr>
            <a:r>
              <a:rPr lang="zh-CN" altLang="en-US" sz="1917" b="1">
                <a:solidFill>
                  <a:srgbClr val="2F2F2F"/>
                </a:solidFill>
                <a:latin typeface="微软雅黑"/>
                <a:ea typeface="微软雅黑"/>
              </a:rPr>
              <a:t>O-RAN Architecture Components</a:t>
            </a:r>
          </a:p>
        </p:txBody>
      </p:sp>
      <p:sp>
        <p:nvSpPr>
          <p:cNvPr id="3" name="TextBox 3"/>
          <p:cNvSpPr txBox="1"/>
          <p:nvPr/>
        </p:nvSpPr>
        <p:spPr>
          <a:xfrm>
            <a:off x="759513" y="1439471"/>
            <a:ext cx="160238" cy="925365"/>
          </a:xfrm>
          <a:prstGeom prst="rect">
            <a:avLst/>
          </a:prstGeom>
          <a:noFill/>
          <a:ln>
            <a:noFill/>
          </a:ln>
        </p:spPr>
        <p:txBody>
          <a:bodyPr vert="horz" wrap="none" lIns="68580" tIns="34290" rIns="68580" bIns="34290" numCol="1" rtlCol="0" anchor="t">
            <a:prstTxWarp prst="textPlain">
              <a:avLst/>
            </a:prstTxWarp>
            <a:spAutoFit/>
          </a:bodyPr>
          <a:lstStyle/>
          <a:p>
            <a:pPr>
              <a:defRPr/>
            </a:pPr>
            <a:r>
              <a:rPr lang="en-US" sz="1350" spc="75">
                <a:solidFill>
                  <a:schemeClr val="accent1"/>
                </a:solidFill>
                <a:latin typeface="Impact"/>
                <a:ea typeface="Impact"/>
              </a:rPr>
              <a:t>/</a:t>
            </a:r>
            <a:endParaRPr lang="en-US" sz="825"/>
          </a:p>
        </p:txBody>
      </p:sp>
      <p:sp>
        <p:nvSpPr>
          <p:cNvPr id="4" name="TextBox 4"/>
          <p:cNvSpPr txBox="1"/>
          <p:nvPr/>
        </p:nvSpPr>
        <p:spPr>
          <a:xfrm>
            <a:off x="930205" y="1313531"/>
            <a:ext cx="1248689" cy="1177245"/>
          </a:xfrm>
          <a:prstGeom prst="rect">
            <a:avLst/>
          </a:prstGeom>
          <a:noFill/>
        </p:spPr>
        <p:txBody>
          <a:bodyPr vert="horz" wrap="square" lIns="68580" tIns="34290" rIns="68580" bIns="34290" rtlCol="0" anchor="t">
            <a:spAutoFit/>
          </a:bodyPr>
          <a:lstStyle/>
          <a:p>
            <a:pPr>
              <a:defRPr/>
            </a:pPr>
            <a:r>
              <a:rPr lang="en-US" sz="7200" spc="75">
                <a:solidFill>
                  <a:schemeClr val="accent1"/>
                </a:solidFill>
                <a:latin typeface="Impact"/>
                <a:ea typeface="Impact"/>
              </a:rPr>
              <a:t>02</a:t>
            </a:r>
            <a:endParaRPr lang="en-US" sz="825"/>
          </a:p>
        </p:txBody>
      </p:sp>
    </p:spTree>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anim calcmode="lin" valueType="num">
                                      <p:cBhvr>
                                        <p:cTn id="6" dur="1000" fill="hold"/>
                                        <p:tgtEl>
                                          <p:spTgt spid="4"/>
                                        </p:tgtEl>
                                        <p:attrNameLst>
                                          <p:attrName>ppt_w</p:attrName>
                                        </p:attrNameLst>
                                      </p:cBhvr>
                                      <p:tavLst>
                                        <p:tav tm="0">
                                          <p:val>
                                            <p:strVal val="#ppt_w*0.70"/>
                                          </p:val>
                                        </p:tav>
                                        <p:tav tm="100000">
                                          <p:val>
                                            <p:strVal val="#ppt_w"/>
                                          </p:val>
                                        </p:tav>
                                      </p:tavLst>
                                    </p:anim>
                                    <p:anim calcmode="lin" valueType="num">
                                      <p:cBhvr>
                                        <p:cTn id="7" dur="1000" fill="hold"/>
                                        <p:tgtEl>
                                          <p:spTgt spid="4"/>
                                        </p:tgtEl>
                                        <p:attrNameLst>
                                          <p:attrName>ppt_h</p:attrName>
                                        </p:attrNameLst>
                                      </p:cBhvr>
                                      <p:tavLst>
                                        <p:tav tm="0">
                                          <p:val>
                                            <p:strVal val="#ppt_h"/>
                                          </p:val>
                                        </p:tav>
                                        <p:tav tm="100000">
                                          <p:val>
                                            <p:strVal val="#ppt_h"/>
                                          </p:val>
                                        </p:tav>
                                      </p:tavLst>
                                    </p:anim>
                                    <p:animEffect transition="in" filter="fade">
                                      <p:cBhvr>
                                        <p:cTn id="8" dur="1000"/>
                                        <p:tgtEl>
                                          <p:spTgt spid="4"/>
                                        </p:tgtEl>
                                      </p:cBhvr>
                                    </p:animEffect>
                                    <p:set>
                                      <p:cBhvr>
                                        <p:cTn id="9" dur="1" fill="hold">
                                          <p:stCondLst>
                                            <p:cond delay="0"/>
                                          </p:stCondLst>
                                        </p:cTn>
                                        <p:tgtEl>
                                          <p:spTgt spid="4"/>
                                        </p:tgtEl>
                                        <p:attrNameLst>
                                          <p:attrName>style.visibility</p:attrName>
                                        </p:attrNameLst>
                                      </p:cBhvr>
                                      <p:to>
                                        <p:strVal val="visible"/>
                                      </p:to>
                                    </p:set>
                                  </p:childTnLst>
                                </p:cTn>
                              </p:par>
                            </p:childTnLst>
                          </p:cTn>
                        </p:par>
                        <p:par>
                          <p:cTn id="10" fill="hold">
                            <p:stCondLst>
                              <p:cond delay="0"/>
                            </p:stCondLst>
                            <p:childTnLst>
                              <p:par>
                                <p:cTn id="11" presetID="23" presetClass="entr" presetSubtype="36" fill="hold" nodeType="afterEffect">
                                  <p:stCondLst>
                                    <p:cond delay="0"/>
                                  </p:stCondLst>
                                  <p:childTnLst>
                                    <p:anim calcmode="lin" valueType="num">
                                      <p:cBhvr>
                                        <p:cTn id="12" dur="500" fill="hold"/>
                                        <p:tgtEl>
                                          <p:spTgt spid="2"/>
                                        </p:tgtEl>
                                        <p:attrNameLst>
                                          <p:attrName>ppt_w</p:attrName>
                                        </p:attrNameLst>
                                      </p:cBhvr>
                                      <p:tavLst>
                                        <p:tav tm="0">
                                          <p:val>
                                            <p:strVal val="(6*min(max(#ppt_w*#ppt_h,.3),1)-7.4)/-.7*#ppt_w"/>
                                          </p:val>
                                        </p:tav>
                                        <p:tav tm="100000">
                                          <p:val>
                                            <p:strVal val="#ppt_w"/>
                                          </p:val>
                                        </p:tav>
                                      </p:tavLst>
                                    </p:anim>
                                    <p:anim calcmode="lin" valueType="num">
                                      <p:cBhvr>
                                        <p:cTn id="13" dur="500" fill="hold"/>
                                        <p:tgtEl>
                                          <p:spTgt spid="2"/>
                                        </p:tgtEl>
                                        <p:attrNameLst>
                                          <p:attrName>ppt_h</p:attrName>
                                        </p:attrNameLst>
                                      </p:cBhvr>
                                      <p:tavLst>
                                        <p:tav tm="0">
                                          <p:val>
                                            <p:strVal val="(6*min(max(#ppt_w*#ppt_h,.3),1)-7.4)/-.7*#ppt_h"/>
                                          </p:val>
                                        </p:tav>
                                        <p:tav tm="100000">
                                          <p:val>
                                            <p:strVal val="#ppt_h"/>
                                          </p:val>
                                        </p:tav>
                                      </p:tavLst>
                                    </p:anim>
                                    <p:anim calcmode="lin" valueType="num">
                                      <p:cBhvr>
                                        <p:cTn id="14" dur="500" fill="hold"/>
                                        <p:tgtEl>
                                          <p:spTgt spid="2"/>
                                        </p:tgtEl>
                                        <p:attrNameLst>
                                          <p:attrName>ppt_x</p:attrName>
                                        </p:attrNameLst>
                                      </p:cBhvr>
                                      <p:tavLst>
                                        <p:tav tm="0">
                                          <p:val>
                                            <p:fltVal val="0.5"/>
                                          </p:val>
                                        </p:tav>
                                        <p:tav tm="100000">
                                          <p:val>
                                            <p:strVal val="#ppt_x"/>
                                          </p:val>
                                        </p:tav>
                                      </p:tavLst>
                                    </p:anim>
                                    <p:anim calcmode="lin" valueType="num">
                                      <p:cBhvr>
                                        <p:cTn id="15" dur="500" fill="hold"/>
                                        <p:tgtEl>
                                          <p:spTgt spid="2"/>
                                        </p:tgtEl>
                                        <p:attrNameLst>
                                          <p:attrName>ppt_y</p:attrName>
                                        </p:attrNameLst>
                                      </p:cBhvr>
                                      <p:tavLst>
                                        <p:tav tm="0">
                                          <p:val>
                                            <p:strVal val="1+(6*min(max(#ppt_w*#ppt_h,.3),1)-7.4)/-.7*#ppt_h/2"/>
                                          </p:val>
                                        </p:tav>
                                        <p:tav tm="100000">
                                          <p:val>
                                            <p:strVal val="#ppt_y"/>
                                          </p:val>
                                        </p:tav>
                                      </p:tavLst>
                                    </p:anim>
                                    <p:set>
                                      <p:cBhvr>
                                        <p:cTn id="16" dur="500"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p:txBody>
          <a:bodyPr spcFirstLastPara="1" vert="horz" wrap="square" lIns="68580" tIns="34290" rIns="68580" bIns="34290" anchor="b" anchorCtr="0">
            <a:normAutofit/>
          </a:bodyPr>
          <a:lstStyle/>
          <a:p>
            <a:pPr algn="l">
              <a:lnSpc>
                <a:spcPct val="90000"/>
              </a:lnSpc>
              <a:spcBef>
                <a:spcPct val="0"/>
              </a:spcBef>
            </a:pPr>
            <a:r>
              <a:rPr lang="zh-CN" altLang="en-US" sz="2100" b="1">
                <a:solidFill>
                  <a:srgbClr val="2F2F2F"/>
                </a:solidFill>
                <a:latin typeface="微软雅黑"/>
                <a:ea typeface="微软雅黑"/>
              </a:rPr>
              <a:t>Key Components Overview</a:t>
            </a:r>
          </a:p>
        </p:txBody>
      </p:sp>
      <p:sp>
        <p:nvSpPr>
          <p:cNvPr id="3" name="AutoShape 3"/>
          <p:cNvSpPr/>
          <p:nvPr/>
        </p:nvSpPr>
        <p:spPr>
          <a:xfrm>
            <a:off x="511384" y="1349201"/>
            <a:ext cx="2460172" cy="3260900"/>
          </a:xfrm>
          <a:prstGeom prst="round2DiagRect">
            <a:avLst/>
          </a:prstGeom>
          <a:solidFill>
            <a:schemeClr val="accent1"/>
          </a:solidFill>
          <a:ln>
            <a:noFill/>
          </a:ln>
        </p:spPr>
        <p:txBody>
          <a:bodyPr vert="horz" lIns="68580" tIns="34290" rIns="68580" bIns="34290" anchor="ctr">
            <a:normAutofit/>
          </a:bodyPr>
          <a:lstStyle/>
          <a:p>
            <a:pPr algn="ctr"/>
            <a:endParaRPr sz="1050"/>
          </a:p>
        </p:txBody>
      </p:sp>
      <p:cxnSp>
        <p:nvCxnSpPr>
          <p:cNvPr id="4" name="Connector 4"/>
          <p:cNvCxnSpPr/>
          <p:nvPr/>
        </p:nvCxnSpPr>
        <p:spPr>
          <a:xfrm>
            <a:off x="718457" y="1927781"/>
            <a:ext cx="2013857" cy="0"/>
          </a:xfrm>
          <a:prstGeom prst="line">
            <a:avLst/>
          </a:prstGeom>
          <a:ln w="9525">
            <a:solidFill>
              <a:srgbClr val="FFFFFF"/>
            </a:solidFill>
          </a:ln>
        </p:spPr>
      </p:cxnSp>
      <p:sp>
        <p:nvSpPr>
          <p:cNvPr id="5" name="AutoShape 5"/>
          <p:cNvSpPr/>
          <p:nvPr/>
        </p:nvSpPr>
        <p:spPr>
          <a:xfrm>
            <a:off x="718457" y="2070929"/>
            <a:ext cx="2013857" cy="2393797"/>
          </a:xfrm>
          <a:prstGeom prst="rect">
            <a:avLst/>
          </a:prstGeom>
          <a:noFill/>
          <a:ln>
            <a:noFill/>
          </a:ln>
        </p:spPr>
        <p:txBody>
          <a:bodyPr vert="horz" wrap="square" lIns="81000" tIns="0" rIns="81000" bIns="0" anchor="t">
            <a:spAutoFit/>
          </a:bodyPr>
          <a:lstStyle/>
          <a:p>
            <a:pPr algn="ctr">
              <a:lnSpc>
                <a:spcPct val="150000"/>
              </a:lnSpc>
            </a:pPr>
            <a:r>
              <a:rPr lang="en-US" sz="1050">
                <a:solidFill>
                  <a:schemeClr val="lt1"/>
                </a:solidFill>
                <a:latin typeface="+mn-ea"/>
                <a:ea typeface="+mn-ea"/>
              </a:rPr>
              <a:t>The Near-RT RIC is crucial for managing radio resources and optimizing network performance. It operates with minimal latency and supports automated decision-making processes for managing radio resources in real-time, ensuring efficient bandwidth allocation and QoS.</a:t>
            </a:r>
          </a:p>
        </p:txBody>
      </p:sp>
      <p:sp>
        <p:nvSpPr>
          <p:cNvPr id="6" name="AutoShape 6"/>
          <p:cNvSpPr/>
          <p:nvPr/>
        </p:nvSpPr>
        <p:spPr>
          <a:xfrm>
            <a:off x="3306336" y="1282257"/>
            <a:ext cx="2460172" cy="3327844"/>
          </a:xfrm>
          <a:prstGeom prst="round2DiagRect">
            <a:avLst/>
          </a:prstGeom>
          <a:solidFill>
            <a:srgbClr val="778495">
              <a:alpha val="15000"/>
            </a:srgbClr>
          </a:solidFill>
          <a:ln>
            <a:noFill/>
          </a:ln>
        </p:spPr>
        <p:txBody>
          <a:bodyPr vert="horz" lIns="68580" tIns="34290" rIns="68580" bIns="34290" anchor="ctr">
            <a:normAutofit/>
          </a:bodyPr>
          <a:lstStyle/>
          <a:p>
            <a:pPr algn="ctr"/>
            <a:endParaRPr sz="1050"/>
          </a:p>
        </p:txBody>
      </p:sp>
      <p:cxnSp>
        <p:nvCxnSpPr>
          <p:cNvPr id="7" name="Connector 7"/>
          <p:cNvCxnSpPr/>
          <p:nvPr/>
        </p:nvCxnSpPr>
        <p:spPr>
          <a:xfrm>
            <a:off x="3529493" y="1927781"/>
            <a:ext cx="2013857" cy="0"/>
          </a:xfrm>
          <a:prstGeom prst="line">
            <a:avLst/>
          </a:prstGeom>
          <a:ln w="9525">
            <a:solidFill>
              <a:srgbClr val="2F2F2F"/>
            </a:solidFill>
          </a:ln>
        </p:spPr>
      </p:cxnSp>
      <p:sp>
        <p:nvSpPr>
          <p:cNvPr id="8" name="AutoShape 8"/>
          <p:cNvSpPr/>
          <p:nvPr/>
        </p:nvSpPr>
        <p:spPr>
          <a:xfrm>
            <a:off x="3529493" y="2070929"/>
            <a:ext cx="2013857" cy="2393797"/>
          </a:xfrm>
          <a:prstGeom prst="rect">
            <a:avLst/>
          </a:prstGeom>
          <a:noFill/>
          <a:ln>
            <a:noFill/>
          </a:ln>
        </p:spPr>
        <p:txBody>
          <a:bodyPr vert="horz" wrap="square" lIns="81000" tIns="0" rIns="81000" bIns="0" anchor="t">
            <a:spAutoFit/>
          </a:bodyPr>
          <a:lstStyle/>
          <a:p>
            <a:pPr algn="ctr">
              <a:lnSpc>
                <a:spcPct val="150000"/>
              </a:lnSpc>
            </a:pPr>
            <a:r>
              <a:rPr lang="en-US" sz="1050">
                <a:solidFill>
                  <a:srgbClr val="2F2F2F"/>
                </a:solidFill>
                <a:latin typeface="+mn-ea"/>
                <a:ea typeface="+mn-ea"/>
              </a:rPr>
              <a:t>Unlike its near-real-time counterpart, the Non-RT RIC focuses on non-time-critical functions, such as analytics, metrics reporting, and long-term planning. It provides insights that inform strategies for capacity planning and resource allocation in future network scenarios.</a:t>
            </a:r>
          </a:p>
        </p:txBody>
      </p:sp>
      <p:sp>
        <p:nvSpPr>
          <p:cNvPr id="9" name="AutoShape 9"/>
          <p:cNvSpPr/>
          <p:nvPr/>
        </p:nvSpPr>
        <p:spPr>
          <a:xfrm>
            <a:off x="6117373" y="1282257"/>
            <a:ext cx="2460172" cy="3424843"/>
          </a:xfrm>
          <a:prstGeom prst="round2DiagRect">
            <a:avLst/>
          </a:prstGeom>
          <a:solidFill>
            <a:srgbClr val="778495">
              <a:alpha val="15000"/>
            </a:srgbClr>
          </a:solidFill>
          <a:ln>
            <a:noFill/>
          </a:ln>
        </p:spPr>
        <p:txBody>
          <a:bodyPr vert="horz" lIns="68580" tIns="34290" rIns="68580" bIns="34290" anchor="ctr">
            <a:normAutofit/>
          </a:bodyPr>
          <a:lstStyle/>
          <a:p>
            <a:pPr algn="ctr"/>
            <a:endParaRPr sz="1050"/>
          </a:p>
        </p:txBody>
      </p:sp>
      <p:cxnSp>
        <p:nvCxnSpPr>
          <p:cNvPr id="10" name="Connector 10"/>
          <p:cNvCxnSpPr/>
          <p:nvPr/>
        </p:nvCxnSpPr>
        <p:spPr>
          <a:xfrm>
            <a:off x="6340530" y="1927781"/>
            <a:ext cx="2013857" cy="0"/>
          </a:xfrm>
          <a:prstGeom prst="line">
            <a:avLst/>
          </a:prstGeom>
          <a:ln w="9525">
            <a:solidFill>
              <a:srgbClr val="2F2F2F"/>
            </a:solidFill>
          </a:ln>
        </p:spPr>
      </p:cxnSp>
      <p:sp>
        <p:nvSpPr>
          <p:cNvPr id="11" name="AutoShape 11"/>
          <p:cNvSpPr/>
          <p:nvPr/>
        </p:nvSpPr>
        <p:spPr>
          <a:xfrm>
            <a:off x="6273750" y="2070929"/>
            <a:ext cx="2151793" cy="2393797"/>
          </a:xfrm>
          <a:prstGeom prst="rect">
            <a:avLst/>
          </a:prstGeom>
          <a:noFill/>
          <a:ln>
            <a:noFill/>
          </a:ln>
        </p:spPr>
        <p:txBody>
          <a:bodyPr vert="horz" wrap="square" lIns="81000" tIns="0" rIns="81000" bIns="0" anchor="t">
            <a:spAutoFit/>
          </a:bodyPr>
          <a:lstStyle/>
          <a:p>
            <a:pPr algn="ctr">
              <a:lnSpc>
                <a:spcPct val="150000"/>
              </a:lnSpc>
            </a:pPr>
            <a:r>
              <a:rPr lang="en-US" sz="1050" dirty="0" err="1">
                <a:solidFill>
                  <a:srgbClr val="2F2F2F"/>
                </a:solidFill>
                <a:latin typeface="+mn-ea"/>
                <a:ea typeface="+mn-ea"/>
              </a:rPr>
              <a:t>xApps</a:t>
            </a:r>
            <a:r>
              <a:rPr lang="en-US" sz="1050" dirty="0">
                <a:solidFill>
                  <a:srgbClr val="2F2F2F"/>
                </a:solidFill>
                <a:latin typeface="+mn-ea"/>
                <a:ea typeface="+mn-ea"/>
              </a:rPr>
              <a:t> are specialized applications designed to perform specific functions within the RIC, such as load balancing and handover management. The data repositories store historical and current operational data, enabling </a:t>
            </a:r>
            <a:r>
              <a:rPr lang="en-US" sz="1050" dirty="0" err="1">
                <a:solidFill>
                  <a:srgbClr val="2F2F2F"/>
                </a:solidFill>
                <a:latin typeface="+mn-ea"/>
                <a:ea typeface="+mn-ea"/>
              </a:rPr>
              <a:t>xApps</a:t>
            </a:r>
            <a:r>
              <a:rPr lang="en-US" sz="1050" dirty="0">
                <a:solidFill>
                  <a:srgbClr val="2F2F2F"/>
                </a:solidFill>
                <a:latin typeface="+mn-ea"/>
                <a:ea typeface="+mn-ea"/>
              </a:rPr>
              <a:t> to leverage insights for enhanced decision-making.</a:t>
            </a:r>
          </a:p>
        </p:txBody>
      </p:sp>
      <p:sp>
        <p:nvSpPr>
          <p:cNvPr id="12" name="AutoShape 12"/>
          <p:cNvSpPr/>
          <p:nvPr/>
        </p:nvSpPr>
        <p:spPr>
          <a:xfrm>
            <a:off x="628247" y="1376373"/>
            <a:ext cx="2151793" cy="505650"/>
          </a:xfrm>
          <a:prstGeom prst="rect">
            <a:avLst/>
          </a:prstGeom>
          <a:noFill/>
          <a:ln>
            <a:noFill/>
          </a:ln>
        </p:spPr>
        <p:txBody>
          <a:bodyPr vert="horz" wrap="square" lIns="68580" tIns="67500" rIns="68580" bIns="67500" anchor="b">
            <a:spAutoFit/>
          </a:bodyPr>
          <a:lstStyle/>
          <a:p>
            <a:pPr algn="ctr"/>
            <a:r>
              <a:rPr lang="en-US" sz="1200" b="1">
                <a:solidFill>
                  <a:srgbClr val="FFFFFF"/>
                </a:solidFill>
                <a:latin typeface="+mn-ea"/>
                <a:ea typeface="+mn-ea"/>
              </a:rPr>
              <a:t>Near-Real-Time RAN Intelligent Controller</a:t>
            </a:r>
          </a:p>
        </p:txBody>
      </p:sp>
      <p:sp>
        <p:nvSpPr>
          <p:cNvPr id="13" name="AutoShape 13"/>
          <p:cNvSpPr/>
          <p:nvPr/>
        </p:nvSpPr>
        <p:spPr>
          <a:xfrm>
            <a:off x="3482445" y="1583336"/>
            <a:ext cx="2151793" cy="320984"/>
          </a:xfrm>
          <a:prstGeom prst="rect">
            <a:avLst/>
          </a:prstGeom>
          <a:noFill/>
          <a:ln>
            <a:noFill/>
          </a:ln>
        </p:spPr>
        <p:txBody>
          <a:bodyPr vert="horz" wrap="square" lIns="68580" tIns="67500" rIns="68580" bIns="67500" anchor="b">
            <a:spAutoFit/>
          </a:bodyPr>
          <a:lstStyle/>
          <a:p>
            <a:pPr algn="ctr"/>
            <a:r>
              <a:rPr lang="en-US" sz="1200" b="1">
                <a:solidFill>
                  <a:srgbClr val="2F2F2F">
                    <a:lumMod val="90000"/>
                    <a:lumOff val="10000"/>
                  </a:srgbClr>
                </a:solidFill>
                <a:latin typeface="+mn-ea"/>
                <a:ea typeface="+mn-ea"/>
              </a:rPr>
              <a:t>Non-Real-Time RIC</a:t>
            </a:r>
          </a:p>
        </p:txBody>
      </p:sp>
      <p:sp>
        <p:nvSpPr>
          <p:cNvPr id="14" name="AutoShape 14"/>
          <p:cNvSpPr/>
          <p:nvPr/>
        </p:nvSpPr>
        <p:spPr>
          <a:xfrm>
            <a:off x="6273750" y="1407744"/>
            <a:ext cx="2151793" cy="505650"/>
          </a:xfrm>
          <a:prstGeom prst="rect">
            <a:avLst/>
          </a:prstGeom>
          <a:noFill/>
          <a:ln>
            <a:noFill/>
          </a:ln>
        </p:spPr>
        <p:txBody>
          <a:bodyPr vert="horz" wrap="square" lIns="68580" tIns="67500" rIns="68580" bIns="67500" anchor="b">
            <a:spAutoFit/>
          </a:bodyPr>
          <a:lstStyle/>
          <a:p>
            <a:pPr algn="ctr"/>
            <a:r>
              <a:rPr lang="en-US" sz="1200" b="1">
                <a:solidFill>
                  <a:srgbClr val="2F2F2F">
                    <a:lumMod val="90000"/>
                    <a:lumOff val="10000"/>
                  </a:srgbClr>
                </a:solidFill>
                <a:latin typeface="+mn-ea"/>
                <a:ea typeface="+mn-ea"/>
              </a:rPr>
              <a:t>xApps and Data Repositories</a:t>
            </a:r>
          </a:p>
        </p:txBody>
      </p:sp>
    </p:spTree>
  </p:cSld>
  <p:clrMapOvr>
    <a:masterClrMapping/>
  </p:clrMapOvr>
  <p:transition spd="slow">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4" fill="hold" nodeType="afterEffect">
                                  <p:stCondLst>
                                    <p:cond delay="0"/>
                                  </p:stCondLst>
                                  <p:childTnLst>
                                    <p:anim calcmode="lin" valueType="num">
                                      <p:cBhvr additive="base">
                                        <p:cTn id="6" dur="500" fill="hold"/>
                                        <p:tgtEl>
                                          <p:spTgt spid="2"/>
                                        </p:tgtEl>
                                        <p:attrNameLst>
                                          <p:attrName>ppt_x</p:attrName>
                                        </p:attrNameLst>
                                      </p:cBhvr>
                                      <p:tavLst>
                                        <p:tav tm="0">
                                          <p:val>
                                            <p:strVal val="#ppt_x"/>
                                          </p:val>
                                        </p:tav>
                                        <p:tav tm="100000">
                                          <p:val>
                                            <p:strVal val="#ppt_x"/>
                                          </p:val>
                                        </p:tav>
                                      </p:tavLst>
                                    </p:anim>
                                    <p:anim calcmode="lin" valueType="num">
                                      <p:cBhvr additive="base">
                                        <p:cTn id="7" dur="500" fill="hold"/>
                                        <p:tgtEl>
                                          <p:spTgt spid="2"/>
                                        </p:tgtEl>
                                        <p:attrNameLst>
                                          <p:attrName>ppt_y</p:attrName>
                                        </p:attrNameLst>
                                      </p:cBhvr>
                                      <p:tavLst>
                                        <p:tav tm="0">
                                          <p:val>
                                            <p:strVal val="#ppt_y+#ppt_h/2"/>
                                          </p:val>
                                        </p:tav>
                                        <p:tav tm="100000">
                                          <p:val>
                                            <p:strVal val="#ppt_y"/>
                                          </p:val>
                                        </p:tav>
                                      </p:tavLst>
                                    </p:anim>
                                    <p:anim calcmode="lin" valueType="num">
                                      <p:cBhvr additive="base">
                                        <p:cTn id="8" dur="500" fill="hold"/>
                                        <p:tgtEl>
                                          <p:spTgt spid="2"/>
                                        </p:tgtEl>
                                        <p:attrNameLst>
                                          <p:attrName>ppt_w</p:attrName>
                                        </p:attrNameLst>
                                      </p:cBhvr>
                                      <p:tavLst>
                                        <p:tav tm="0">
                                          <p:val>
                                            <p:strVal val="#ppt_w"/>
                                          </p:val>
                                        </p:tav>
                                        <p:tav tm="100000">
                                          <p:val>
                                            <p:strVal val="#ppt_w"/>
                                          </p:val>
                                        </p:tav>
                                      </p:tavLst>
                                    </p:anim>
                                    <p:anim calcmode="lin" valueType="num">
                                      <p:cBhvr additive="base">
                                        <p:cTn id="9" dur="500" fill="hold"/>
                                        <p:tgtEl>
                                          <p:spTgt spid="2"/>
                                        </p:tgtEl>
                                        <p:attrNameLst>
                                          <p:attrName>ppt_h</p:attrName>
                                        </p:attrNameLst>
                                      </p:cBhvr>
                                      <p:tavLst>
                                        <p:tav tm="0">
                                          <p:val>
                                            <p:fltVal val="0"/>
                                          </p:val>
                                        </p:tav>
                                        <p:tav tm="100000">
                                          <p:val>
                                            <p:strVal val="#ppt_h"/>
                                          </p:val>
                                        </p:tav>
                                      </p:tavLst>
                                    </p:anim>
                                    <p:set>
                                      <p:cBhvr additive="base">
                                        <p:cTn id="10" dur="500" fill="hold">
                                          <p:stCondLst>
                                            <p:cond delay="0"/>
                                          </p:stCondLst>
                                        </p:cTn>
                                        <p:tgtEl>
                                          <p:spTgt spid="2"/>
                                        </p:tgtEl>
                                        <p:attrNameLst>
                                          <p:attrName>style.visibility</p:attrName>
                                        </p:attrNameLst>
                                      </p:cBhvr>
                                      <p:to>
                                        <p:strVal val="visible"/>
                                      </p:to>
                                    </p:set>
                                  </p:childTnLst>
                                </p:cTn>
                              </p:par>
                            </p:childTnLst>
                          </p:cTn>
                        </p:par>
                        <p:par>
                          <p:cTn id="11" fill="hold">
                            <p:stCondLst>
                              <p:cond delay="0"/>
                            </p:stCondLst>
                            <p:childTnLst>
                              <p:par>
                                <p:cTn id="12" presetID="41" presetClass="entr" presetSubtype="0" fill="hold" grpId="0" nodeType="afterEffect">
                                  <p:stCondLst>
                                    <p:cond delay="0"/>
                                  </p:stCondLst>
                                  <p:iterate type="lt">
                                    <p:tmPct val="10000"/>
                                  </p:iterate>
                                  <p:childTnLst>
                                    <p:anim calcmode="lin" valueType="num">
                                      <p:cBhvr>
                                        <p:cTn id="13" dur="10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14" dur="1000" fill="hold"/>
                                        <p:tgtEl>
                                          <p:spTgt spid="12"/>
                                        </p:tgtEl>
                                        <p:attrNameLst>
                                          <p:attrName>ppt_y</p:attrName>
                                        </p:attrNameLst>
                                      </p:cBhvr>
                                      <p:tavLst>
                                        <p:tav tm="0">
                                          <p:val>
                                            <p:strVal val="#ppt_y"/>
                                          </p:val>
                                        </p:tav>
                                        <p:tav tm="100000">
                                          <p:val>
                                            <p:strVal val="#ppt_y"/>
                                          </p:val>
                                        </p:tav>
                                      </p:tavLst>
                                    </p:anim>
                                    <p:anim calcmode="lin" valueType="num">
                                      <p:cBhvr>
                                        <p:cTn id="15" dur="10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16" dur="10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17" dur="1000" tmFilter="0,0; .5, 1; 1, 1"/>
                                        <p:tgtEl>
                                          <p:spTgt spid="12"/>
                                        </p:tgtEl>
                                      </p:cBhvr>
                                    </p:animEffect>
                                    <p:set>
                                      <p:cBhvr>
                                        <p:cTn id="18" dur="1000" fill="hold">
                                          <p:stCondLst>
                                            <p:cond delay="0"/>
                                          </p:stCondLst>
                                        </p:cTn>
                                        <p:tgtEl>
                                          <p:spTgt spid="12"/>
                                        </p:tgtEl>
                                        <p:attrNameLst>
                                          <p:attrName>style.visibility</p:attrName>
                                        </p:attrNameLst>
                                      </p:cBhvr>
                                      <p:to>
                                        <p:strVal val="visible"/>
                                      </p:to>
                                    </p:set>
                                  </p:childTnLst>
                                </p:cTn>
                              </p:par>
                            </p:childTnLst>
                          </p:cTn>
                        </p:par>
                        <p:par>
                          <p:cTn id="19" fill="hold">
                            <p:stCondLst>
                              <p:cond delay="0"/>
                            </p:stCondLst>
                            <p:childTnLst>
                              <p:par>
                                <p:cTn id="20" presetID="41" presetClass="entr" presetSubtype="0" fill="hold" grpId="0" nodeType="afterEffect">
                                  <p:stCondLst>
                                    <p:cond delay="0"/>
                                  </p:stCondLst>
                                  <p:iterate type="lt">
                                    <p:tmPct val="10000"/>
                                  </p:iterate>
                                  <p:childTnLst>
                                    <p:anim calcmode="lin" valueType="num">
                                      <p:cBhvr>
                                        <p:cTn id="21" dur="10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22" dur="1000" fill="hold"/>
                                        <p:tgtEl>
                                          <p:spTgt spid="5"/>
                                        </p:tgtEl>
                                        <p:attrNameLst>
                                          <p:attrName>ppt_y</p:attrName>
                                        </p:attrNameLst>
                                      </p:cBhvr>
                                      <p:tavLst>
                                        <p:tav tm="0">
                                          <p:val>
                                            <p:strVal val="#ppt_y"/>
                                          </p:val>
                                        </p:tav>
                                        <p:tav tm="100000">
                                          <p:val>
                                            <p:strVal val="#ppt_y"/>
                                          </p:val>
                                        </p:tav>
                                      </p:tavLst>
                                    </p:anim>
                                    <p:anim calcmode="lin" valueType="num">
                                      <p:cBhvr>
                                        <p:cTn id="23" dur="10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24" dur="10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25" dur="1000" tmFilter="0,0; .5, 1; 1, 1"/>
                                        <p:tgtEl>
                                          <p:spTgt spid="5"/>
                                        </p:tgtEl>
                                      </p:cBhvr>
                                    </p:animEffect>
                                    <p:set>
                                      <p:cBhvr>
                                        <p:cTn id="26" dur="1000" fill="hold">
                                          <p:stCondLst>
                                            <p:cond delay="0"/>
                                          </p:stCondLst>
                                        </p:cTn>
                                        <p:tgtEl>
                                          <p:spTgt spid="5"/>
                                        </p:tgtEl>
                                        <p:attrNameLst>
                                          <p:attrName>style.visibility</p:attrName>
                                        </p:attrNameLst>
                                      </p:cBhvr>
                                      <p:to>
                                        <p:strVal val="visible"/>
                                      </p:to>
                                    </p:set>
                                  </p:childTnLst>
                                </p:cTn>
                              </p:par>
                            </p:childTnLst>
                          </p:cTn>
                        </p:par>
                        <p:par>
                          <p:cTn id="27" fill="hold">
                            <p:stCondLst>
                              <p:cond delay="0"/>
                            </p:stCondLst>
                            <p:childTnLst>
                              <p:par>
                                <p:cTn id="28" presetID="29" presetClass="entr" presetSubtype="0" fill="hold" nodeType="afterEffect">
                                  <p:stCondLst>
                                    <p:cond delay="0"/>
                                  </p:stCondLst>
                                  <p:childTnLst>
                                    <p:anim calcmode="lin" valueType="num">
                                      <p:cBhvr>
                                        <p:cTn id="29" dur="1000" fill="hold"/>
                                        <p:tgtEl>
                                          <p:spTgt spid="13"/>
                                        </p:tgtEl>
                                        <p:attrNameLst>
                                          <p:attrName>ppt_x</p:attrName>
                                        </p:attrNameLst>
                                      </p:cBhvr>
                                      <p:tavLst>
                                        <p:tav tm="0">
                                          <p:val>
                                            <p:strVal val="#ppt_x-.2"/>
                                          </p:val>
                                        </p:tav>
                                        <p:tav tm="100000">
                                          <p:val>
                                            <p:strVal val="#ppt_x"/>
                                          </p:val>
                                        </p:tav>
                                      </p:tavLst>
                                    </p:anim>
                                    <p:anim calcmode="lin" valueType="num">
                                      <p:cBhvr>
                                        <p:cTn id="30" dur="10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31" dur="1000"/>
                                        <p:tgtEl>
                                          <p:spTgt spid="13"/>
                                        </p:tgtEl>
                                      </p:cBhvr>
                                    </p:animEffect>
                                    <p:set>
                                      <p:cBhvr>
                                        <p:cTn id="32" dur="1" fill="hold">
                                          <p:stCondLst>
                                            <p:cond delay="0"/>
                                          </p:stCondLst>
                                        </p:cTn>
                                        <p:tgtEl>
                                          <p:spTgt spid="13"/>
                                        </p:tgtEl>
                                        <p:attrNameLst>
                                          <p:attrName>style.visibility</p:attrName>
                                        </p:attrNameLst>
                                      </p:cBhvr>
                                      <p:to>
                                        <p:strVal val="visible"/>
                                      </p:to>
                                    </p:set>
                                  </p:childTnLst>
                                </p:cTn>
                              </p:par>
                            </p:childTnLst>
                          </p:cTn>
                        </p:par>
                        <p:par>
                          <p:cTn id="33" fill="hold">
                            <p:stCondLst>
                              <p:cond delay="0"/>
                            </p:stCondLst>
                            <p:childTnLst>
                              <p:par>
                                <p:cTn id="34" presetID="21" presetClass="entr" presetSubtype="2" fill="hold" nodeType="afterEffect">
                                  <p:stCondLst>
                                    <p:cond delay="0"/>
                                  </p:stCondLst>
                                  <p:childTnLst>
                                    <p:animEffect transition="in" filter="wheel(2)">
                                      <p:cBhvr>
                                        <p:cTn id="35" dur="1000"/>
                                        <p:tgtEl>
                                          <p:spTgt spid="8"/>
                                        </p:tgtEl>
                                      </p:cBhvr>
                                    </p:animEffect>
                                    <p:set>
                                      <p:cBhvr>
                                        <p:cTn id="36" dur="1000" fill="hold">
                                          <p:stCondLst>
                                            <p:cond delay="0"/>
                                          </p:stCondLst>
                                        </p:cTn>
                                        <p:tgtEl>
                                          <p:spTgt spid="8"/>
                                        </p:tgtEl>
                                        <p:attrNameLst>
                                          <p:attrName>style.visibility</p:attrName>
                                        </p:attrNameLst>
                                      </p:cBhvr>
                                      <p:to>
                                        <p:strVal val="visible"/>
                                      </p:to>
                                    </p:set>
                                  </p:childTnLst>
                                </p:cTn>
                              </p:par>
                            </p:childTnLst>
                          </p:cTn>
                        </p:par>
                        <p:par>
                          <p:cTn id="37" fill="hold">
                            <p:stCondLst>
                              <p:cond delay="0"/>
                            </p:stCondLst>
                            <p:childTnLst>
                              <p:par>
                                <p:cTn id="38" presetID="18" presetClass="entr" presetSubtype="6" fill="hold" nodeType="afterEffect">
                                  <p:stCondLst>
                                    <p:cond delay="0"/>
                                  </p:stCondLst>
                                  <p:childTnLst>
                                    <p:animEffect transition="in" filter="strips(downRight)">
                                      <p:cBhvr>
                                        <p:cTn id="39" dur="500"/>
                                        <p:tgtEl>
                                          <p:spTgt spid="14"/>
                                        </p:tgtEl>
                                      </p:cBhvr>
                                    </p:animEffect>
                                    <p:set>
                                      <p:cBhvr>
                                        <p:cTn id="40" dur="500" fill="hold">
                                          <p:stCondLst>
                                            <p:cond delay="0"/>
                                          </p:stCondLst>
                                        </p:cTn>
                                        <p:tgtEl>
                                          <p:spTgt spid="14"/>
                                        </p:tgtEl>
                                        <p:attrNameLst>
                                          <p:attrName>style.visibility</p:attrName>
                                        </p:attrNameLst>
                                      </p:cBhvr>
                                      <p:to>
                                        <p:strVal val="visible"/>
                                      </p:to>
                                    </p:set>
                                  </p:childTnLst>
                                </p:cTn>
                              </p:par>
                            </p:childTnLst>
                          </p:cTn>
                        </p:par>
                        <p:par>
                          <p:cTn id="41" fill="hold">
                            <p:stCondLst>
                              <p:cond delay="0"/>
                            </p:stCondLst>
                            <p:childTnLst>
                              <p:par>
                                <p:cTn id="42" presetID="39" presetClass="entr" presetSubtype="0" fill="hold" nodeType="afterEffect">
                                  <p:stCondLst>
                                    <p:cond delay="0"/>
                                  </p:stCondLst>
                                  <p:childTnLst>
                                    <p:anim calcmode="lin" valueType="num">
                                      <p:cBhvr>
                                        <p:cTn id="43" dur="1000" fill="hold"/>
                                        <p:tgtEl>
                                          <p:spTgt spid="11"/>
                                        </p:tgtEl>
                                        <p:attrNameLst>
                                          <p:attrName>ppt_h</p:attrName>
                                        </p:attrNameLst>
                                      </p:cBhvr>
                                      <p:tavLst>
                                        <p:tav tm="0">
                                          <p:val>
                                            <p:strVal val="#ppt_h/20"/>
                                          </p:val>
                                        </p:tav>
                                        <p:tav tm="50000">
                                          <p:val>
                                            <p:strVal val="#ppt_h/20"/>
                                          </p:val>
                                        </p:tav>
                                        <p:tav tm="100000">
                                          <p:val>
                                            <p:strVal val="#ppt_h"/>
                                          </p:val>
                                        </p:tav>
                                      </p:tavLst>
                                    </p:anim>
                                    <p:anim calcmode="lin" valueType="num">
                                      <p:cBhvr>
                                        <p:cTn id="44" dur="1000" fill="hold"/>
                                        <p:tgtEl>
                                          <p:spTgt spid="11"/>
                                        </p:tgtEl>
                                        <p:attrNameLst>
                                          <p:attrName>ppt_w</p:attrName>
                                        </p:attrNameLst>
                                      </p:cBhvr>
                                      <p:tavLst>
                                        <p:tav tm="0">
                                          <p:val>
                                            <p:strVal val="#ppt_w+.3"/>
                                          </p:val>
                                        </p:tav>
                                        <p:tav tm="50000">
                                          <p:val>
                                            <p:strVal val="#ppt_w+.3"/>
                                          </p:val>
                                        </p:tav>
                                        <p:tav tm="100000">
                                          <p:val>
                                            <p:strVal val="#ppt_w"/>
                                          </p:val>
                                        </p:tav>
                                      </p:tavLst>
                                    </p:anim>
                                    <p:anim calcmode="lin" valueType="num">
                                      <p:cBhvr>
                                        <p:cTn id="45" dur="1000" fill="hold"/>
                                        <p:tgtEl>
                                          <p:spTgt spid="11"/>
                                        </p:tgtEl>
                                        <p:attrNameLst>
                                          <p:attrName>ppt_x</p:attrName>
                                        </p:attrNameLst>
                                      </p:cBhvr>
                                      <p:tavLst>
                                        <p:tav tm="0">
                                          <p:val>
                                            <p:strVal val="#ppt_x-.3"/>
                                          </p:val>
                                        </p:tav>
                                        <p:tav tm="50000">
                                          <p:val>
                                            <p:strVal val="#ppt_x"/>
                                          </p:val>
                                        </p:tav>
                                        <p:tav tm="100000">
                                          <p:val>
                                            <p:strVal val="#ppt_x"/>
                                          </p:val>
                                        </p:tav>
                                      </p:tavLst>
                                    </p:anim>
                                    <p:anim calcmode="lin" valueType="num">
                                      <p:cBhvr>
                                        <p:cTn id="46" dur="1000" fill="hold"/>
                                        <p:tgtEl>
                                          <p:spTgt spid="11"/>
                                        </p:tgtEl>
                                        <p:attrNameLst>
                                          <p:attrName>ppt_y</p:attrName>
                                        </p:attrNameLst>
                                      </p:cBhvr>
                                      <p:tavLst>
                                        <p:tav tm="0">
                                          <p:val>
                                            <p:strVal val="#ppt_y"/>
                                          </p:val>
                                        </p:tav>
                                        <p:tav tm="100000">
                                          <p:val>
                                            <p:strVal val="#ppt_y"/>
                                          </p:val>
                                        </p:tav>
                                      </p:tavLst>
                                    </p:anim>
                                    <p:set>
                                      <p:cBhvr>
                                        <p:cTn id="47" dur="1000"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p:txBody>
          <a:bodyPr spcFirstLastPara="1" vert="horz" wrap="square" lIns="68580" tIns="34290" rIns="68580" bIns="34290" anchor="b" anchorCtr="0">
            <a:normAutofit/>
          </a:bodyPr>
          <a:lstStyle/>
          <a:p>
            <a:pPr algn="ctr">
              <a:lnSpc>
                <a:spcPct val="90000"/>
              </a:lnSpc>
              <a:spcBef>
                <a:spcPct val="0"/>
              </a:spcBef>
            </a:pPr>
            <a:r>
              <a:rPr lang="zh-CN" altLang="en-US" sz="2100" b="1" dirty="0">
                <a:solidFill>
                  <a:srgbClr val="2F2F2F"/>
                </a:solidFill>
                <a:latin typeface="微软雅黑"/>
                <a:ea typeface="微软雅黑"/>
              </a:rPr>
              <a:t>Interfaces and Protocols</a:t>
            </a:r>
          </a:p>
        </p:txBody>
      </p:sp>
      <p:sp>
        <p:nvSpPr>
          <p:cNvPr id="3" name="AutoShape 3"/>
          <p:cNvSpPr/>
          <p:nvPr/>
        </p:nvSpPr>
        <p:spPr>
          <a:xfrm>
            <a:off x="495300" y="1578411"/>
            <a:ext cx="5355581" cy="1307000"/>
          </a:xfrm>
          <a:prstGeom prst="roundRect">
            <a:avLst>
              <a:gd name="adj" fmla="val 8000"/>
            </a:avLst>
          </a:prstGeom>
          <a:solidFill>
            <a:srgbClr val="778495">
              <a:alpha val="15000"/>
            </a:srgbClr>
          </a:solidFill>
          <a:ln cap="flat">
            <a:noFill/>
            <a:prstDash val="solid"/>
            <a:miter lim="800000"/>
          </a:ln>
        </p:spPr>
        <p:txBody>
          <a:bodyPr vert="horz" lIns="68580" tIns="34290" rIns="68580" bIns="34290" anchor="ctr">
            <a:noAutofit/>
          </a:bodyPr>
          <a:lstStyle/>
          <a:p>
            <a:pPr>
              <a:lnSpc>
                <a:spcPct val="130000"/>
              </a:lnSpc>
            </a:pPr>
            <a:r>
              <a:rPr lang="en-US" sz="1050">
                <a:solidFill>
                  <a:srgbClr val="2F2F2F"/>
                </a:solidFill>
                <a:latin typeface="+mn-ea"/>
                <a:ea typeface="+mn-ea"/>
              </a:rPr>
              <a:t>E2 protocols define the communication between the Near-RT RIC and the network elements. They serve as a set of standards for data exchange, ensuring interoperability and efficient delivery of control messages, thus facilitating enhanced RAN operations.</a:t>
            </a:r>
          </a:p>
        </p:txBody>
      </p:sp>
      <p:sp>
        <p:nvSpPr>
          <p:cNvPr id="4" name="AutoShape 4"/>
          <p:cNvSpPr/>
          <p:nvPr/>
        </p:nvSpPr>
        <p:spPr>
          <a:xfrm>
            <a:off x="701225" y="1404917"/>
            <a:ext cx="3028176" cy="458173"/>
          </a:xfrm>
          <a:prstGeom prst="roundRect">
            <a:avLst/>
          </a:prstGeom>
          <a:solidFill>
            <a:schemeClr val="accent1"/>
          </a:solidFill>
          <a:ln>
            <a:noFill/>
          </a:ln>
        </p:spPr>
        <p:txBody>
          <a:bodyPr vert="horz" wrap="square" lIns="68580" tIns="34290" rIns="68580" bIns="34290" anchor="ctr">
            <a:noAutofit/>
          </a:bodyPr>
          <a:lstStyle/>
          <a:p>
            <a:pPr algn="ctr"/>
            <a:r>
              <a:rPr lang="en-US" sz="1200" b="1" dirty="0">
                <a:solidFill>
                  <a:schemeClr val="lt1"/>
                </a:solidFill>
                <a:latin typeface="+mn-ea"/>
                <a:ea typeface="+mn-ea"/>
              </a:rPr>
              <a:t>E2 Protocols</a:t>
            </a:r>
          </a:p>
        </p:txBody>
      </p:sp>
      <p:sp>
        <p:nvSpPr>
          <p:cNvPr id="5" name="AutoShape 5"/>
          <p:cNvSpPr/>
          <p:nvPr/>
        </p:nvSpPr>
        <p:spPr>
          <a:xfrm>
            <a:off x="495301" y="3293575"/>
            <a:ext cx="5355581" cy="1307000"/>
          </a:xfrm>
          <a:prstGeom prst="roundRect">
            <a:avLst>
              <a:gd name="adj" fmla="val 8000"/>
            </a:avLst>
          </a:prstGeom>
          <a:solidFill>
            <a:srgbClr val="778495">
              <a:alpha val="15000"/>
            </a:srgbClr>
          </a:solidFill>
          <a:ln cap="flat">
            <a:noFill/>
            <a:prstDash val="solid"/>
            <a:miter lim="800000"/>
          </a:ln>
        </p:spPr>
        <p:txBody>
          <a:bodyPr vert="horz" lIns="68580" tIns="34290" rIns="68580" bIns="34290" anchor="ctr">
            <a:noAutofit/>
          </a:bodyPr>
          <a:lstStyle/>
          <a:p>
            <a:pPr>
              <a:lnSpc>
                <a:spcPct val="130000"/>
              </a:lnSpc>
            </a:pPr>
            <a:r>
              <a:rPr lang="en-US" sz="1050">
                <a:solidFill>
                  <a:srgbClr val="2F2F2F"/>
                </a:solidFill>
                <a:latin typeface="+mn-ea"/>
                <a:ea typeface="+mn-ea"/>
              </a:rPr>
              <a:t>The architecture includes well-defined interfaces allowing seamless interaction among its components (e.g., RIC, xApps, and data repositories). These interfaces standardize communication, allowing for easier integration and deployment of diverse solutions within O-RAN.</a:t>
            </a:r>
          </a:p>
        </p:txBody>
      </p:sp>
      <p:sp>
        <p:nvSpPr>
          <p:cNvPr id="6" name="AutoShape 6"/>
          <p:cNvSpPr/>
          <p:nvPr/>
        </p:nvSpPr>
        <p:spPr>
          <a:xfrm>
            <a:off x="701225" y="3114622"/>
            <a:ext cx="3028176" cy="458171"/>
          </a:xfrm>
          <a:prstGeom prst="roundRect">
            <a:avLst/>
          </a:prstGeom>
          <a:solidFill>
            <a:schemeClr val="accent1"/>
          </a:solidFill>
          <a:ln>
            <a:noFill/>
          </a:ln>
        </p:spPr>
        <p:txBody>
          <a:bodyPr vert="horz" wrap="square" lIns="68580" tIns="34290" rIns="68580" bIns="34290" anchor="ctr">
            <a:noAutofit/>
          </a:bodyPr>
          <a:lstStyle/>
          <a:p>
            <a:pPr algn="ctr"/>
            <a:r>
              <a:rPr lang="en-US" sz="1200" b="1">
                <a:solidFill>
                  <a:schemeClr val="lt1"/>
                </a:solidFill>
                <a:latin typeface="+mn-ea"/>
                <a:ea typeface="+mn-ea"/>
              </a:rPr>
              <a:t>Interfaces Between Components</a:t>
            </a:r>
          </a:p>
        </p:txBody>
      </p:sp>
    </p:spTree>
  </p:cSld>
  <p:clrMapOvr>
    <a:masterClrMapping/>
  </p:clrMapOvr>
  <p:transition spd="slow">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animEffect transition="in" filter="circle(in)">
                                      <p:cBhvr>
                                        <p:cTn id="6" dur="1000"/>
                                        <p:tgtEl>
                                          <p:spTgt spid="2"/>
                                        </p:tgtEl>
                                      </p:cBhvr>
                                    </p:animEffect>
                                    <p:set>
                                      <p:cBhvr>
                                        <p:cTn id="7" dur="1000" fill="hold">
                                          <p:stCondLst>
                                            <p:cond delay="0"/>
                                          </p:stCondLst>
                                        </p:cTn>
                                        <p:tgtEl>
                                          <p:spTgt spid="2"/>
                                        </p:tgtEl>
                                        <p:attrNameLst>
                                          <p:attrName>style.visibility</p:attrName>
                                        </p:attrNameLst>
                                      </p:cBhvr>
                                      <p:to>
                                        <p:strVal val="visible"/>
                                      </p:to>
                                    </p:set>
                                  </p:childTnLst>
                                </p:cTn>
                              </p:par>
                            </p:childTnLst>
                          </p:cTn>
                        </p:par>
                        <p:par>
                          <p:cTn id="8" fill="hold">
                            <p:stCondLst>
                              <p:cond delay="0"/>
                            </p:stCondLst>
                            <p:childTnLst>
                              <p:par>
                                <p:cTn id="9" presetID="9" presetClass="entr" presetSubtype="0" fill="hold" nodeType="afterEffect">
                                  <p:stCondLst>
                                    <p:cond delay="0"/>
                                  </p:stCondLst>
                                  <p:childTnLst>
                                    <p:animEffect transition="in" filter="dissolve">
                                      <p:cBhvr>
                                        <p:cTn id="10" dur="1000"/>
                                        <p:tgtEl>
                                          <p:spTgt spid="4"/>
                                        </p:tgtEl>
                                      </p:cBhvr>
                                    </p:animEffect>
                                    <p:set>
                                      <p:cBhvr>
                                        <p:cTn id="11" dur="1000" fill="hold">
                                          <p:stCondLst>
                                            <p:cond delay="0"/>
                                          </p:stCondLst>
                                        </p:cTn>
                                        <p:tgtEl>
                                          <p:spTgt spid="4"/>
                                        </p:tgtEl>
                                        <p:attrNameLst>
                                          <p:attrName>style.visibility</p:attrName>
                                        </p:attrNameLst>
                                      </p:cBhvr>
                                      <p:to>
                                        <p:strVal val="visible"/>
                                      </p:to>
                                    </p:set>
                                  </p:childTnLst>
                                </p:cTn>
                              </p:par>
                            </p:childTnLst>
                          </p:cTn>
                        </p:par>
                        <p:par>
                          <p:cTn id="12" fill="hold">
                            <p:stCondLst>
                              <p:cond delay="0"/>
                            </p:stCondLst>
                            <p:childTnLst>
                              <p:par>
                                <p:cTn id="13" presetID="12" presetClass="entr" presetSubtype="8" fill="hold" nodeType="afterEffect">
                                  <p:stCondLst>
                                    <p:cond delay="0"/>
                                  </p:stCondLst>
                                  <p:childTnLst>
                                    <p:anim calcmode="lin" valueType="num">
                                      <p:cBhvr additive="base">
                                        <p:cTn id="14" dur="500"/>
                                        <p:tgtEl>
                                          <p:spTgt spid="3"/>
                                        </p:tgtEl>
                                        <p:attrNameLst>
                                          <p:attrName>ppt_x</p:attrName>
                                        </p:attrNameLst>
                                      </p:cBhvr>
                                      <p:tavLst>
                                        <p:tav tm="0">
                                          <p:val>
                                            <p:strVal val="#ppt_x-#ppt_w*1.125000"/>
                                          </p:val>
                                        </p:tav>
                                        <p:tav tm="100000">
                                          <p:val>
                                            <p:strVal val="#ppt_x"/>
                                          </p:val>
                                        </p:tav>
                                      </p:tavLst>
                                    </p:anim>
                                    <p:animEffect transition="in" filter="wipe(right)">
                                      <p:cBhvr>
                                        <p:cTn id="15" dur="500"/>
                                        <p:tgtEl>
                                          <p:spTgt spid="3"/>
                                        </p:tgtEl>
                                      </p:cBhvr>
                                    </p:animEffect>
                                    <p:set>
                                      <p:cBhvr>
                                        <p:cTn id="16" dur="500" fill="hold">
                                          <p:stCondLst>
                                            <p:cond delay="0"/>
                                          </p:stCondLst>
                                        </p:cTn>
                                        <p:tgtEl>
                                          <p:spTgt spid="3"/>
                                        </p:tgtEl>
                                        <p:attrNameLst>
                                          <p:attrName>style.visibility</p:attrName>
                                        </p:attrNameLst>
                                      </p:cBhvr>
                                      <p:to>
                                        <p:strVal val="visible"/>
                                      </p:to>
                                    </p:set>
                                  </p:childTnLst>
                                </p:cTn>
                              </p:par>
                            </p:childTnLst>
                          </p:cTn>
                        </p:par>
                        <p:par>
                          <p:cTn id="17" fill="hold">
                            <p:stCondLst>
                              <p:cond delay="0"/>
                            </p:stCondLst>
                            <p:childTnLst>
                              <p:par>
                                <p:cTn id="18" presetID="7" presetClass="entr" presetSubtype="2" fill="hold" nodeType="afterEffect">
                                  <p:stCondLst>
                                    <p:cond delay="0"/>
                                  </p:stCondLst>
                                  <p:childTnLst>
                                    <p:anim calcmode="lin" valueType="num">
                                      <p:cBhvr additive="base">
                                        <p:cTn id="19" dur="2000" fill="hold"/>
                                        <p:tgtEl>
                                          <p:spTgt spid="6"/>
                                        </p:tgtEl>
                                        <p:attrNameLst>
                                          <p:attrName>ppt_x</p:attrName>
                                        </p:attrNameLst>
                                      </p:cBhvr>
                                      <p:tavLst>
                                        <p:tav tm="0">
                                          <p:val>
                                            <p:strVal val="1+#ppt_w/2"/>
                                          </p:val>
                                        </p:tav>
                                        <p:tav tm="100000">
                                          <p:val>
                                            <p:strVal val="#ppt_x"/>
                                          </p:val>
                                        </p:tav>
                                      </p:tavLst>
                                    </p:anim>
                                    <p:anim calcmode="lin" valueType="num">
                                      <p:cBhvr additive="base">
                                        <p:cTn id="20" dur="2000" fill="hold"/>
                                        <p:tgtEl>
                                          <p:spTgt spid="6"/>
                                        </p:tgtEl>
                                        <p:attrNameLst>
                                          <p:attrName>ppt_y</p:attrName>
                                        </p:attrNameLst>
                                      </p:cBhvr>
                                      <p:tavLst>
                                        <p:tav tm="0">
                                          <p:val>
                                            <p:strVal val="#ppt_y"/>
                                          </p:val>
                                        </p:tav>
                                        <p:tav tm="100000">
                                          <p:val>
                                            <p:strVal val="#ppt_y"/>
                                          </p:val>
                                        </p:tav>
                                      </p:tavLst>
                                    </p:anim>
                                    <p:set>
                                      <p:cBhvr>
                                        <p:cTn id="21" dur="2000" fill="hold">
                                          <p:stCondLst>
                                            <p:cond delay="0"/>
                                          </p:stCondLst>
                                        </p:cTn>
                                        <p:tgtEl>
                                          <p:spTgt spid="6"/>
                                        </p:tgtEl>
                                        <p:attrNameLst>
                                          <p:attrName>style.visibility</p:attrName>
                                        </p:attrNameLst>
                                      </p:cBhvr>
                                      <p:to>
                                        <p:strVal val="visible"/>
                                      </p:to>
                                    </p:set>
                                  </p:childTnLst>
                                </p:cTn>
                              </p:par>
                            </p:childTnLst>
                          </p:cTn>
                        </p:par>
                        <p:par>
                          <p:cTn id="22" fill="hold">
                            <p:stCondLst>
                              <p:cond delay="0"/>
                            </p:stCondLst>
                            <p:childTnLst>
                              <p:par>
                                <p:cTn id="23" presetID="18" presetClass="entr" presetSubtype="9" fill="hold" nodeType="afterEffect">
                                  <p:stCondLst>
                                    <p:cond delay="0"/>
                                  </p:stCondLst>
                                  <p:childTnLst>
                                    <p:animEffect transition="in" filter="strips(upLeft)">
                                      <p:cBhvr>
                                        <p:cTn id="24" dur="500"/>
                                        <p:tgtEl>
                                          <p:spTgt spid="5"/>
                                        </p:tgtEl>
                                      </p:cBhvr>
                                    </p:animEffect>
                                    <p:set>
                                      <p:cBhvr>
                                        <p:cTn id="25" dur="500"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a:xfrm>
            <a:off x="687133" y="2611177"/>
            <a:ext cx="4775288" cy="360098"/>
          </a:xfrm>
        </p:spPr>
        <p:txBody>
          <a:bodyPr spcFirstLastPara="1" vert="horz" wrap="square" lIns="68580" tIns="34290" rIns="68580" bIns="34290" anchor="t" anchorCtr="0">
            <a:normAutofit fontScale="90000"/>
          </a:bodyPr>
          <a:lstStyle/>
          <a:p>
            <a:pPr algn="l">
              <a:lnSpc>
                <a:spcPct val="90000"/>
              </a:lnSpc>
              <a:spcBef>
                <a:spcPct val="0"/>
              </a:spcBef>
            </a:pPr>
            <a:r>
              <a:rPr lang="zh-CN" altLang="en-US" sz="2807" b="1">
                <a:solidFill>
                  <a:srgbClr val="2F2F2F"/>
                </a:solidFill>
                <a:latin typeface="微软雅黑"/>
                <a:ea typeface="微软雅黑"/>
              </a:rPr>
              <a:t>Project Objectives</a:t>
            </a:r>
          </a:p>
        </p:txBody>
      </p:sp>
      <p:sp>
        <p:nvSpPr>
          <p:cNvPr id="3" name="TextBox 3"/>
          <p:cNvSpPr txBox="1"/>
          <p:nvPr/>
        </p:nvSpPr>
        <p:spPr>
          <a:xfrm>
            <a:off x="759513" y="1439471"/>
            <a:ext cx="160238" cy="925365"/>
          </a:xfrm>
          <a:prstGeom prst="rect">
            <a:avLst/>
          </a:prstGeom>
          <a:noFill/>
          <a:ln>
            <a:noFill/>
          </a:ln>
        </p:spPr>
        <p:txBody>
          <a:bodyPr vert="horz" wrap="none" lIns="68580" tIns="34290" rIns="68580" bIns="34290" numCol="1" rtlCol="0" anchor="t">
            <a:prstTxWarp prst="textPlain">
              <a:avLst/>
            </a:prstTxWarp>
            <a:spAutoFit/>
          </a:bodyPr>
          <a:lstStyle/>
          <a:p>
            <a:pPr>
              <a:defRPr/>
            </a:pPr>
            <a:r>
              <a:rPr lang="en-US" sz="1350" spc="75">
                <a:solidFill>
                  <a:schemeClr val="accent1"/>
                </a:solidFill>
                <a:latin typeface="Impact"/>
                <a:ea typeface="Impact"/>
              </a:rPr>
              <a:t>/</a:t>
            </a:r>
            <a:endParaRPr lang="en-US" sz="825"/>
          </a:p>
        </p:txBody>
      </p:sp>
      <p:sp>
        <p:nvSpPr>
          <p:cNvPr id="4" name="TextBox 4"/>
          <p:cNvSpPr txBox="1"/>
          <p:nvPr/>
        </p:nvSpPr>
        <p:spPr>
          <a:xfrm>
            <a:off x="930205" y="1313531"/>
            <a:ext cx="1248689" cy="1177245"/>
          </a:xfrm>
          <a:prstGeom prst="rect">
            <a:avLst/>
          </a:prstGeom>
          <a:noFill/>
        </p:spPr>
        <p:txBody>
          <a:bodyPr vert="horz" wrap="square" lIns="68580" tIns="34290" rIns="68580" bIns="34290" rtlCol="0" anchor="t">
            <a:spAutoFit/>
          </a:bodyPr>
          <a:lstStyle/>
          <a:p>
            <a:pPr>
              <a:defRPr/>
            </a:pPr>
            <a:r>
              <a:rPr lang="en-US" sz="7200" spc="75">
                <a:solidFill>
                  <a:schemeClr val="accent1"/>
                </a:solidFill>
                <a:latin typeface="Impact"/>
                <a:ea typeface="Impact"/>
              </a:rPr>
              <a:t>03</a:t>
            </a:r>
            <a:endParaRPr lang="en-US" sz="825"/>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4" fill="hold" nodeType="afterEffect">
                                  <p:stCondLst>
                                    <p:cond delay="0"/>
                                  </p:stCondLst>
                                  <p:childTnLst>
                                    <p:anim calcmode="lin" valueType="num">
                                      <p:cBhvr additive="base">
                                        <p:cTn id="6" dur="500" fill="hold"/>
                                        <p:tgtEl>
                                          <p:spTgt spid="4"/>
                                        </p:tgtEl>
                                        <p:attrNameLst>
                                          <p:attrName>ppt_x</p:attrName>
                                        </p:attrNameLst>
                                      </p:cBhvr>
                                      <p:tavLst>
                                        <p:tav tm="0">
                                          <p:val>
                                            <p:strVal val="#ppt_x"/>
                                          </p:val>
                                        </p:tav>
                                        <p:tav tm="100000">
                                          <p:val>
                                            <p:strVal val="#ppt_x"/>
                                          </p:val>
                                        </p:tav>
                                      </p:tavLst>
                                    </p:anim>
                                    <p:anim calcmode="lin" valueType="num">
                                      <p:cBhvr additive="base">
                                        <p:cTn id="7" dur="500" fill="hold"/>
                                        <p:tgtEl>
                                          <p:spTgt spid="4"/>
                                        </p:tgtEl>
                                        <p:attrNameLst>
                                          <p:attrName>ppt_y</p:attrName>
                                        </p:attrNameLst>
                                      </p:cBhvr>
                                      <p:tavLst>
                                        <p:tav tm="0">
                                          <p:val>
                                            <p:strVal val="#ppt_y+#ppt_h/2"/>
                                          </p:val>
                                        </p:tav>
                                        <p:tav tm="100000">
                                          <p:val>
                                            <p:strVal val="#ppt_y"/>
                                          </p:val>
                                        </p:tav>
                                      </p:tavLst>
                                    </p:anim>
                                    <p:anim calcmode="lin" valueType="num">
                                      <p:cBhvr additive="base">
                                        <p:cTn id="8" dur="500" fill="hold"/>
                                        <p:tgtEl>
                                          <p:spTgt spid="4"/>
                                        </p:tgtEl>
                                        <p:attrNameLst>
                                          <p:attrName>ppt_w</p:attrName>
                                        </p:attrNameLst>
                                      </p:cBhvr>
                                      <p:tavLst>
                                        <p:tav tm="0">
                                          <p:val>
                                            <p:strVal val="#ppt_w"/>
                                          </p:val>
                                        </p:tav>
                                        <p:tav tm="100000">
                                          <p:val>
                                            <p:strVal val="#ppt_w"/>
                                          </p:val>
                                        </p:tav>
                                      </p:tavLst>
                                    </p:anim>
                                    <p:anim calcmode="lin" valueType="num">
                                      <p:cBhvr additive="base">
                                        <p:cTn id="9" dur="500" fill="hold"/>
                                        <p:tgtEl>
                                          <p:spTgt spid="4"/>
                                        </p:tgtEl>
                                        <p:attrNameLst>
                                          <p:attrName>ppt_h</p:attrName>
                                        </p:attrNameLst>
                                      </p:cBhvr>
                                      <p:tavLst>
                                        <p:tav tm="0">
                                          <p:val>
                                            <p:fltVal val="0"/>
                                          </p:val>
                                        </p:tav>
                                        <p:tav tm="100000">
                                          <p:val>
                                            <p:strVal val="#ppt_h"/>
                                          </p:val>
                                        </p:tav>
                                      </p:tavLst>
                                    </p:anim>
                                    <p:set>
                                      <p:cBhvr additive="base">
                                        <p:cTn id="10" dur="500" fill="hold">
                                          <p:stCondLst>
                                            <p:cond delay="0"/>
                                          </p:stCondLst>
                                        </p:cTn>
                                        <p:tgtEl>
                                          <p:spTgt spid="4"/>
                                        </p:tgtEl>
                                        <p:attrNameLst>
                                          <p:attrName>style.visibility</p:attrName>
                                        </p:attrNameLst>
                                      </p:cBhvr>
                                      <p:to>
                                        <p:strVal val="visible"/>
                                      </p:to>
                                    </p:set>
                                  </p:childTnLst>
                                </p:cTn>
                              </p:par>
                            </p:childTnLst>
                          </p:cTn>
                        </p:par>
                        <p:par>
                          <p:cTn id="11" fill="hold">
                            <p:stCondLst>
                              <p:cond delay="0"/>
                            </p:stCondLst>
                            <p:childTnLst>
                              <p:par>
                                <p:cTn id="12" presetID="15" presetClass="entr" presetSubtype="0" fill="hold" nodeType="afterEffect">
                                  <p:stCondLst>
                                    <p:cond delay="0"/>
                                  </p:stCondLst>
                                  <p:childTnLst>
                                    <p:anim calcmode="lin" valueType="num">
                                      <p:cBhvr>
                                        <p:cTn id="13" dur="1000" fill="hold"/>
                                        <p:tgtEl>
                                          <p:spTgt spid="2"/>
                                        </p:tgtEl>
                                        <p:attrNameLst>
                                          <p:attrName>ppt_w</p:attrName>
                                        </p:attrNameLst>
                                      </p:cBhvr>
                                      <p:tavLst>
                                        <p:tav tm="0">
                                          <p:val>
                                            <p:fltVal val="0"/>
                                          </p:val>
                                        </p:tav>
                                        <p:tav tm="100000">
                                          <p:val>
                                            <p:strVal val="#ppt_w"/>
                                          </p:val>
                                        </p:tav>
                                      </p:tavLst>
                                    </p:anim>
                                    <p:anim calcmode="lin" valueType="num">
                                      <p:cBhvr>
                                        <p:cTn id="14" dur="1000" fill="hold"/>
                                        <p:tgtEl>
                                          <p:spTgt spid="2"/>
                                        </p:tgtEl>
                                        <p:attrNameLst>
                                          <p:attrName>ppt_h</p:attrName>
                                        </p:attrNameLst>
                                      </p:cBhvr>
                                      <p:tavLst>
                                        <p:tav tm="0">
                                          <p:val>
                                            <p:fltVal val="0"/>
                                          </p:val>
                                        </p:tav>
                                        <p:tav tm="100000">
                                          <p:val>
                                            <p:strVal val="#ppt_h"/>
                                          </p:val>
                                        </p:tav>
                                      </p:tavLst>
                                    </p:anim>
                                    <p:anim calcmode="lin" valueType="num">
                                      <p:cBhvr>
                                        <p:cTn id="15"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2"/>
                                        </p:tgtEl>
                                        <p:attrNameLst>
                                          <p:attrName>ppt_y</p:attrName>
                                        </p:attrNameLst>
                                      </p:cBhvr>
                                      <p:tavLst>
                                        <p:tav tm="0" fmla="#ppt_y+(sin(-2*pi*(1-$))*-#ppt_x+cos(-2*pi*(1-$))*(1-#ppt_y))*(1-$)">
                                          <p:val>
                                            <p:fltVal val="0"/>
                                          </p:val>
                                        </p:tav>
                                        <p:tav tm="100000">
                                          <p:val>
                                            <p:fltVal val="1"/>
                                          </p:val>
                                        </p:tav>
                                      </p:tavLst>
                                    </p:anim>
                                    <p:set>
                                      <p:cBhvr>
                                        <p:cTn id="1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a:xfrm>
            <a:off x="0" y="166228"/>
            <a:ext cx="8520600" cy="572700"/>
          </a:xfrm>
        </p:spPr>
        <p:txBody>
          <a:bodyPr spcFirstLastPara="1" vert="horz" wrap="square" lIns="68580" tIns="34290" rIns="68580" bIns="34290" anchor="b" anchorCtr="0">
            <a:normAutofit/>
          </a:bodyPr>
          <a:lstStyle/>
          <a:p>
            <a:pPr algn="ctr">
              <a:lnSpc>
                <a:spcPct val="90000"/>
              </a:lnSpc>
              <a:spcBef>
                <a:spcPct val="0"/>
              </a:spcBef>
            </a:pPr>
            <a:r>
              <a:rPr lang="zh-CN" altLang="en-US" sz="2100" b="1">
                <a:solidFill>
                  <a:srgbClr val="2F2F2F"/>
                </a:solidFill>
                <a:latin typeface="微软雅黑"/>
                <a:ea typeface="微软雅黑"/>
              </a:rPr>
              <a:t>Modeling O-RAN in ns-3</a:t>
            </a:r>
          </a:p>
        </p:txBody>
      </p:sp>
      <p:sp>
        <p:nvSpPr>
          <p:cNvPr id="3" name="AutoShape 3"/>
          <p:cNvSpPr/>
          <p:nvPr/>
        </p:nvSpPr>
        <p:spPr>
          <a:xfrm>
            <a:off x="5769003" y="1812106"/>
            <a:ext cx="2870173" cy="2788469"/>
          </a:xfrm>
          <a:prstGeom prst="roundRect">
            <a:avLst>
              <a:gd name="adj" fmla="val 8927"/>
            </a:avLst>
          </a:prstGeom>
          <a:solidFill>
            <a:schemeClr val="accent1"/>
          </a:solidFill>
          <a:ln>
            <a:noFill/>
          </a:ln>
        </p:spPr>
        <p:txBody>
          <a:bodyPr vert="horz" lIns="68580" tIns="34290" rIns="68580" bIns="34290" anchor="ctr">
            <a:normAutofit/>
          </a:bodyPr>
          <a:lstStyle/>
          <a:p>
            <a:pPr algn="ctr"/>
            <a:endParaRPr sz="1050"/>
          </a:p>
        </p:txBody>
      </p:sp>
      <p:sp>
        <p:nvSpPr>
          <p:cNvPr id="4" name="AutoShape 4"/>
          <p:cNvSpPr/>
          <p:nvPr/>
        </p:nvSpPr>
        <p:spPr>
          <a:xfrm>
            <a:off x="5181492" y="1215361"/>
            <a:ext cx="3261702" cy="3125192"/>
          </a:xfrm>
          <a:prstGeom prst="roundRect">
            <a:avLst>
              <a:gd name="adj" fmla="val 8000"/>
            </a:avLst>
          </a:prstGeom>
          <a:blipFill>
            <a:blip r:embed="rId2"/>
            <a:srcRect/>
            <a:stretch>
              <a:fillRect l="-13967" r="-13885"/>
            </a:stretch>
          </a:blipFill>
          <a:ln cap="flat" cmpd="sng">
            <a:noFill/>
            <a:prstDash val="solid"/>
            <a:miter lim="800000"/>
          </a:ln>
          <a:effectLst/>
        </p:spPr>
        <p:txBody>
          <a:bodyPr rot="0" vert="horz" wrap="square" lIns="68580" tIns="34290" rIns="68580" bIns="34290" anchor="ctr">
            <a:prstTxWarp prst="textNoShape">
              <a:avLst/>
            </a:prstTxWarp>
            <a:noAutofit/>
          </a:bodyPr>
          <a:lstStyle/>
          <a:p>
            <a:pPr algn="ctr"/>
            <a:endParaRPr sz="1050"/>
          </a:p>
        </p:txBody>
      </p:sp>
      <p:sp>
        <p:nvSpPr>
          <p:cNvPr id="5" name="AutoShape 5"/>
          <p:cNvSpPr/>
          <p:nvPr/>
        </p:nvSpPr>
        <p:spPr>
          <a:xfrm>
            <a:off x="601979" y="3005639"/>
            <a:ext cx="4006333" cy="419279"/>
          </a:xfrm>
          <a:prstGeom prst="roundRect">
            <a:avLst>
              <a:gd name="adj" fmla="val 16000"/>
            </a:avLst>
          </a:prstGeom>
          <a:solidFill>
            <a:schemeClr val="accent1"/>
          </a:solidFill>
          <a:ln>
            <a:noFill/>
          </a:ln>
        </p:spPr>
        <p:txBody>
          <a:bodyPr vert="horz" wrap="square" lIns="68580" tIns="34290" rIns="68580" bIns="34290" anchor="ctr">
            <a:noAutofit/>
          </a:bodyPr>
          <a:lstStyle/>
          <a:p>
            <a:r>
              <a:rPr lang="en-US" sz="1200" b="1">
                <a:solidFill>
                  <a:schemeClr val="lt1"/>
                </a:solidFill>
                <a:latin typeface="+mn-ea"/>
                <a:ea typeface="+mn-ea"/>
              </a:rPr>
              <a:t>Focus on Near-RT RIC</a:t>
            </a:r>
          </a:p>
        </p:txBody>
      </p:sp>
      <p:sp>
        <p:nvSpPr>
          <p:cNvPr id="6" name="AutoShape 6"/>
          <p:cNvSpPr/>
          <p:nvPr/>
        </p:nvSpPr>
        <p:spPr>
          <a:xfrm>
            <a:off x="551037" y="3487156"/>
            <a:ext cx="4475890" cy="1441741"/>
          </a:xfrm>
          <a:prstGeom prst="rect">
            <a:avLst/>
          </a:prstGeom>
          <a:noFill/>
          <a:ln>
            <a:noFill/>
          </a:ln>
        </p:spPr>
        <p:txBody>
          <a:bodyPr vert="horz" wrap="square" lIns="68580" tIns="34290" rIns="68580" bIns="34290" anchor="t">
            <a:spAutoFit/>
          </a:bodyPr>
          <a:lstStyle/>
          <a:p>
            <a:pPr algn="just">
              <a:lnSpc>
                <a:spcPct val="130000"/>
              </a:lnSpc>
            </a:pPr>
            <a:r>
              <a:rPr lang="en-US">
                <a:solidFill>
                  <a:srgbClr val="2F2F2F"/>
                </a:solidFill>
                <a:latin typeface="Times New Roman" panose="02020603050405020304" pitchFamily="18" charset="0"/>
                <a:ea typeface="+mn-ea"/>
                <a:cs typeface="Times New Roman" panose="02020603050405020304" pitchFamily="18" charset="0"/>
              </a:rPr>
              <a:t>Special emphasis is placed on the Near-RT RIC to evaluate its operational effectiveness in managing RAN resources. This includes investigating dynamic decision-making capabilities that can respond to real-time traffic conditions and user demands.</a:t>
            </a:r>
          </a:p>
        </p:txBody>
      </p:sp>
      <p:cxnSp>
        <p:nvCxnSpPr>
          <p:cNvPr id="7" name="Connector 7"/>
          <p:cNvCxnSpPr/>
          <p:nvPr/>
        </p:nvCxnSpPr>
        <p:spPr>
          <a:xfrm>
            <a:off x="560562" y="2864512"/>
            <a:ext cx="4006333" cy="0"/>
          </a:xfrm>
          <a:prstGeom prst="straightConnector1">
            <a:avLst/>
          </a:prstGeom>
          <a:ln w="15875">
            <a:solidFill>
              <a:schemeClr val="accent1">
                <a:alpha val="50000"/>
              </a:schemeClr>
            </a:solidFill>
            <a:tailEnd type="oval"/>
          </a:ln>
        </p:spPr>
      </p:cxnSp>
      <p:sp>
        <p:nvSpPr>
          <p:cNvPr id="8" name="AutoShape 8"/>
          <p:cNvSpPr/>
          <p:nvPr/>
        </p:nvSpPr>
        <p:spPr>
          <a:xfrm>
            <a:off x="560562" y="866641"/>
            <a:ext cx="4006333" cy="419279"/>
          </a:xfrm>
          <a:prstGeom prst="roundRect">
            <a:avLst>
              <a:gd name="adj" fmla="val 16000"/>
            </a:avLst>
          </a:prstGeom>
          <a:solidFill>
            <a:schemeClr val="accent1"/>
          </a:solidFill>
          <a:ln>
            <a:noFill/>
          </a:ln>
        </p:spPr>
        <p:txBody>
          <a:bodyPr vert="horz" wrap="square" lIns="68580" tIns="34290" rIns="68580" bIns="34290" anchor="ctr">
            <a:noAutofit/>
          </a:bodyPr>
          <a:lstStyle/>
          <a:p>
            <a:r>
              <a:rPr lang="en-US" sz="1200" b="1">
                <a:solidFill>
                  <a:schemeClr val="lt1"/>
                </a:solidFill>
                <a:latin typeface="+mn-ea"/>
                <a:ea typeface="+mn-ea"/>
              </a:rPr>
              <a:t>Representation of O-RAN Components</a:t>
            </a:r>
          </a:p>
        </p:txBody>
      </p:sp>
      <p:sp>
        <p:nvSpPr>
          <p:cNvPr id="9" name="AutoShape 9"/>
          <p:cNvSpPr/>
          <p:nvPr/>
        </p:nvSpPr>
        <p:spPr>
          <a:xfrm>
            <a:off x="509620" y="1348159"/>
            <a:ext cx="4475890" cy="1441741"/>
          </a:xfrm>
          <a:prstGeom prst="rect">
            <a:avLst/>
          </a:prstGeom>
          <a:noFill/>
          <a:ln>
            <a:noFill/>
          </a:ln>
        </p:spPr>
        <p:txBody>
          <a:bodyPr vert="horz" wrap="square" lIns="68580" tIns="34290" rIns="68580" bIns="34290" anchor="t">
            <a:spAutoFit/>
          </a:bodyPr>
          <a:lstStyle/>
          <a:p>
            <a:pPr algn="just">
              <a:lnSpc>
                <a:spcPct val="130000"/>
              </a:lnSpc>
            </a:pPr>
            <a:r>
              <a:rPr lang="en-US" dirty="0">
                <a:solidFill>
                  <a:srgbClr val="2F2F2F"/>
                </a:solidFill>
                <a:latin typeface="Times New Roman" panose="02020603050405020304" pitchFamily="18" charset="0"/>
                <a:ea typeface="+mn-ea"/>
                <a:cs typeface="Times New Roman" panose="02020603050405020304" pitchFamily="18" charset="0"/>
              </a:rPr>
              <a:t>The project aims to create detailed models of O-RAN components within ns-3, allowing for realistic scenarios that reflect actual operational dynamics. Each model will represent required functionality and simulate interactions among RICs, </a:t>
            </a:r>
            <a:r>
              <a:rPr lang="en-US" dirty="0" err="1">
                <a:solidFill>
                  <a:srgbClr val="2F2F2F"/>
                </a:solidFill>
                <a:latin typeface="Times New Roman" panose="02020603050405020304" pitchFamily="18" charset="0"/>
                <a:ea typeface="+mn-ea"/>
                <a:cs typeface="Times New Roman" panose="02020603050405020304" pitchFamily="18" charset="0"/>
              </a:rPr>
              <a:t>xApps</a:t>
            </a:r>
            <a:r>
              <a:rPr lang="en-US" dirty="0">
                <a:solidFill>
                  <a:srgbClr val="2F2F2F"/>
                </a:solidFill>
                <a:latin typeface="Times New Roman" panose="02020603050405020304" pitchFamily="18" charset="0"/>
                <a:ea typeface="+mn-ea"/>
                <a:cs typeface="Times New Roman" panose="02020603050405020304" pitchFamily="18" charset="0"/>
              </a:rPr>
              <a:t>, and the underlying network.</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afterEffect">
                                  <p:stCondLst>
                                    <p:cond delay="0"/>
                                  </p:stCondLst>
                                  <p:childTnLst>
                                    <p:anim calcmode="lin" valueType="num">
                                      <p:cBhvr>
                                        <p:cTn id="6" dur="800" decel="100000" fill="hold"/>
                                        <p:tgtEl>
                                          <p:spTgt spid="2"/>
                                        </p:tgtEl>
                                        <p:attrNameLst>
                                          <p:attrName>style.rotation</p:attrName>
                                        </p:attrNameLst>
                                      </p:cBhvr>
                                      <p:tavLst>
                                        <p:tav tm="0">
                                          <p:val>
                                            <p:fltVal val="-90"/>
                                          </p:val>
                                        </p:tav>
                                        <p:tav tm="100000">
                                          <p:val>
                                            <p:fltVal val="0"/>
                                          </p:val>
                                        </p:tav>
                                      </p:tavLst>
                                    </p:anim>
                                    <p:anim calcmode="lin" valueType="num">
                                      <p:cBhvr>
                                        <p:cTn id="7" dur="800" decel="100000" fill="hold"/>
                                        <p:tgtEl>
                                          <p:spTgt spid="2"/>
                                        </p:tgtEl>
                                        <p:attrNameLst>
                                          <p:attrName>ppt_x</p:attrName>
                                        </p:attrNameLst>
                                      </p:cBhvr>
                                      <p:tavLst>
                                        <p:tav tm="0">
                                          <p:val>
                                            <p:strVal val="#ppt_x+0.4"/>
                                          </p:val>
                                        </p:tav>
                                        <p:tav tm="100000">
                                          <p:val>
                                            <p:strVal val="#ppt_x-0.05"/>
                                          </p:val>
                                        </p:tav>
                                      </p:tavLst>
                                    </p:anim>
                                    <p:anim calcmode="lin" valueType="num">
                                      <p:cBhvr>
                                        <p:cTn id="8" dur="800" decel="100000" fill="hold"/>
                                        <p:tgtEl>
                                          <p:spTgt spid="2"/>
                                        </p:tgtEl>
                                        <p:attrNameLst>
                                          <p:attrName>ppt_y</p:attrName>
                                        </p:attrNameLst>
                                      </p:cBhvr>
                                      <p:tavLst>
                                        <p:tav tm="0">
                                          <p:val>
                                            <p:strVal val="#ppt_y-0.4"/>
                                          </p:val>
                                        </p:tav>
                                        <p:tav tm="100000">
                                          <p:val>
                                            <p:strVal val="#ppt_y+0.1"/>
                                          </p:val>
                                        </p:tav>
                                      </p:tavLst>
                                    </p:anim>
                                    <p:anim calcmode="lin" valueType="num">
                                      <p:cBhvr>
                                        <p:cTn id="9" dur="200" accel="100000" fill="hold">
                                          <p:stCondLst>
                                            <p:cond delay="800"/>
                                          </p:stCondLst>
                                        </p:cTn>
                                        <p:tgtEl>
                                          <p:spTgt spid="2"/>
                                        </p:tgtEl>
                                        <p:attrNameLst>
                                          <p:attrName>ppt_x</p:attrName>
                                        </p:attrNameLst>
                                      </p:cBhvr>
                                      <p:tavLst>
                                        <p:tav tm="0">
                                          <p:val>
                                            <p:strVal val="#ppt_x-0.05"/>
                                          </p:val>
                                        </p:tav>
                                        <p:tav tm="100000">
                                          <p:val>
                                            <p:strVal val="#ppt_x"/>
                                          </p:val>
                                        </p:tav>
                                      </p:tavLst>
                                    </p:anim>
                                    <p:anim calcmode="lin" valueType="num">
                                      <p:cBhvr>
                                        <p:cTn id="10" dur="200" accel="100000" fill="hold">
                                          <p:stCondLst>
                                            <p:cond delay="800"/>
                                          </p:stCondLst>
                                        </p:cTn>
                                        <p:tgtEl>
                                          <p:spTgt spid="2"/>
                                        </p:tgtEl>
                                        <p:attrNameLst>
                                          <p:attrName>ppt_y</p:attrName>
                                        </p:attrNameLst>
                                      </p:cBhvr>
                                      <p:tavLst>
                                        <p:tav tm="0">
                                          <p:val>
                                            <p:strVal val="#ppt_y+0.1"/>
                                          </p:val>
                                        </p:tav>
                                        <p:tav tm="100000">
                                          <p:val>
                                            <p:strVal val="#ppt_y"/>
                                          </p:val>
                                        </p:tav>
                                      </p:tavLst>
                                    </p:anim>
                                    <p:animEffect transition="in" filter="fade">
                                      <p:cBhvr>
                                        <p:cTn id="11" dur="800" decel="100000"/>
                                        <p:tgtEl>
                                          <p:spTgt spid="2"/>
                                        </p:tgtEl>
                                      </p:cBhvr>
                                    </p:animEffect>
                                    <p:set>
                                      <p:cBhvr>
                                        <p:cTn id="12" dur="1" fill="hold">
                                          <p:stCondLst>
                                            <p:cond delay="0"/>
                                          </p:stCondLst>
                                        </p:cTn>
                                        <p:tgtEl>
                                          <p:spTgt spid="2"/>
                                        </p:tgtEl>
                                        <p:attrNameLst>
                                          <p:attrName>style.visibility</p:attrName>
                                        </p:attrNameLst>
                                      </p:cBhvr>
                                      <p:to>
                                        <p:strVal val="visible"/>
                                      </p:to>
                                    </p:set>
                                  </p:childTnLst>
                                </p:cTn>
                              </p:par>
                            </p:childTnLst>
                          </p:cTn>
                        </p:par>
                        <p:par>
                          <p:cTn id="13" fill="hold">
                            <p:stCondLst>
                              <p:cond delay="0"/>
                            </p:stCondLst>
                            <p:childTnLst>
                              <p:par>
                                <p:cTn id="14" presetID="19" presetClass="entr" presetSubtype="10" fill="hold" nodeType="afterEffect">
                                  <p:stCondLst>
                                    <p:cond delay="0"/>
                                  </p:stCondLst>
                                  <p:childTnLst>
                                    <p:anim calcmode="lin" valueType="num">
                                      <p:cBhvr>
                                        <p:cTn id="15" dur="2000" fill="hold"/>
                                        <p:tgtEl>
                                          <p:spTgt spid="8"/>
                                        </p:tgtEl>
                                        <p:attrNameLst>
                                          <p:attrName>ppt_w</p:attrName>
                                        </p:attrNameLst>
                                      </p:cBhvr>
                                      <p:tavLst>
                                        <p:tav tm="0" fmla="#ppt_w*sin(2.5*pi*$)">
                                          <p:val>
                                            <p:fltVal val="0"/>
                                          </p:val>
                                        </p:tav>
                                        <p:tav tm="100000">
                                          <p:val>
                                            <p:fltVal val="1"/>
                                          </p:val>
                                        </p:tav>
                                      </p:tavLst>
                                    </p:anim>
                                    <p:anim calcmode="lin" valueType="num">
                                      <p:cBhvr>
                                        <p:cTn id="16" dur="2000" fill="hold"/>
                                        <p:tgtEl>
                                          <p:spTgt spid="8"/>
                                        </p:tgtEl>
                                        <p:attrNameLst>
                                          <p:attrName>ppt_h</p:attrName>
                                        </p:attrNameLst>
                                      </p:cBhvr>
                                      <p:tavLst>
                                        <p:tav tm="0">
                                          <p:val>
                                            <p:strVal val="#ppt_h"/>
                                          </p:val>
                                        </p:tav>
                                        <p:tav tm="100000">
                                          <p:val>
                                            <p:strVal val="#ppt_h"/>
                                          </p:val>
                                        </p:tav>
                                      </p:tavLst>
                                    </p:anim>
                                    <p:set>
                                      <p:cBhvr>
                                        <p:cTn id="17" dur="2000" fill="hold">
                                          <p:stCondLst>
                                            <p:cond delay="0"/>
                                          </p:stCondLst>
                                        </p:cTn>
                                        <p:tgtEl>
                                          <p:spTgt spid="8"/>
                                        </p:tgtEl>
                                        <p:attrNameLst>
                                          <p:attrName>style.visibility</p:attrName>
                                        </p:attrNameLst>
                                      </p:cBhvr>
                                      <p:to>
                                        <p:strVal val="visible"/>
                                      </p:to>
                                    </p:set>
                                  </p:childTnLst>
                                </p:cTn>
                              </p:par>
                            </p:childTnLst>
                          </p:cTn>
                        </p:par>
                        <p:par>
                          <p:cTn id="18" fill="hold">
                            <p:stCondLst>
                              <p:cond delay="0"/>
                            </p:stCondLst>
                            <p:childTnLst>
                              <p:par>
                                <p:cTn id="19" presetID="55" presetClass="entr" presetSubtype="0" fill="hold" nodeType="afterEffect">
                                  <p:stCondLst>
                                    <p:cond delay="0"/>
                                  </p:stCondLst>
                                  <p:childTnLst>
                                    <p:anim calcmode="lin" valueType="num">
                                      <p:cBhvr>
                                        <p:cTn id="20" dur="1000" fill="hold"/>
                                        <p:tgtEl>
                                          <p:spTgt spid="9"/>
                                        </p:tgtEl>
                                        <p:attrNameLst>
                                          <p:attrName>ppt_w</p:attrName>
                                        </p:attrNameLst>
                                      </p:cBhvr>
                                      <p:tavLst>
                                        <p:tav tm="0">
                                          <p:val>
                                            <p:strVal val="#ppt_w*0.70"/>
                                          </p:val>
                                        </p:tav>
                                        <p:tav tm="100000">
                                          <p:val>
                                            <p:strVal val="#ppt_w"/>
                                          </p:val>
                                        </p:tav>
                                      </p:tavLst>
                                    </p:anim>
                                    <p:anim calcmode="lin" valueType="num">
                                      <p:cBhvr>
                                        <p:cTn id="21" dur="1000" fill="hold"/>
                                        <p:tgtEl>
                                          <p:spTgt spid="9"/>
                                        </p:tgtEl>
                                        <p:attrNameLst>
                                          <p:attrName>ppt_h</p:attrName>
                                        </p:attrNameLst>
                                      </p:cBhvr>
                                      <p:tavLst>
                                        <p:tav tm="0">
                                          <p:val>
                                            <p:strVal val="#ppt_h"/>
                                          </p:val>
                                        </p:tav>
                                        <p:tav tm="100000">
                                          <p:val>
                                            <p:strVal val="#ppt_h"/>
                                          </p:val>
                                        </p:tav>
                                      </p:tavLst>
                                    </p:anim>
                                    <p:animEffect transition="in" filter="fade">
                                      <p:cBhvr>
                                        <p:cTn id="22" dur="1000"/>
                                        <p:tgtEl>
                                          <p:spTgt spid="9"/>
                                        </p:tgtEl>
                                      </p:cBhvr>
                                    </p:animEffect>
                                    <p:set>
                                      <p:cBhvr>
                                        <p:cTn id="23" dur="1" fill="hold">
                                          <p:stCondLst>
                                            <p:cond delay="0"/>
                                          </p:stCondLst>
                                        </p:cTn>
                                        <p:tgtEl>
                                          <p:spTgt spid="9"/>
                                        </p:tgtEl>
                                        <p:attrNameLst>
                                          <p:attrName>style.visibility</p:attrName>
                                        </p:attrNameLst>
                                      </p:cBhvr>
                                      <p:to>
                                        <p:strVal val="visible"/>
                                      </p:to>
                                    </p:set>
                                  </p:childTnLst>
                                </p:cTn>
                              </p:par>
                            </p:childTnLst>
                          </p:cTn>
                        </p:par>
                        <p:par>
                          <p:cTn id="24" fill="hold">
                            <p:stCondLst>
                              <p:cond delay="0"/>
                            </p:stCondLst>
                            <p:childTnLst>
                              <p:par>
                                <p:cTn id="25" presetID="18" presetClass="entr" presetSubtype="12" fill="hold" nodeType="afterEffect">
                                  <p:stCondLst>
                                    <p:cond delay="0"/>
                                  </p:stCondLst>
                                  <p:childTnLst>
                                    <p:animEffect transition="in" filter="strips(downLeft)">
                                      <p:cBhvr>
                                        <p:cTn id="26" dur="500"/>
                                        <p:tgtEl>
                                          <p:spTgt spid="5"/>
                                        </p:tgtEl>
                                      </p:cBhvr>
                                    </p:animEffect>
                                    <p:set>
                                      <p:cBhvr>
                                        <p:cTn id="27" dur="500" fill="hold">
                                          <p:stCondLst>
                                            <p:cond delay="0"/>
                                          </p:stCondLst>
                                        </p:cTn>
                                        <p:tgtEl>
                                          <p:spTgt spid="5"/>
                                        </p:tgtEl>
                                        <p:attrNameLst>
                                          <p:attrName>style.visibility</p:attrName>
                                        </p:attrNameLst>
                                      </p:cBhvr>
                                      <p:to>
                                        <p:strVal val="visible"/>
                                      </p:to>
                                    </p:set>
                                  </p:childTnLst>
                                </p:cTn>
                              </p:par>
                            </p:childTnLst>
                          </p:cTn>
                        </p:par>
                        <p:par>
                          <p:cTn id="28" fill="hold">
                            <p:stCondLst>
                              <p:cond delay="0"/>
                            </p:stCondLst>
                            <p:childTnLst>
                              <p:par>
                                <p:cTn id="29" presetID="5" presetClass="entr" presetSubtype="10" fill="hold" nodeType="afterEffect">
                                  <p:stCondLst>
                                    <p:cond delay="0"/>
                                  </p:stCondLst>
                                  <p:childTnLst>
                                    <p:animEffect transition="in" filter="checkerboard(across)">
                                      <p:cBhvr>
                                        <p:cTn id="30" dur="1000"/>
                                        <p:tgtEl>
                                          <p:spTgt spid="6"/>
                                        </p:tgtEl>
                                      </p:cBhvr>
                                    </p:animEffect>
                                    <p:set>
                                      <p:cBhvr>
                                        <p:cTn id="31" dur="1000" fill="hold">
                                          <p:stCondLst>
                                            <p:cond delay="0"/>
                                          </p:stCondLst>
                                        </p:cTn>
                                        <p:tgtEl>
                                          <p:spTgt spid="6"/>
                                        </p:tgtEl>
                                        <p:attrNameLst>
                                          <p:attrName>style.visibility</p:attrName>
                                        </p:attrNameLst>
                                      </p:cBhvr>
                                      <p:to>
                                        <p:strVal val="visible"/>
                                      </p:to>
                                    </p:set>
                                  </p:childTnLst>
                                </p:cTn>
                              </p:par>
                            </p:childTnLst>
                          </p:cTn>
                        </p:par>
                        <p:par>
                          <p:cTn id="32" fill="hold">
                            <p:stCondLst>
                              <p:cond delay="0"/>
                            </p:stCondLst>
                            <p:childTnLst>
                              <p:par>
                                <p:cTn id="33" presetID="45" presetClass="entr" presetSubtype="0" fill="hold" nodeType="afterEffect">
                                  <p:stCondLst>
                                    <p:cond delay="0"/>
                                  </p:stCondLst>
                                  <p:childTnLst>
                                    <p:anim calcmode="lin" valueType="num">
                                      <p:cBhvr>
                                        <p:cTn id="34" dur="1000" fill="hold"/>
                                        <p:tgtEl>
                                          <p:spTgt spid="4"/>
                                        </p:tgtEl>
                                        <p:attrNameLst>
                                          <p:attrName>ppt_w</p:attrName>
                                        </p:attrNameLst>
                                      </p:cBhvr>
                                      <p:tavLst>
                                        <p:tav tm="0" fmla="#ppt_w*sin(2.5*pi*$)">
                                          <p:val>
                                            <p:fltVal val="0"/>
                                          </p:val>
                                        </p:tav>
                                        <p:tav tm="100000">
                                          <p:val>
                                            <p:fltVal val="1"/>
                                          </p:val>
                                        </p:tav>
                                      </p:tavLst>
                                    </p:anim>
                                    <p:anim calcmode="lin" valueType="num">
                                      <p:cBhvr>
                                        <p:cTn id="35" dur="1000" fill="hold"/>
                                        <p:tgtEl>
                                          <p:spTgt spid="4"/>
                                        </p:tgtEl>
                                        <p:attrNameLst>
                                          <p:attrName>ppt_h</p:attrName>
                                        </p:attrNameLst>
                                      </p:cBhvr>
                                      <p:tavLst>
                                        <p:tav tm="0">
                                          <p:val>
                                            <p:strVal val="#ppt_h"/>
                                          </p:val>
                                        </p:tav>
                                        <p:tav tm="100000">
                                          <p:val>
                                            <p:strVal val="#ppt_h"/>
                                          </p:val>
                                        </p:tav>
                                      </p:tavLst>
                                    </p:anim>
                                    <p:animEffect transition="in" filter="fade">
                                      <p:cBhvr>
                                        <p:cTn id="36" dur="1000"/>
                                        <p:tgtEl>
                                          <p:spTgt spid="4"/>
                                        </p:tgtEl>
                                      </p:cBhvr>
                                    </p:animEffect>
                                    <p:set>
                                      <p:cBhvr>
                                        <p:cTn id="37" dur="1000"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p:txBody>
          <a:bodyPr spcFirstLastPara="1" vert="horz" wrap="square" lIns="68580" tIns="34290" rIns="68580" bIns="34290" anchor="b" anchorCtr="0">
            <a:normAutofit/>
          </a:bodyPr>
          <a:lstStyle/>
          <a:p>
            <a:pPr algn="l">
              <a:lnSpc>
                <a:spcPct val="90000"/>
              </a:lnSpc>
              <a:spcBef>
                <a:spcPct val="0"/>
              </a:spcBef>
            </a:pPr>
            <a:r>
              <a:rPr lang="zh-CN" altLang="en-US" sz="2100" b="1">
                <a:solidFill>
                  <a:srgbClr val="2F2F2F"/>
                </a:solidFill>
                <a:latin typeface="微软雅黑"/>
                <a:ea typeface="微软雅黑"/>
              </a:rPr>
              <a:t>Machine Learning Integration</a:t>
            </a:r>
          </a:p>
        </p:txBody>
      </p:sp>
      <p:grpSp>
        <p:nvGrpSpPr>
          <p:cNvPr id="3" name="Group 3"/>
          <p:cNvGrpSpPr/>
          <p:nvPr/>
        </p:nvGrpSpPr>
        <p:grpSpPr>
          <a:xfrm>
            <a:off x="1731014" y="1409564"/>
            <a:ext cx="1271166" cy="1271166"/>
            <a:chOff x="0" y="0"/>
            <a:chExt cx="3843866" cy="3843866"/>
          </a:xfrm>
        </p:grpSpPr>
        <p:sp>
          <p:nvSpPr>
            <p:cNvPr id="4" name="AutoShape 4"/>
            <p:cNvSpPr/>
            <p:nvPr/>
          </p:nvSpPr>
          <p:spPr>
            <a:xfrm>
              <a:off x="0" y="0"/>
              <a:ext cx="3843866" cy="3843866"/>
            </a:xfrm>
            <a:prstGeom prst="ellipse">
              <a:avLst/>
            </a:prstGeom>
            <a:solidFill>
              <a:srgbClr val="FFFFFF"/>
            </a:solidFill>
            <a:ln w="12700" cap="flat">
              <a:solidFill>
                <a:srgbClr val="DCDEE0"/>
              </a:solidFill>
              <a:prstDash val="solid"/>
            </a:ln>
            <a:effectLst/>
          </p:spPr>
          <p:txBody>
            <a:bodyPr vert="horz" wrap="square" lIns="68580" tIns="34290" rIns="68580" bIns="34290" anchor="ctr">
              <a:normAutofit/>
            </a:bodyPr>
            <a:lstStyle/>
            <a:p>
              <a:pPr algn="ctr"/>
              <a:endParaRPr sz="1050"/>
            </a:p>
          </p:txBody>
        </p:sp>
        <p:sp>
          <p:nvSpPr>
            <p:cNvPr id="5" name="AutoShape 5"/>
            <p:cNvSpPr/>
            <p:nvPr/>
          </p:nvSpPr>
          <p:spPr>
            <a:xfrm>
              <a:off x="228243" y="217139"/>
              <a:ext cx="3398481" cy="3398483"/>
            </a:xfrm>
            <a:prstGeom prst="ellipse">
              <a:avLst/>
            </a:prstGeom>
            <a:blipFill>
              <a:blip r:embed="rId2"/>
              <a:stretch>
                <a:fillRect l="-39219" r="-38559"/>
              </a:stretch>
            </a:blipFill>
            <a:ln cap="flat" cmpd="sng">
              <a:noFill/>
              <a:prstDash val="solid"/>
              <a:miter lim="800000"/>
            </a:ln>
            <a:effectLst/>
          </p:spPr>
          <p:txBody>
            <a:bodyPr vert="horz" lIns="68580" tIns="34290" rIns="68580" bIns="34290" anchor="ctr">
              <a:normAutofit/>
            </a:bodyPr>
            <a:lstStyle/>
            <a:p>
              <a:pPr algn="ctr"/>
              <a:endParaRPr sz="1050"/>
            </a:p>
          </p:txBody>
        </p:sp>
      </p:grpSp>
      <p:grpSp>
        <p:nvGrpSpPr>
          <p:cNvPr id="6" name="Group 6"/>
          <p:cNvGrpSpPr/>
          <p:nvPr/>
        </p:nvGrpSpPr>
        <p:grpSpPr>
          <a:xfrm>
            <a:off x="2112812" y="1791363"/>
            <a:ext cx="507569" cy="507569"/>
            <a:chOff x="1025999" y="1411000"/>
            <a:chExt cx="767418" cy="767418"/>
          </a:xfrm>
        </p:grpSpPr>
        <p:sp>
          <p:nvSpPr>
            <p:cNvPr id="7" name="AutoShape 7"/>
            <p:cNvSpPr/>
            <p:nvPr/>
          </p:nvSpPr>
          <p:spPr>
            <a:xfrm>
              <a:off x="1025999" y="1411000"/>
              <a:ext cx="767418" cy="767418"/>
            </a:xfrm>
            <a:prstGeom prst="ellipse">
              <a:avLst/>
            </a:prstGeom>
            <a:solidFill>
              <a:srgbClr val="2F2F2F">
                <a:alpha val="70000"/>
              </a:srgbClr>
            </a:solidFill>
            <a:ln w="38100">
              <a:solidFill>
                <a:srgbClr val="FFFFFF"/>
              </a:solidFill>
            </a:ln>
          </p:spPr>
          <p:txBody>
            <a:bodyPr vert="horz" wrap="square" lIns="68580" tIns="34290" rIns="68580" bIns="34290" anchor="ctr">
              <a:normAutofit/>
            </a:bodyPr>
            <a:lstStyle/>
            <a:p>
              <a:pPr algn="ctr"/>
              <a:endParaRPr sz="1050"/>
            </a:p>
          </p:txBody>
        </p:sp>
        <p:sp>
          <p:nvSpPr>
            <p:cNvPr id="8" name="Freeform 8"/>
            <p:cNvSpPr/>
            <p:nvPr/>
          </p:nvSpPr>
          <p:spPr>
            <a:xfrm>
              <a:off x="1203096" y="1592753"/>
              <a:ext cx="413225" cy="403914"/>
            </a:xfrm>
            <a:custGeom>
              <a:avLst/>
              <a:gdLst/>
              <a:ahLst/>
              <a:cxnLst/>
              <a:rect l="l" t="t" r="r" b="b"/>
              <a:pathLst>
                <a:path w="607933" h="594235">
                  <a:moveTo>
                    <a:pt x="163904" y="368072"/>
                  </a:moveTo>
                  <a:cubicBezTo>
                    <a:pt x="173837" y="383943"/>
                    <a:pt x="183771" y="399814"/>
                    <a:pt x="194698" y="416677"/>
                  </a:cubicBezTo>
                  <a:cubicBezTo>
                    <a:pt x="100329" y="430564"/>
                    <a:pt x="52648" y="460323"/>
                    <a:pt x="52648" y="475202"/>
                  </a:cubicBezTo>
                  <a:cubicBezTo>
                    <a:pt x="52648" y="495041"/>
                    <a:pt x="138076" y="542654"/>
                    <a:pt x="303966" y="542654"/>
                  </a:cubicBezTo>
                  <a:cubicBezTo>
                    <a:pt x="469857" y="542654"/>
                    <a:pt x="555285" y="495041"/>
                    <a:pt x="555285" y="475202"/>
                  </a:cubicBezTo>
                  <a:cubicBezTo>
                    <a:pt x="555285" y="460323"/>
                    <a:pt x="506611" y="430564"/>
                    <a:pt x="412242" y="416677"/>
                  </a:cubicBezTo>
                  <a:cubicBezTo>
                    <a:pt x="424162" y="399814"/>
                    <a:pt x="434096" y="383943"/>
                    <a:pt x="444030" y="368072"/>
                  </a:cubicBezTo>
                  <a:cubicBezTo>
                    <a:pt x="536412" y="385927"/>
                    <a:pt x="607933" y="421637"/>
                    <a:pt x="607933" y="475202"/>
                  </a:cubicBezTo>
                  <a:cubicBezTo>
                    <a:pt x="607933" y="553565"/>
                    <a:pt x="454956" y="594235"/>
                    <a:pt x="303966" y="594235"/>
                  </a:cubicBezTo>
                  <a:cubicBezTo>
                    <a:pt x="152977" y="594235"/>
                    <a:pt x="0" y="553565"/>
                    <a:pt x="0" y="475202"/>
                  </a:cubicBezTo>
                  <a:cubicBezTo>
                    <a:pt x="0" y="421637"/>
                    <a:pt x="70528" y="385927"/>
                    <a:pt x="163904" y="368072"/>
                  </a:cubicBezTo>
                  <a:close/>
                  <a:moveTo>
                    <a:pt x="304444" y="119134"/>
                  </a:moveTo>
                  <a:cubicBezTo>
                    <a:pt x="339849" y="119134"/>
                    <a:pt x="368550" y="147978"/>
                    <a:pt x="368550" y="183559"/>
                  </a:cubicBezTo>
                  <a:cubicBezTo>
                    <a:pt x="368550" y="219140"/>
                    <a:pt x="339849" y="247984"/>
                    <a:pt x="304444" y="247984"/>
                  </a:cubicBezTo>
                  <a:cubicBezTo>
                    <a:pt x="269039" y="247984"/>
                    <a:pt x="240338" y="219140"/>
                    <a:pt x="240338" y="183559"/>
                  </a:cubicBezTo>
                  <a:cubicBezTo>
                    <a:pt x="240338" y="147978"/>
                    <a:pt x="269039" y="119134"/>
                    <a:pt x="304444" y="119134"/>
                  </a:cubicBezTo>
                  <a:close/>
                  <a:moveTo>
                    <a:pt x="304941" y="78375"/>
                  </a:moveTo>
                  <a:cubicBezTo>
                    <a:pt x="246335" y="78375"/>
                    <a:pt x="198655" y="125003"/>
                    <a:pt x="198655" y="183536"/>
                  </a:cubicBezTo>
                  <a:cubicBezTo>
                    <a:pt x="198655" y="242070"/>
                    <a:pt x="246335" y="288698"/>
                    <a:pt x="304941" y="288698"/>
                  </a:cubicBezTo>
                  <a:cubicBezTo>
                    <a:pt x="362554" y="288698"/>
                    <a:pt x="410234" y="242070"/>
                    <a:pt x="410234" y="183536"/>
                  </a:cubicBezTo>
                  <a:cubicBezTo>
                    <a:pt x="410234" y="125003"/>
                    <a:pt x="362554" y="78375"/>
                    <a:pt x="304941" y="78375"/>
                  </a:cubicBezTo>
                  <a:close/>
                  <a:moveTo>
                    <a:pt x="304941" y="0"/>
                  </a:moveTo>
                  <a:cubicBezTo>
                    <a:pt x="403281" y="0"/>
                    <a:pt x="482747" y="80359"/>
                    <a:pt x="482747" y="178576"/>
                  </a:cubicBezTo>
                  <a:cubicBezTo>
                    <a:pt x="482747" y="249014"/>
                    <a:pt x="391361" y="383938"/>
                    <a:pt x="338714" y="454376"/>
                  </a:cubicBezTo>
                  <a:cubicBezTo>
                    <a:pt x="330768" y="465289"/>
                    <a:pt x="317854" y="472234"/>
                    <a:pt x="304941" y="472234"/>
                  </a:cubicBezTo>
                  <a:cubicBezTo>
                    <a:pt x="291035" y="472234"/>
                    <a:pt x="278121" y="465289"/>
                    <a:pt x="270175" y="454376"/>
                  </a:cubicBezTo>
                  <a:cubicBezTo>
                    <a:pt x="217528" y="383938"/>
                    <a:pt x="126142" y="249014"/>
                    <a:pt x="126142" y="178576"/>
                  </a:cubicBezTo>
                  <a:cubicBezTo>
                    <a:pt x="126142" y="80359"/>
                    <a:pt x="205608" y="0"/>
                    <a:pt x="304941" y="0"/>
                  </a:cubicBezTo>
                  <a:close/>
                </a:path>
              </a:pathLst>
            </a:custGeom>
            <a:solidFill>
              <a:srgbClr val="FFFFFF"/>
            </a:solidFill>
            <a:ln>
              <a:noFill/>
            </a:ln>
          </p:spPr>
          <p:txBody>
            <a:bodyPr vert="horz" wrap="square" lIns="68580" tIns="34290" rIns="68580" bIns="34290" anchor="ctr">
              <a:normAutofit/>
            </a:bodyPr>
            <a:lstStyle/>
            <a:p>
              <a:pPr algn="ctr"/>
              <a:endParaRPr sz="1050"/>
            </a:p>
          </p:txBody>
        </p:sp>
      </p:grpSp>
      <p:sp>
        <p:nvSpPr>
          <p:cNvPr id="9" name="AutoShape 9"/>
          <p:cNvSpPr/>
          <p:nvPr/>
        </p:nvSpPr>
        <p:spPr>
          <a:xfrm>
            <a:off x="4896580" y="3161894"/>
            <a:ext cx="3742595" cy="1011336"/>
          </a:xfrm>
          <a:prstGeom prst="rect">
            <a:avLst/>
          </a:prstGeom>
          <a:noFill/>
          <a:ln>
            <a:noFill/>
          </a:ln>
        </p:spPr>
        <p:txBody>
          <a:bodyPr vert="horz" wrap="square" lIns="67500" tIns="35100" rIns="67500" bIns="35100" anchor="t">
            <a:spAutoFit/>
          </a:bodyPr>
          <a:lstStyle/>
          <a:p>
            <a:pPr algn="ctr">
              <a:lnSpc>
                <a:spcPct val="150000"/>
              </a:lnSpc>
            </a:pPr>
            <a:r>
              <a:rPr lang="en-US" sz="1050">
                <a:solidFill>
                  <a:srgbClr val="2F2F2F"/>
                </a:solidFill>
                <a:latin typeface="Times New Roman" panose="02020603050405020304" pitchFamily="18" charset="0"/>
                <a:ea typeface="+mn-ea"/>
                <a:cs typeface="Times New Roman" panose="02020603050405020304" pitchFamily="18" charset="0"/>
              </a:rPr>
              <a:t>The project will assess key performance metrics post-simulation, including latency, successful handovers, and overall network throughput, providing robust data on the benefits offered by ML integration within the O-RAN framework.</a:t>
            </a:r>
          </a:p>
        </p:txBody>
      </p:sp>
      <p:sp>
        <p:nvSpPr>
          <p:cNvPr id="10" name="TextBox 10"/>
          <p:cNvSpPr txBox="1"/>
          <p:nvPr/>
        </p:nvSpPr>
        <p:spPr>
          <a:xfrm>
            <a:off x="4896580" y="2906342"/>
            <a:ext cx="3742595" cy="255551"/>
          </a:xfrm>
          <a:prstGeom prst="rect">
            <a:avLst/>
          </a:prstGeom>
          <a:noFill/>
          <a:ln>
            <a:noFill/>
          </a:ln>
        </p:spPr>
        <p:txBody>
          <a:bodyPr vert="horz" wrap="square" lIns="67500" tIns="35100" rIns="67500" bIns="35100" rtlCol="0" anchor="b">
            <a:spAutoFit/>
          </a:bodyPr>
          <a:lstStyle/>
          <a:p>
            <a:pPr algn="ctr">
              <a:spcBef>
                <a:spcPct val="0"/>
              </a:spcBef>
              <a:defRPr/>
            </a:pPr>
            <a:r>
              <a:rPr lang="en-US" sz="1200" b="1">
                <a:solidFill>
                  <a:srgbClr val="2F2F2F"/>
                </a:solidFill>
                <a:latin typeface="+mn-ea"/>
                <a:ea typeface="+mn-ea"/>
              </a:rPr>
              <a:t>Performance Evaluation Metrics</a:t>
            </a:r>
            <a:endParaRPr lang="en-US" sz="825"/>
          </a:p>
        </p:txBody>
      </p:sp>
      <p:sp>
        <p:nvSpPr>
          <p:cNvPr id="11" name="AutoShape 11"/>
          <p:cNvSpPr/>
          <p:nvPr/>
        </p:nvSpPr>
        <p:spPr>
          <a:xfrm>
            <a:off x="495299" y="3161894"/>
            <a:ext cx="3742595" cy="1252812"/>
          </a:xfrm>
          <a:prstGeom prst="rect">
            <a:avLst/>
          </a:prstGeom>
          <a:noFill/>
          <a:ln>
            <a:noFill/>
          </a:ln>
        </p:spPr>
        <p:txBody>
          <a:bodyPr vert="horz" wrap="square" lIns="67500" tIns="35100" rIns="67500" bIns="35100" anchor="t">
            <a:spAutoFit/>
          </a:bodyPr>
          <a:lstStyle/>
          <a:p>
            <a:pPr algn="ctr">
              <a:lnSpc>
                <a:spcPct val="150000"/>
              </a:lnSpc>
            </a:pPr>
            <a:r>
              <a:rPr lang="en-US" sz="1050" dirty="0">
                <a:solidFill>
                  <a:srgbClr val="2F2F2F"/>
                </a:solidFill>
                <a:latin typeface="Times New Roman" panose="02020603050405020304" pitchFamily="18" charset="0"/>
                <a:ea typeface="+mn-ea"/>
                <a:cs typeface="Times New Roman" panose="02020603050405020304" pitchFamily="18" charset="0"/>
              </a:rPr>
              <a:t>Integrating machine learning tools into the O-RAN architecture aims to optimize performance metrics, such as reducing packet loss and enhancing handover efficiency. This part of the project will evaluate how ML algorithms enhance traditional network management strategies.</a:t>
            </a:r>
          </a:p>
        </p:txBody>
      </p:sp>
      <p:sp>
        <p:nvSpPr>
          <p:cNvPr id="12" name="TextBox 12"/>
          <p:cNvSpPr txBox="1"/>
          <p:nvPr/>
        </p:nvSpPr>
        <p:spPr>
          <a:xfrm>
            <a:off x="495299" y="2906342"/>
            <a:ext cx="3742595" cy="255551"/>
          </a:xfrm>
          <a:prstGeom prst="rect">
            <a:avLst/>
          </a:prstGeom>
          <a:noFill/>
          <a:ln>
            <a:noFill/>
          </a:ln>
        </p:spPr>
        <p:txBody>
          <a:bodyPr vert="horz" wrap="square" lIns="67500" tIns="35100" rIns="67500" bIns="35100" rtlCol="0" anchor="b">
            <a:spAutoFit/>
          </a:bodyPr>
          <a:lstStyle/>
          <a:p>
            <a:pPr algn="ctr">
              <a:spcBef>
                <a:spcPct val="0"/>
              </a:spcBef>
              <a:defRPr/>
            </a:pPr>
            <a:r>
              <a:rPr lang="en-US" sz="1200" b="1">
                <a:solidFill>
                  <a:srgbClr val="2F2F2F"/>
                </a:solidFill>
                <a:latin typeface="+mn-ea"/>
                <a:ea typeface="+mn-ea"/>
              </a:rPr>
              <a:t>Enhancements for Network Management</a:t>
            </a:r>
            <a:endParaRPr lang="en-US" sz="825"/>
          </a:p>
        </p:txBody>
      </p:sp>
      <p:grpSp>
        <p:nvGrpSpPr>
          <p:cNvPr id="13" name="Group 13"/>
          <p:cNvGrpSpPr/>
          <p:nvPr/>
        </p:nvGrpSpPr>
        <p:grpSpPr>
          <a:xfrm>
            <a:off x="6132294" y="1409564"/>
            <a:ext cx="1271166" cy="1271166"/>
            <a:chOff x="0" y="0"/>
            <a:chExt cx="3843866" cy="3843866"/>
          </a:xfrm>
        </p:grpSpPr>
        <p:sp>
          <p:nvSpPr>
            <p:cNvPr id="14" name="AutoShape 14"/>
            <p:cNvSpPr/>
            <p:nvPr/>
          </p:nvSpPr>
          <p:spPr>
            <a:xfrm>
              <a:off x="0" y="0"/>
              <a:ext cx="3843866" cy="3843866"/>
            </a:xfrm>
            <a:prstGeom prst="ellipse">
              <a:avLst/>
            </a:prstGeom>
            <a:solidFill>
              <a:srgbClr val="FFFFFF"/>
            </a:solidFill>
            <a:ln w="12700" cap="flat">
              <a:solidFill>
                <a:srgbClr val="DCDEE0"/>
              </a:solidFill>
              <a:prstDash val="solid"/>
            </a:ln>
            <a:effectLst/>
          </p:spPr>
          <p:txBody>
            <a:bodyPr vert="horz" wrap="square" lIns="68580" tIns="34290" rIns="68580" bIns="34290" anchor="ctr">
              <a:normAutofit/>
            </a:bodyPr>
            <a:lstStyle/>
            <a:p>
              <a:pPr algn="ctr"/>
              <a:endParaRPr sz="1050"/>
            </a:p>
          </p:txBody>
        </p:sp>
        <p:sp>
          <p:nvSpPr>
            <p:cNvPr id="15" name="AutoShape 15"/>
            <p:cNvSpPr/>
            <p:nvPr/>
          </p:nvSpPr>
          <p:spPr>
            <a:xfrm>
              <a:off x="228243" y="217139"/>
              <a:ext cx="3398481" cy="3398483"/>
            </a:xfrm>
            <a:prstGeom prst="ellipse">
              <a:avLst/>
            </a:prstGeom>
            <a:blipFill>
              <a:blip r:embed="rId3"/>
              <a:stretch>
                <a:fillRect l="-25212" r="-24788"/>
              </a:stretch>
            </a:blipFill>
            <a:ln cap="flat" cmpd="sng">
              <a:noFill/>
              <a:prstDash val="solid"/>
              <a:miter lim="800000"/>
            </a:ln>
            <a:effectLst/>
          </p:spPr>
          <p:txBody>
            <a:bodyPr vert="horz" lIns="68580" tIns="34290" rIns="68580" bIns="34290" anchor="ctr">
              <a:normAutofit/>
            </a:bodyPr>
            <a:lstStyle/>
            <a:p>
              <a:pPr algn="ctr"/>
              <a:endParaRPr sz="1050"/>
            </a:p>
          </p:txBody>
        </p:sp>
      </p:grpSp>
      <p:grpSp>
        <p:nvGrpSpPr>
          <p:cNvPr id="16" name="Group 16"/>
          <p:cNvGrpSpPr/>
          <p:nvPr/>
        </p:nvGrpSpPr>
        <p:grpSpPr>
          <a:xfrm>
            <a:off x="6514093" y="1791363"/>
            <a:ext cx="507569" cy="507569"/>
            <a:chOff x="1025999" y="1411000"/>
            <a:chExt cx="767418" cy="767418"/>
          </a:xfrm>
        </p:grpSpPr>
        <p:sp>
          <p:nvSpPr>
            <p:cNvPr id="17" name="AutoShape 17"/>
            <p:cNvSpPr/>
            <p:nvPr/>
          </p:nvSpPr>
          <p:spPr>
            <a:xfrm>
              <a:off x="1025999" y="1411000"/>
              <a:ext cx="767418" cy="767418"/>
            </a:xfrm>
            <a:prstGeom prst="ellipse">
              <a:avLst/>
            </a:prstGeom>
            <a:solidFill>
              <a:schemeClr val="accent1">
                <a:alpha val="70000"/>
              </a:schemeClr>
            </a:solidFill>
            <a:ln w="38100">
              <a:solidFill>
                <a:srgbClr val="FFFFFF"/>
              </a:solidFill>
            </a:ln>
          </p:spPr>
          <p:txBody>
            <a:bodyPr vert="horz" wrap="square" lIns="68580" tIns="34290" rIns="68580" bIns="34290" anchor="ctr">
              <a:normAutofit/>
            </a:bodyPr>
            <a:lstStyle/>
            <a:p>
              <a:pPr algn="ctr"/>
              <a:endParaRPr sz="1050"/>
            </a:p>
          </p:txBody>
        </p:sp>
        <p:sp>
          <p:nvSpPr>
            <p:cNvPr id="18" name="Freeform 18"/>
            <p:cNvSpPr/>
            <p:nvPr/>
          </p:nvSpPr>
          <p:spPr>
            <a:xfrm>
              <a:off x="1203096" y="1592753"/>
              <a:ext cx="413225" cy="403914"/>
            </a:xfrm>
            <a:custGeom>
              <a:avLst/>
              <a:gdLst/>
              <a:ahLst/>
              <a:cxnLst/>
              <a:rect l="l" t="t" r="r" b="b"/>
              <a:pathLst>
                <a:path w="607933" h="594235">
                  <a:moveTo>
                    <a:pt x="163904" y="368072"/>
                  </a:moveTo>
                  <a:cubicBezTo>
                    <a:pt x="173837" y="383943"/>
                    <a:pt x="183771" y="399814"/>
                    <a:pt x="194698" y="416677"/>
                  </a:cubicBezTo>
                  <a:cubicBezTo>
                    <a:pt x="100329" y="430564"/>
                    <a:pt x="52648" y="460323"/>
                    <a:pt x="52648" y="475202"/>
                  </a:cubicBezTo>
                  <a:cubicBezTo>
                    <a:pt x="52648" y="495041"/>
                    <a:pt x="138076" y="542654"/>
                    <a:pt x="303966" y="542654"/>
                  </a:cubicBezTo>
                  <a:cubicBezTo>
                    <a:pt x="469857" y="542654"/>
                    <a:pt x="555285" y="495041"/>
                    <a:pt x="555285" y="475202"/>
                  </a:cubicBezTo>
                  <a:cubicBezTo>
                    <a:pt x="555285" y="460323"/>
                    <a:pt x="506611" y="430564"/>
                    <a:pt x="412242" y="416677"/>
                  </a:cubicBezTo>
                  <a:cubicBezTo>
                    <a:pt x="424162" y="399814"/>
                    <a:pt x="434096" y="383943"/>
                    <a:pt x="444030" y="368072"/>
                  </a:cubicBezTo>
                  <a:cubicBezTo>
                    <a:pt x="536412" y="385927"/>
                    <a:pt x="607933" y="421637"/>
                    <a:pt x="607933" y="475202"/>
                  </a:cubicBezTo>
                  <a:cubicBezTo>
                    <a:pt x="607933" y="553565"/>
                    <a:pt x="454956" y="594235"/>
                    <a:pt x="303966" y="594235"/>
                  </a:cubicBezTo>
                  <a:cubicBezTo>
                    <a:pt x="152977" y="594235"/>
                    <a:pt x="0" y="553565"/>
                    <a:pt x="0" y="475202"/>
                  </a:cubicBezTo>
                  <a:cubicBezTo>
                    <a:pt x="0" y="421637"/>
                    <a:pt x="70528" y="385927"/>
                    <a:pt x="163904" y="368072"/>
                  </a:cubicBezTo>
                  <a:close/>
                  <a:moveTo>
                    <a:pt x="304444" y="119134"/>
                  </a:moveTo>
                  <a:cubicBezTo>
                    <a:pt x="339849" y="119134"/>
                    <a:pt x="368550" y="147978"/>
                    <a:pt x="368550" y="183559"/>
                  </a:cubicBezTo>
                  <a:cubicBezTo>
                    <a:pt x="368550" y="219140"/>
                    <a:pt x="339849" y="247984"/>
                    <a:pt x="304444" y="247984"/>
                  </a:cubicBezTo>
                  <a:cubicBezTo>
                    <a:pt x="269039" y="247984"/>
                    <a:pt x="240338" y="219140"/>
                    <a:pt x="240338" y="183559"/>
                  </a:cubicBezTo>
                  <a:cubicBezTo>
                    <a:pt x="240338" y="147978"/>
                    <a:pt x="269039" y="119134"/>
                    <a:pt x="304444" y="119134"/>
                  </a:cubicBezTo>
                  <a:close/>
                  <a:moveTo>
                    <a:pt x="304941" y="78375"/>
                  </a:moveTo>
                  <a:cubicBezTo>
                    <a:pt x="246335" y="78375"/>
                    <a:pt x="198655" y="125003"/>
                    <a:pt x="198655" y="183536"/>
                  </a:cubicBezTo>
                  <a:cubicBezTo>
                    <a:pt x="198655" y="242070"/>
                    <a:pt x="246335" y="288698"/>
                    <a:pt x="304941" y="288698"/>
                  </a:cubicBezTo>
                  <a:cubicBezTo>
                    <a:pt x="362554" y="288698"/>
                    <a:pt x="410234" y="242070"/>
                    <a:pt x="410234" y="183536"/>
                  </a:cubicBezTo>
                  <a:cubicBezTo>
                    <a:pt x="410234" y="125003"/>
                    <a:pt x="362554" y="78375"/>
                    <a:pt x="304941" y="78375"/>
                  </a:cubicBezTo>
                  <a:close/>
                  <a:moveTo>
                    <a:pt x="304941" y="0"/>
                  </a:moveTo>
                  <a:cubicBezTo>
                    <a:pt x="403281" y="0"/>
                    <a:pt x="482747" y="80359"/>
                    <a:pt x="482747" y="178576"/>
                  </a:cubicBezTo>
                  <a:cubicBezTo>
                    <a:pt x="482747" y="249014"/>
                    <a:pt x="391361" y="383938"/>
                    <a:pt x="338714" y="454376"/>
                  </a:cubicBezTo>
                  <a:cubicBezTo>
                    <a:pt x="330768" y="465289"/>
                    <a:pt x="317854" y="472234"/>
                    <a:pt x="304941" y="472234"/>
                  </a:cubicBezTo>
                  <a:cubicBezTo>
                    <a:pt x="291035" y="472234"/>
                    <a:pt x="278121" y="465289"/>
                    <a:pt x="270175" y="454376"/>
                  </a:cubicBezTo>
                  <a:cubicBezTo>
                    <a:pt x="217528" y="383938"/>
                    <a:pt x="126142" y="249014"/>
                    <a:pt x="126142" y="178576"/>
                  </a:cubicBezTo>
                  <a:cubicBezTo>
                    <a:pt x="126142" y="80359"/>
                    <a:pt x="205608" y="0"/>
                    <a:pt x="304941" y="0"/>
                  </a:cubicBezTo>
                  <a:close/>
                </a:path>
              </a:pathLst>
            </a:custGeom>
            <a:solidFill>
              <a:srgbClr val="FFFFFF"/>
            </a:solidFill>
            <a:ln>
              <a:noFill/>
            </a:ln>
          </p:spPr>
          <p:txBody>
            <a:bodyPr vert="horz" wrap="square" lIns="68580" tIns="34290" rIns="68580" bIns="34290" anchor="ctr">
              <a:normAutofit/>
            </a:bodyPr>
            <a:lstStyle/>
            <a:p>
              <a:pPr algn="ctr"/>
              <a:endParaRPr sz="1050"/>
            </a:p>
          </p:txBody>
        </p:sp>
      </p:grpSp>
    </p:spTree>
  </p:cSld>
  <p:clrMapOvr>
    <a:masterClrMapping/>
  </p:clrMapOvr>
  <p:transition spd="slow">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anim calcmode="lin" valueType="num">
                                      <p:cBhvr additive="base">
                                        <p:cTn id="6" dur="500"/>
                                        <p:tgtEl>
                                          <p:spTgt spid="2"/>
                                        </p:tgtEl>
                                        <p:attrNameLst>
                                          <p:attrName>ppt_x</p:attrName>
                                        </p:attrNameLst>
                                      </p:cBhvr>
                                      <p:tavLst>
                                        <p:tav tm="0">
                                          <p:val>
                                            <p:strVal val="#ppt_x+#ppt_w*1.125000"/>
                                          </p:val>
                                        </p:tav>
                                        <p:tav tm="100000">
                                          <p:val>
                                            <p:strVal val="#ppt_x"/>
                                          </p:val>
                                        </p:tav>
                                      </p:tavLst>
                                    </p:anim>
                                    <p:animEffect transition="in" filter="wipe(left)">
                                      <p:cBhvr>
                                        <p:cTn id="7" dur="500"/>
                                        <p:tgtEl>
                                          <p:spTgt spid="2"/>
                                        </p:tgtEl>
                                      </p:cBhvr>
                                    </p:animEffect>
                                    <p:set>
                                      <p:cBhvr>
                                        <p:cTn id="8" dur="500" fill="hold">
                                          <p:stCondLst>
                                            <p:cond delay="0"/>
                                          </p:stCondLst>
                                        </p:cTn>
                                        <p:tgtEl>
                                          <p:spTgt spid="2"/>
                                        </p:tgtEl>
                                        <p:attrNameLst>
                                          <p:attrName>style.visibility</p:attrName>
                                        </p:attrNameLst>
                                      </p:cBhvr>
                                      <p:to>
                                        <p:strVal val="visible"/>
                                      </p:to>
                                    </p:set>
                                  </p:childTnLst>
                                </p:cTn>
                              </p:par>
                            </p:childTnLst>
                          </p:cTn>
                        </p:par>
                        <p:par>
                          <p:cTn id="9" fill="hold">
                            <p:stCondLst>
                              <p:cond delay="0"/>
                            </p:stCondLst>
                            <p:childTnLst>
                              <p:par>
                                <p:cTn id="10" presetID="50" presetClass="entr" presetSubtype="0" fill="hold" nodeType="afterEffect">
                                  <p:stCondLst>
                                    <p:cond delay="0"/>
                                  </p:stCondLst>
                                  <p:childTnLst>
                                    <p:anim calcmode="lin" valueType="num">
                                      <p:cBhvr>
                                        <p:cTn id="11" dur="1000" fill="hold"/>
                                        <p:tgtEl>
                                          <p:spTgt spid="12"/>
                                        </p:tgtEl>
                                        <p:attrNameLst>
                                          <p:attrName>ppt_w</p:attrName>
                                        </p:attrNameLst>
                                      </p:cBhvr>
                                      <p:tavLst>
                                        <p:tav tm="0">
                                          <p:val>
                                            <p:strVal val="#ppt_w+.3"/>
                                          </p:val>
                                        </p:tav>
                                        <p:tav tm="100000">
                                          <p:val>
                                            <p:strVal val="#ppt_w"/>
                                          </p:val>
                                        </p:tav>
                                      </p:tavLst>
                                    </p:anim>
                                    <p:anim calcmode="lin" valueType="num">
                                      <p:cBhvr>
                                        <p:cTn id="12" dur="1000" fill="hold"/>
                                        <p:tgtEl>
                                          <p:spTgt spid="12"/>
                                        </p:tgtEl>
                                        <p:attrNameLst>
                                          <p:attrName>ppt_h</p:attrName>
                                        </p:attrNameLst>
                                      </p:cBhvr>
                                      <p:tavLst>
                                        <p:tav tm="0">
                                          <p:val>
                                            <p:strVal val="#ppt_h"/>
                                          </p:val>
                                        </p:tav>
                                        <p:tav tm="100000">
                                          <p:val>
                                            <p:strVal val="#ppt_h"/>
                                          </p:val>
                                        </p:tav>
                                      </p:tavLst>
                                    </p:anim>
                                    <p:animEffect transition="in" filter="fade">
                                      <p:cBhvr>
                                        <p:cTn id="13" dur="1000"/>
                                        <p:tgtEl>
                                          <p:spTgt spid="12"/>
                                        </p:tgtEl>
                                      </p:cBhvr>
                                    </p:animEffect>
                                    <p:set>
                                      <p:cBhvr>
                                        <p:cTn id="14" dur="1" fill="hold">
                                          <p:stCondLst>
                                            <p:cond delay="0"/>
                                          </p:stCondLst>
                                        </p:cTn>
                                        <p:tgtEl>
                                          <p:spTgt spid="12"/>
                                        </p:tgtEl>
                                        <p:attrNameLst>
                                          <p:attrName>style.visibility</p:attrName>
                                        </p:attrNameLst>
                                      </p:cBhvr>
                                      <p:to>
                                        <p:strVal val="visible"/>
                                      </p:to>
                                    </p:set>
                                  </p:childTnLst>
                                </p:cTn>
                              </p:par>
                            </p:childTnLst>
                          </p:cTn>
                        </p:par>
                        <p:par>
                          <p:cTn id="15" fill="hold">
                            <p:stCondLst>
                              <p:cond delay="0"/>
                            </p:stCondLst>
                            <p:childTnLst>
                              <p:par>
                                <p:cTn id="16" presetID="10" presetClass="entr" presetSubtype="0" fill="hold" nodeType="afterEffect">
                                  <p:stCondLst>
                                    <p:cond delay="0"/>
                                  </p:stCondLst>
                                  <p:childTnLst>
                                    <p:animEffect transition="in" filter="fade">
                                      <p:cBhvr>
                                        <p:cTn id="17" dur="1000"/>
                                        <p:tgtEl>
                                          <p:spTgt spid="11"/>
                                        </p:tgtEl>
                                      </p:cBhvr>
                                    </p:animEffect>
                                    <p:set>
                                      <p:cBhvr>
                                        <p:cTn id="18" dur="1000" fill="hold">
                                          <p:stCondLst>
                                            <p:cond delay="0"/>
                                          </p:stCondLst>
                                        </p:cTn>
                                        <p:tgtEl>
                                          <p:spTgt spid="11"/>
                                        </p:tgtEl>
                                        <p:attrNameLst>
                                          <p:attrName>style.visibility</p:attrName>
                                        </p:attrNameLst>
                                      </p:cBhvr>
                                      <p:to>
                                        <p:strVal val="visible"/>
                                      </p:to>
                                    </p:set>
                                  </p:childTnLst>
                                </p:cTn>
                              </p:par>
                            </p:childTnLst>
                          </p:cTn>
                        </p:par>
                        <p:par>
                          <p:cTn id="19" fill="hold">
                            <p:stCondLst>
                              <p:cond delay="0"/>
                            </p:stCondLst>
                            <p:childTnLst>
                              <p:par>
                                <p:cTn id="20" presetID="4" presetClass="entr" presetSubtype="32" fill="hold" nodeType="afterEffect">
                                  <p:stCondLst>
                                    <p:cond delay="0"/>
                                  </p:stCondLst>
                                  <p:childTnLst>
                                    <p:animEffect transition="in" filter="box(out)">
                                      <p:cBhvr>
                                        <p:cTn id="21" dur="1000"/>
                                        <p:tgtEl>
                                          <p:spTgt spid="5"/>
                                        </p:tgtEl>
                                      </p:cBhvr>
                                    </p:animEffect>
                                    <p:set>
                                      <p:cBhvr>
                                        <p:cTn id="22" dur="1000" fill="hold">
                                          <p:stCondLst>
                                            <p:cond delay="0"/>
                                          </p:stCondLst>
                                        </p:cTn>
                                        <p:tgtEl>
                                          <p:spTgt spid="5"/>
                                        </p:tgtEl>
                                        <p:attrNameLst>
                                          <p:attrName>style.visibility</p:attrName>
                                        </p:attrNameLst>
                                      </p:cBhvr>
                                      <p:to>
                                        <p:strVal val="visible"/>
                                      </p:to>
                                    </p:set>
                                  </p:childTnLst>
                                </p:cTn>
                              </p:par>
                            </p:childTnLst>
                          </p:cTn>
                        </p:par>
                        <p:par>
                          <p:cTn id="23" fill="hold">
                            <p:stCondLst>
                              <p:cond delay="0"/>
                            </p:stCondLst>
                            <p:childTnLst>
                              <p:par>
                                <p:cTn id="24" presetID="22" presetClass="entr" presetSubtype="2" fill="hold" nodeType="afterEffect">
                                  <p:stCondLst>
                                    <p:cond delay="0"/>
                                  </p:stCondLst>
                                  <p:childTnLst>
                                    <p:animEffect transition="in" filter="wipe(right)">
                                      <p:cBhvr>
                                        <p:cTn id="25" dur="500"/>
                                        <p:tgtEl>
                                          <p:spTgt spid="10"/>
                                        </p:tgtEl>
                                      </p:cBhvr>
                                    </p:animEffect>
                                    <p:set>
                                      <p:cBhvr>
                                        <p:cTn id="26" dur="500" fill="hold">
                                          <p:stCondLst>
                                            <p:cond delay="0"/>
                                          </p:stCondLst>
                                        </p:cTn>
                                        <p:tgtEl>
                                          <p:spTgt spid="10"/>
                                        </p:tgtEl>
                                        <p:attrNameLst>
                                          <p:attrName>style.visibility</p:attrName>
                                        </p:attrNameLst>
                                      </p:cBhvr>
                                      <p:to>
                                        <p:strVal val="visible"/>
                                      </p:to>
                                    </p:set>
                                  </p:childTnLst>
                                </p:cTn>
                              </p:par>
                            </p:childTnLst>
                          </p:cTn>
                        </p:par>
                        <p:par>
                          <p:cTn id="27" fill="hold">
                            <p:stCondLst>
                              <p:cond delay="0"/>
                            </p:stCondLst>
                            <p:childTnLst>
                              <p:par>
                                <p:cTn id="28" presetID="52" presetClass="entr" presetSubtype="0" fill="hold" nodeType="afterEffect">
                                  <p:stCondLst>
                                    <p:cond delay="0"/>
                                  </p:stCondLst>
                                  <p:childTnLst>
                                    <p:animEffect transition="in" filter="fade">
                                      <p:cBhvr>
                                        <p:cTn id="29" dur="1000"/>
                                        <p:tgtEl>
                                          <p:spTgt spid="9"/>
                                        </p:tgtEl>
                                      </p:cBhvr>
                                    </p:animEffect>
                                    <p:animMotion origin="layout" path="M -0.46736 0.92887 C -0.37517 0.88508  -0.02552 0.75279  0.0908 0.66613  C  0.20747 0.57948  0.21649 0.50394  0.23177 0.40825  C 0.24705 0.31256 0.22118 0.15964   0.18264 0.09152  C 0.1441 0.02341  0.03802 0.0  0.0 0.0  " pathEditMode="relative" ptsTypes="">
                                      <p:cBhvr>
                                        <p:cTn id="30" dur="1000" decel="50000" fill="hold">
                                          <p:stCondLst>
                                            <p:cond delay="0"/>
                                          </p:stCondLst>
                                        </p:cTn>
                                        <p:tgtEl>
                                          <p:spTgt spid="9"/>
                                        </p:tgtEl>
                                        <p:attrNameLst>
                                          <p:attrName>ppt_x</p:attrName>
                                          <p:attrName>ppt_y</p:attrName>
                                        </p:attrNameLst>
                                      </p:cBhvr>
                                    </p:animMotion>
                                    <p:animScale>
                                      <p:cBhvr>
                                        <p:cTn id="31" dur="1000" decel="50000" fill="hold">
                                          <p:stCondLst>
                                            <p:cond delay="0"/>
                                          </p:stCondLst>
                                        </p:cTn>
                                        <p:tgtEl>
                                          <p:spTgt spid="9"/>
                                        </p:tgtEl>
                                      </p:cBhvr>
                                      <p:from x="250000" y="250000"/>
                                      <p:to x="100000" y="100000"/>
                                    </p:animScale>
                                    <p:set>
                                      <p:cBhvr>
                                        <p:cTn id="32" dur="1" fill="hold">
                                          <p:stCondLst>
                                            <p:cond delay="0"/>
                                          </p:stCondLst>
                                        </p:cTn>
                                        <p:tgtEl>
                                          <p:spTgt spid="9"/>
                                        </p:tgtEl>
                                        <p:attrNameLst>
                                          <p:attrName>style.visibility</p:attrName>
                                        </p:attrNameLst>
                                      </p:cBhvr>
                                      <p:to>
                                        <p:strVal val="visible"/>
                                      </p:to>
                                    </p:set>
                                  </p:childTnLst>
                                </p:cTn>
                              </p:par>
                            </p:childTnLst>
                          </p:cTn>
                        </p:par>
                        <p:par>
                          <p:cTn id="33" fill="hold">
                            <p:stCondLst>
                              <p:cond delay="0"/>
                            </p:stCondLst>
                            <p:childTnLst>
                              <p:par>
                                <p:cTn id="34" presetID="19" presetClass="entr" presetSubtype="5" fill="hold" nodeType="afterEffect">
                                  <p:stCondLst>
                                    <p:cond delay="0"/>
                                  </p:stCondLst>
                                  <p:childTnLst>
                                    <p:anim calcmode="lin" valueType="num">
                                      <p:cBhvr>
                                        <p:cTn id="35" dur="2000" fill="hold"/>
                                        <p:tgtEl>
                                          <p:spTgt spid="15"/>
                                        </p:tgtEl>
                                        <p:attrNameLst>
                                          <p:attrName>ppt_w</p:attrName>
                                        </p:attrNameLst>
                                      </p:cBhvr>
                                      <p:tavLst>
                                        <p:tav tm="0">
                                          <p:val>
                                            <p:strVal val="#ppt_w"/>
                                          </p:val>
                                        </p:tav>
                                        <p:tav tm="100000">
                                          <p:val>
                                            <p:strVal val="#ppt_w"/>
                                          </p:val>
                                        </p:tav>
                                      </p:tavLst>
                                    </p:anim>
                                    <p:anim calcmode="lin" valueType="num">
                                      <p:cBhvr>
                                        <p:cTn id="36" dur="2000" fill="hold"/>
                                        <p:tgtEl>
                                          <p:spTgt spid="15"/>
                                        </p:tgtEl>
                                        <p:attrNameLst>
                                          <p:attrName>ppt_h</p:attrName>
                                        </p:attrNameLst>
                                      </p:cBhvr>
                                      <p:tavLst>
                                        <p:tav tm="0" fmla="#ppt_h*sin(2.5*pi*$)">
                                          <p:val>
                                            <p:fltVal val="0"/>
                                          </p:val>
                                        </p:tav>
                                        <p:tav tm="100000">
                                          <p:val>
                                            <p:fltVal val="1"/>
                                          </p:val>
                                        </p:tav>
                                      </p:tavLst>
                                    </p:anim>
                                    <p:set>
                                      <p:cBhvr>
                                        <p:cTn id="37" dur="2000"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a:xfrm>
            <a:off x="687133" y="2611177"/>
            <a:ext cx="4775288" cy="360098"/>
          </a:xfrm>
        </p:spPr>
        <p:txBody>
          <a:bodyPr spcFirstLastPara="1" vert="horz" wrap="square" lIns="68580" tIns="34290" rIns="68580" bIns="34290" anchor="t" anchorCtr="0">
            <a:normAutofit/>
          </a:bodyPr>
          <a:lstStyle/>
          <a:p>
            <a:pPr algn="l">
              <a:lnSpc>
                <a:spcPct val="90000"/>
              </a:lnSpc>
              <a:spcBef>
                <a:spcPct val="0"/>
              </a:spcBef>
            </a:pPr>
            <a:r>
              <a:rPr lang="zh-CN" altLang="en-US" sz="1917" b="1">
                <a:solidFill>
                  <a:srgbClr val="2F2F2F"/>
                </a:solidFill>
                <a:latin typeface="微软雅黑"/>
                <a:ea typeface="微软雅黑"/>
              </a:rPr>
              <a:t>Methodology of Simulation Setup</a:t>
            </a:r>
          </a:p>
        </p:txBody>
      </p:sp>
      <p:sp>
        <p:nvSpPr>
          <p:cNvPr id="3" name="TextBox 3"/>
          <p:cNvSpPr txBox="1"/>
          <p:nvPr/>
        </p:nvSpPr>
        <p:spPr>
          <a:xfrm>
            <a:off x="759513" y="1439471"/>
            <a:ext cx="160238" cy="925365"/>
          </a:xfrm>
          <a:prstGeom prst="rect">
            <a:avLst/>
          </a:prstGeom>
          <a:noFill/>
          <a:ln>
            <a:noFill/>
          </a:ln>
        </p:spPr>
        <p:txBody>
          <a:bodyPr vert="horz" wrap="none" lIns="68580" tIns="34290" rIns="68580" bIns="34290" numCol="1" rtlCol="0" anchor="t">
            <a:prstTxWarp prst="textPlain">
              <a:avLst/>
            </a:prstTxWarp>
            <a:spAutoFit/>
          </a:bodyPr>
          <a:lstStyle/>
          <a:p>
            <a:pPr>
              <a:defRPr/>
            </a:pPr>
            <a:r>
              <a:rPr lang="en-US" sz="1350" spc="75">
                <a:solidFill>
                  <a:schemeClr val="accent1"/>
                </a:solidFill>
                <a:latin typeface="Impact"/>
                <a:ea typeface="Impact"/>
              </a:rPr>
              <a:t>/</a:t>
            </a:r>
            <a:endParaRPr lang="en-US" sz="825"/>
          </a:p>
        </p:txBody>
      </p:sp>
      <p:sp>
        <p:nvSpPr>
          <p:cNvPr id="4" name="TextBox 4"/>
          <p:cNvSpPr txBox="1"/>
          <p:nvPr/>
        </p:nvSpPr>
        <p:spPr>
          <a:xfrm>
            <a:off x="930205" y="1313531"/>
            <a:ext cx="1248689" cy="1177245"/>
          </a:xfrm>
          <a:prstGeom prst="rect">
            <a:avLst/>
          </a:prstGeom>
          <a:noFill/>
        </p:spPr>
        <p:txBody>
          <a:bodyPr vert="horz" wrap="square" lIns="68580" tIns="34290" rIns="68580" bIns="34290" rtlCol="0" anchor="t">
            <a:spAutoFit/>
          </a:bodyPr>
          <a:lstStyle/>
          <a:p>
            <a:pPr>
              <a:defRPr/>
            </a:pPr>
            <a:r>
              <a:rPr lang="en-US" sz="7200" spc="75">
                <a:solidFill>
                  <a:schemeClr val="accent1"/>
                </a:solidFill>
                <a:latin typeface="Impact"/>
                <a:ea typeface="Impact"/>
              </a:rPr>
              <a:t>04</a:t>
            </a:r>
            <a:endParaRPr lang="en-US" sz="825"/>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nodeType="afterEffect">
                                  <p:stCondLst>
                                    <p:cond delay="0"/>
                                  </p:stCondLst>
                                  <p:childTnLst>
                                    <p:anim to="" calcmode="lin" valueType="num">
                                      <p:cBhvr>
                                        <p:cTn id="6" dur="1" fill="hold"/>
                                        <p:tgtEl>
                                          <p:spTgt spid="4"/>
                                        </p:tgtEl>
                                      </p:cBhvr>
                                    </p:anim>
                                    <p:set>
                                      <p:cBhvr>
                                        <p:cTn id="7" dur="1" fill="hold">
                                          <p:stCondLst>
                                            <p:cond delay="0"/>
                                          </p:stCondLst>
                                        </p:cTn>
                                        <p:tgtEl>
                                          <p:spTgt spid="4"/>
                                        </p:tgtEl>
                                        <p:attrNameLst>
                                          <p:attrName>style.visibility</p:attrName>
                                        </p:attrNameLst>
                                      </p:cBhvr>
                                      <p:to>
                                        <p:strVal val="visible"/>
                                      </p:to>
                                    </p:set>
                                  </p:childTnLst>
                                </p:cTn>
                              </p:par>
                            </p:childTnLst>
                          </p:cTn>
                        </p:par>
                        <p:par>
                          <p:cTn id="8" fill="hold">
                            <p:stCondLst>
                              <p:cond delay="0"/>
                            </p:stCondLst>
                            <p:childTnLst>
                              <p:par>
                                <p:cTn id="9" presetID="24" presetClass="entr" presetSubtype="0" fill="hold" nodeType="afterEffect">
                                  <p:stCondLst>
                                    <p:cond delay="0"/>
                                  </p:stCondLst>
                                  <p:childTnLst>
                                    <p:anim to="" calcmode="lin" valueType="num">
                                      <p:cBhvr>
                                        <p:cTn id="10" dur="1" fill="hold"/>
                                        <p:tgtEl>
                                          <p:spTgt spid="2"/>
                                        </p:tgtEl>
                                      </p:cBhvr>
                                    </p:anim>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a:xfrm>
            <a:off x="460305" y="557610"/>
            <a:ext cx="8520600" cy="572700"/>
          </a:xfrm>
        </p:spPr>
        <p:txBody>
          <a:bodyPr spcFirstLastPara="1" vert="horz" wrap="square" lIns="68580" tIns="34290" rIns="68580" bIns="34290" anchor="b" anchorCtr="0">
            <a:normAutofit/>
          </a:bodyPr>
          <a:lstStyle/>
          <a:p>
            <a:pPr algn="ctr">
              <a:lnSpc>
                <a:spcPct val="90000"/>
              </a:lnSpc>
              <a:spcBef>
                <a:spcPct val="0"/>
              </a:spcBef>
            </a:pPr>
            <a:r>
              <a:rPr lang="zh-CN" altLang="en-US" sz="2100" b="1" dirty="0">
                <a:solidFill>
                  <a:srgbClr val="2F2F2F"/>
                </a:solidFill>
                <a:latin typeface="微软雅黑"/>
                <a:ea typeface="微软雅黑"/>
              </a:rPr>
              <a:t>Network Topology Design</a:t>
            </a:r>
          </a:p>
        </p:txBody>
      </p:sp>
      <p:sp>
        <p:nvSpPr>
          <p:cNvPr id="3" name="AutoShape 3"/>
          <p:cNvSpPr/>
          <p:nvPr/>
        </p:nvSpPr>
        <p:spPr>
          <a:xfrm>
            <a:off x="799458" y="1320689"/>
            <a:ext cx="3219683" cy="3149749"/>
          </a:xfrm>
          <a:prstGeom prst="rect">
            <a:avLst/>
          </a:prstGeom>
          <a:solidFill>
            <a:srgbClr val="2F2F2F">
              <a:alpha val="10000"/>
              <a:lumMod val="50000"/>
              <a:lumOff val="50000"/>
            </a:srgbClr>
          </a:solidFill>
          <a:ln cap="rnd">
            <a:noFill/>
            <a:prstDash val="solid"/>
          </a:ln>
          <a:effectLst/>
        </p:spPr>
        <p:txBody>
          <a:bodyPr rot="0" vert="horz" wrap="square" lIns="68580" tIns="34290" rIns="68580" bIns="34290" anchor="ctr">
            <a:normAutofit/>
          </a:bodyPr>
          <a:lstStyle/>
          <a:p>
            <a:pPr algn="ctr"/>
            <a:endParaRPr sz="1050"/>
          </a:p>
        </p:txBody>
      </p:sp>
      <p:sp>
        <p:nvSpPr>
          <p:cNvPr id="4" name="TextBox 4"/>
          <p:cNvSpPr txBox="1"/>
          <p:nvPr/>
        </p:nvSpPr>
        <p:spPr>
          <a:xfrm>
            <a:off x="866148" y="2156305"/>
            <a:ext cx="2714842" cy="253916"/>
          </a:xfrm>
          <a:prstGeom prst="rect">
            <a:avLst/>
          </a:prstGeom>
          <a:noFill/>
          <a:ln cap="rnd">
            <a:noFill/>
            <a:prstDash val="solid"/>
          </a:ln>
          <a:effectLst/>
        </p:spPr>
        <p:txBody>
          <a:bodyPr rot="0" vert="horz" wrap="square" lIns="68580" tIns="34290" rIns="68580" bIns="34290" rtlCol="0" anchor="b">
            <a:prstTxWarp prst="textNoShape">
              <a:avLst/>
            </a:prstTxWarp>
            <a:spAutoFit/>
          </a:bodyPr>
          <a:lstStyle/>
          <a:p>
            <a:pPr>
              <a:defRPr/>
            </a:pPr>
            <a:r>
              <a:rPr lang="en-US" sz="1200" b="1">
                <a:solidFill>
                  <a:srgbClr val="2F2F2F"/>
                </a:solidFill>
                <a:latin typeface="+mn-ea"/>
                <a:ea typeface="+mn-ea"/>
              </a:rPr>
              <a:t>Configuration of eNodeBs and UEs</a:t>
            </a:r>
            <a:endParaRPr lang="en-US" sz="825"/>
          </a:p>
        </p:txBody>
      </p:sp>
      <p:sp>
        <p:nvSpPr>
          <p:cNvPr id="5" name="TextBox 5"/>
          <p:cNvSpPr txBox="1"/>
          <p:nvPr/>
        </p:nvSpPr>
        <p:spPr>
          <a:xfrm>
            <a:off x="3017314" y="3030479"/>
            <a:ext cx="1081065" cy="1084912"/>
          </a:xfrm>
          <a:prstGeom prst="rect">
            <a:avLst/>
          </a:prstGeom>
          <a:noFill/>
          <a:effectLst/>
        </p:spPr>
        <p:txBody>
          <a:bodyPr vert="horz" wrap="none" lIns="68580" tIns="34290" rIns="68580" bIns="34290" rtlCol="0" anchor="t">
            <a:spAutoFit/>
          </a:bodyPr>
          <a:lstStyle/>
          <a:p>
            <a:pPr>
              <a:defRPr/>
            </a:pPr>
            <a:r>
              <a:rPr lang="en-US" sz="6600" dirty="0">
                <a:solidFill>
                  <a:srgbClr val="FFFFFF"/>
                </a:solidFill>
              </a:rPr>
              <a:t>01</a:t>
            </a:r>
            <a:endParaRPr lang="en-US" sz="825" dirty="0"/>
          </a:p>
        </p:txBody>
      </p:sp>
      <p:cxnSp>
        <p:nvCxnSpPr>
          <p:cNvPr id="6" name="Connector 6"/>
          <p:cNvCxnSpPr/>
          <p:nvPr/>
        </p:nvCxnSpPr>
        <p:spPr>
          <a:xfrm>
            <a:off x="799458" y="1330487"/>
            <a:ext cx="3219683" cy="0"/>
          </a:xfrm>
          <a:prstGeom prst="line">
            <a:avLst/>
          </a:prstGeom>
          <a:ln w="25400">
            <a:solidFill>
              <a:schemeClr val="accent1"/>
            </a:solidFill>
          </a:ln>
        </p:spPr>
      </p:cxnSp>
      <p:sp>
        <p:nvSpPr>
          <p:cNvPr id="7" name="Freeform 7"/>
          <p:cNvSpPr/>
          <p:nvPr/>
        </p:nvSpPr>
        <p:spPr>
          <a:xfrm>
            <a:off x="938543" y="1653270"/>
            <a:ext cx="240578" cy="324779"/>
          </a:xfrm>
          <a:custGeom>
            <a:avLst/>
            <a:gdLst/>
            <a:ahLst/>
            <a:cxnLst/>
            <a:rect l="l" t="t" r="r" b="b"/>
            <a:pathLst>
              <a:path w="381000" h="514350">
                <a:moveTo>
                  <a:pt x="86973" y="38721"/>
                </a:moveTo>
                <a:lnTo>
                  <a:pt x="86973" y="95871"/>
                </a:lnTo>
                <a:lnTo>
                  <a:pt x="296523" y="95871"/>
                </a:lnTo>
                <a:lnTo>
                  <a:pt x="296523" y="38721"/>
                </a:lnTo>
                <a:lnTo>
                  <a:pt x="382248" y="38721"/>
                </a:lnTo>
                <a:lnTo>
                  <a:pt x="382248" y="514971"/>
                </a:lnTo>
                <a:lnTo>
                  <a:pt x="1248" y="514971"/>
                </a:lnTo>
                <a:lnTo>
                  <a:pt x="1248" y="38721"/>
                </a:lnTo>
                <a:lnTo>
                  <a:pt x="86973" y="38721"/>
                </a:lnTo>
                <a:close/>
                <a:moveTo>
                  <a:pt x="191748" y="333996"/>
                </a:moveTo>
                <a:lnTo>
                  <a:pt x="77448" y="333996"/>
                </a:lnTo>
                <a:lnTo>
                  <a:pt x="77448" y="353046"/>
                </a:lnTo>
                <a:lnTo>
                  <a:pt x="191748" y="353046"/>
                </a:lnTo>
                <a:lnTo>
                  <a:pt x="191748" y="333996"/>
                </a:lnTo>
                <a:close/>
                <a:moveTo>
                  <a:pt x="306048" y="257796"/>
                </a:moveTo>
                <a:lnTo>
                  <a:pt x="77448" y="257796"/>
                </a:lnTo>
                <a:lnTo>
                  <a:pt x="77448" y="276846"/>
                </a:lnTo>
                <a:lnTo>
                  <a:pt x="306048" y="276846"/>
                </a:lnTo>
                <a:lnTo>
                  <a:pt x="306048" y="257796"/>
                </a:lnTo>
                <a:close/>
                <a:moveTo>
                  <a:pt x="306048" y="181596"/>
                </a:moveTo>
                <a:lnTo>
                  <a:pt x="77448" y="181596"/>
                </a:lnTo>
                <a:lnTo>
                  <a:pt x="77448" y="200646"/>
                </a:lnTo>
                <a:lnTo>
                  <a:pt x="306048" y="200646"/>
                </a:lnTo>
                <a:lnTo>
                  <a:pt x="306048" y="181596"/>
                </a:lnTo>
                <a:close/>
                <a:moveTo>
                  <a:pt x="277473" y="621"/>
                </a:moveTo>
                <a:lnTo>
                  <a:pt x="277473" y="76821"/>
                </a:lnTo>
                <a:lnTo>
                  <a:pt x="106023" y="76821"/>
                </a:lnTo>
                <a:lnTo>
                  <a:pt x="106023" y="621"/>
                </a:lnTo>
                <a:lnTo>
                  <a:pt x="277473" y="621"/>
                </a:lnTo>
                <a:close/>
              </a:path>
            </a:pathLst>
          </a:custGeom>
          <a:solidFill>
            <a:schemeClr val="accent1"/>
          </a:solidFill>
          <a:ln>
            <a:noFill/>
          </a:ln>
        </p:spPr>
        <p:txBody>
          <a:bodyPr vert="horz" lIns="68580" tIns="34290" rIns="68580" bIns="34290" anchor="t">
            <a:normAutofit/>
          </a:bodyPr>
          <a:lstStyle/>
          <a:p>
            <a:endParaRPr sz="1050"/>
          </a:p>
        </p:txBody>
      </p:sp>
      <p:sp>
        <p:nvSpPr>
          <p:cNvPr id="8" name="AutoShape 8"/>
          <p:cNvSpPr/>
          <p:nvPr/>
        </p:nvSpPr>
        <p:spPr>
          <a:xfrm>
            <a:off x="5036096" y="1320689"/>
            <a:ext cx="3219683" cy="3149750"/>
          </a:xfrm>
          <a:prstGeom prst="rect">
            <a:avLst/>
          </a:prstGeom>
          <a:solidFill>
            <a:srgbClr val="2F2F2F">
              <a:alpha val="10000"/>
              <a:lumMod val="50000"/>
              <a:lumOff val="50000"/>
            </a:srgbClr>
          </a:solidFill>
          <a:ln cap="rnd">
            <a:noFill/>
            <a:prstDash val="solid"/>
          </a:ln>
          <a:effectLst/>
        </p:spPr>
        <p:txBody>
          <a:bodyPr rot="0" vert="horz" wrap="square" lIns="68580" tIns="34290" rIns="68580" bIns="34290" anchor="ctr">
            <a:normAutofit/>
          </a:bodyPr>
          <a:lstStyle/>
          <a:p>
            <a:pPr algn="ctr"/>
            <a:endParaRPr sz="1050"/>
          </a:p>
        </p:txBody>
      </p:sp>
      <p:sp>
        <p:nvSpPr>
          <p:cNvPr id="9" name="TextBox 9"/>
          <p:cNvSpPr txBox="1"/>
          <p:nvPr/>
        </p:nvSpPr>
        <p:spPr>
          <a:xfrm>
            <a:off x="5102786" y="2156305"/>
            <a:ext cx="2714842" cy="253916"/>
          </a:xfrm>
          <a:prstGeom prst="rect">
            <a:avLst/>
          </a:prstGeom>
          <a:noFill/>
          <a:ln cap="rnd">
            <a:noFill/>
            <a:prstDash val="solid"/>
          </a:ln>
          <a:effectLst/>
        </p:spPr>
        <p:txBody>
          <a:bodyPr rot="0" vert="horz" wrap="square" lIns="68580" tIns="34290" rIns="68580" bIns="34290" rtlCol="0" anchor="b">
            <a:prstTxWarp prst="textNoShape">
              <a:avLst/>
            </a:prstTxWarp>
            <a:spAutoFit/>
          </a:bodyPr>
          <a:lstStyle/>
          <a:p>
            <a:pPr>
              <a:defRPr/>
            </a:pPr>
            <a:r>
              <a:rPr lang="en-US" sz="1200" b="1">
                <a:solidFill>
                  <a:srgbClr val="2F2F2F"/>
                </a:solidFill>
                <a:latin typeface="+mn-ea"/>
                <a:ea typeface="+mn-ea"/>
              </a:rPr>
              <a:t>Mobility Models for UEs</a:t>
            </a:r>
            <a:endParaRPr lang="en-US" sz="825"/>
          </a:p>
        </p:txBody>
      </p:sp>
      <p:sp>
        <p:nvSpPr>
          <p:cNvPr id="10" name="TextBox 10"/>
          <p:cNvSpPr txBox="1"/>
          <p:nvPr/>
        </p:nvSpPr>
        <p:spPr>
          <a:xfrm>
            <a:off x="7253952" y="3030479"/>
            <a:ext cx="1081065" cy="1084912"/>
          </a:xfrm>
          <a:prstGeom prst="rect">
            <a:avLst/>
          </a:prstGeom>
          <a:noFill/>
          <a:effectLst/>
        </p:spPr>
        <p:txBody>
          <a:bodyPr vert="horz" wrap="none" lIns="68580" tIns="34290" rIns="68580" bIns="34290" rtlCol="0" anchor="t">
            <a:spAutoFit/>
          </a:bodyPr>
          <a:lstStyle/>
          <a:p>
            <a:pPr>
              <a:defRPr/>
            </a:pPr>
            <a:r>
              <a:rPr lang="en-US" sz="6600" b="1" dirty="0">
                <a:solidFill>
                  <a:srgbClr val="FFFFFF"/>
                </a:solidFill>
              </a:rPr>
              <a:t>02</a:t>
            </a:r>
            <a:endParaRPr lang="en-US" sz="825" dirty="0"/>
          </a:p>
        </p:txBody>
      </p:sp>
      <p:cxnSp>
        <p:nvCxnSpPr>
          <p:cNvPr id="11" name="Connector 11"/>
          <p:cNvCxnSpPr/>
          <p:nvPr/>
        </p:nvCxnSpPr>
        <p:spPr>
          <a:xfrm>
            <a:off x="5036096" y="1330487"/>
            <a:ext cx="3219683" cy="0"/>
          </a:xfrm>
          <a:prstGeom prst="line">
            <a:avLst/>
          </a:prstGeom>
          <a:ln w="25400">
            <a:solidFill>
              <a:schemeClr val="accent1"/>
            </a:solidFill>
          </a:ln>
        </p:spPr>
      </p:cxnSp>
      <p:sp>
        <p:nvSpPr>
          <p:cNvPr id="12" name="Freeform 12"/>
          <p:cNvSpPr/>
          <p:nvPr/>
        </p:nvSpPr>
        <p:spPr>
          <a:xfrm>
            <a:off x="5192709" y="1631349"/>
            <a:ext cx="318875" cy="324779"/>
          </a:xfrm>
          <a:custGeom>
            <a:avLst/>
            <a:gdLst/>
            <a:ahLst/>
            <a:cxnLst/>
            <a:rect l="l" t="t" r="r" b="b"/>
            <a:pathLst>
              <a:path w="514350" h="523875">
                <a:moveTo>
                  <a:pt x="257175" y="266700"/>
                </a:moveTo>
                <a:cubicBezTo>
                  <a:pt x="330518" y="266700"/>
                  <a:pt x="390525" y="206693"/>
                  <a:pt x="390525" y="133350"/>
                </a:cubicBezTo>
                <a:cubicBezTo>
                  <a:pt x="390525" y="60008"/>
                  <a:pt x="330518" y="0"/>
                  <a:pt x="257175" y="0"/>
                </a:cubicBezTo>
                <a:cubicBezTo>
                  <a:pt x="183833" y="0"/>
                  <a:pt x="123825" y="60008"/>
                  <a:pt x="123825" y="133350"/>
                </a:cubicBezTo>
                <a:cubicBezTo>
                  <a:pt x="123825" y="206693"/>
                  <a:pt x="183833" y="266700"/>
                  <a:pt x="257175" y="266700"/>
                </a:cubicBezTo>
                <a:close/>
                <a:moveTo>
                  <a:pt x="457200" y="333375"/>
                </a:moveTo>
                <a:lnTo>
                  <a:pt x="57150" y="333375"/>
                </a:lnTo>
                <a:lnTo>
                  <a:pt x="0" y="390525"/>
                </a:lnTo>
                <a:lnTo>
                  <a:pt x="0" y="523875"/>
                </a:lnTo>
                <a:lnTo>
                  <a:pt x="514350" y="523875"/>
                </a:lnTo>
                <a:lnTo>
                  <a:pt x="514350" y="390525"/>
                </a:lnTo>
                <a:lnTo>
                  <a:pt x="457200" y="333375"/>
                </a:lnTo>
                <a:close/>
                <a:moveTo>
                  <a:pt x="447675" y="457200"/>
                </a:moveTo>
                <a:lnTo>
                  <a:pt x="333375" y="457200"/>
                </a:lnTo>
                <a:lnTo>
                  <a:pt x="333375" y="438150"/>
                </a:lnTo>
                <a:lnTo>
                  <a:pt x="447675" y="438150"/>
                </a:lnTo>
                <a:lnTo>
                  <a:pt x="447675" y="457200"/>
                </a:lnTo>
                <a:close/>
              </a:path>
            </a:pathLst>
          </a:custGeom>
          <a:solidFill>
            <a:schemeClr val="accent1"/>
          </a:solidFill>
          <a:ln>
            <a:noFill/>
          </a:ln>
        </p:spPr>
        <p:txBody>
          <a:bodyPr vert="horz" lIns="68580" tIns="34290" rIns="68580" bIns="34290" anchor="t">
            <a:normAutofit/>
          </a:bodyPr>
          <a:lstStyle/>
          <a:p>
            <a:endParaRPr sz="1050"/>
          </a:p>
        </p:txBody>
      </p:sp>
      <p:sp>
        <p:nvSpPr>
          <p:cNvPr id="13" name="AutoShape 13"/>
          <p:cNvSpPr/>
          <p:nvPr/>
        </p:nvSpPr>
        <p:spPr>
          <a:xfrm>
            <a:off x="866147" y="2452816"/>
            <a:ext cx="2974333" cy="1975028"/>
          </a:xfrm>
          <a:prstGeom prst="rect">
            <a:avLst/>
          </a:prstGeom>
        </p:spPr>
        <p:txBody>
          <a:bodyPr vert="horz" wrap="square" lIns="68580" tIns="34290" rIns="68580" bIns="34290" anchor="t">
            <a:spAutoFit/>
          </a:bodyPr>
          <a:lstStyle/>
          <a:p>
            <a:pPr algn="just">
              <a:lnSpc>
                <a:spcPct val="150000"/>
              </a:lnSpc>
            </a:pPr>
            <a:r>
              <a:rPr lang="en-US" sz="1200" dirty="0">
                <a:solidFill>
                  <a:srgbClr val="2F2F2F"/>
                </a:solidFill>
                <a:latin typeface="Times New Roman" panose="02020603050405020304" pitchFamily="18" charset="0"/>
                <a:ea typeface="+mn-ea"/>
                <a:cs typeface="Times New Roman" panose="02020603050405020304" pitchFamily="18" charset="0"/>
              </a:rPr>
              <a:t>The simulation setup involves configuring a realistic network topology that includes multiple LTE </a:t>
            </a:r>
            <a:r>
              <a:rPr lang="en-US" sz="1200" dirty="0" err="1">
                <a:solidFill>
                  <a:srgbClr val="2F2F2F"/>
                </a:solidFill>
                <a:latin typeface="Times New Roman" panose="02020603050405020304" pitchFamily="18" charset="0"/>
                <a:ea typeface="+mn-ea"/>
                <a:cs typeface="Times New Roman" panose="02020603050405020304" pitchFamily="18" charset="0"/>
              </a:rPr>
              <a:t>eNodeBs</a:t>
            </a:r>
            <a:r>
              <a:rPr lang="en-US" sz="1200" dirty="0">
                <a:solidFill>
                  <a:srgbClr val="2F2F2F"/>
                </a:solidFill>
                <a:latin typeface="Times New Roman" panose="02020603050405020304" pitchFamily="18" charset="0"/>
                <a:ea typeface="+mn-ea"/>
                <a:cs typeface="Times New Roman" panose="02020603050405020304" pitchFamily="18" charset="0"/>
              </a:rPr>
              <a:t> and various user equipment (UEs). This simulation will mimic real-world conditions, allowing for comparative analysis of network performance under different configurations.</a:t>
            </a:r>
          </a:p>
        </p:txBody>
      </p:sp>
      <p:sp>
        <p:nvSpPr>
          <p:cNvPr id="14" name="AutoShape 14"/>
          <p:cNvSpPr/>
          <p:nvPr/>
        </p:nvSpPr>
        <p:spPr>
          <a:xfrm>
            <a:off x="5102785" y="2452816"/>
            <a:ext cx="2974333" cy="1975028"/>
          </a:xfrm>
          <a:prstGeom prst="rect">
            <a:avLst/>
          </a:prstGeom>
        </p:spPr>
        <p:txBody>
          <a:bodyPr vert="horz" wrap="square" lIns="68580" tIns="34290" rIns="68580" bIns="34290" anchor="t">
            <a:spAutoFit/>
          </a:bodyPr>
          <a:lstStyle/>
          <a:p>
            <a:pPr algn="just">
              <a:lnSpc>
                <a:spcPct val="150000"/>
              </a:lnSpc>
            </a:pPr>
            <a:r>
              <a:rPr lang="en-US" sz="1200" dirty="0">
                <a:solidFill>
                  <a:srgbClr val="2F2F2F"/>
                </a:solidFill>
                <a:latin typeface="Times New Roman" panose="02020603050405020304" pitchFamily="18" charset="0"/>
                <a:ea typeface="+mn-ea"/>
                <a:cs typeface="Times New Roman" panose="02020603050405020304" pitchFamily="18" charset="0"/>
              </a:rPr>
              <a:t>Mobility models play a critical role in simulating user movement and its effect on network dynamics. Various mobility patterns, such as random walk and fixed trajectory, will be utilized to assess the impact of mobility on handover scenarios and overall network performance.</a:t>
            </a:r>
          </a:p>
        </p:txBody>
      </p:sp>
    </p:spTree>
  </p:cSld>
  <p:clrMapOvr>
    <a:masterClrMapping/>
  </p:clrMapOvr>
  <p:transition spd="slow">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nodeType="afterEffect">
                                  <p:stCondLst>
                                    <p:cond delay="0"/>
                                  </p:stCondLst>
                                  <p:childTnLst>
                                    <p:animEffect transition="in" filter="blinds(vertical)">
                                      <p:cBhvr>
                                        <p:cTn id="6" dur="1000"/>
                                        <p:tgtEl>
                                          <p:spTgt spid="2"/>
                                        </p:tgtEl>
                                      </p:cBhvr>
                                    </p:animEffect>
                                    <p:set>
                                      <p:cBhvr>
                                        <p:cTn id="7" dur="1000" fill="hold">
                                          <p:stCondLst>
                                            <p:cond delay="0"/>
                                          </p:stCondLst>
                                        </p:cTn>
                                        <p:tgtEl>
                                          <p:spTgt spid="2"/>
                                        </p:tgtEl>
                                        <p:attrNameLst>
                                          <p:attrName>style.visibility</p:attrName>
                                        </p:attrNameLst>
                                      </p:cBhvr>
                                      <p:to>
                                        <p:strVal val="visible"/>
                                      </p:to>
                                    </p:set>
                                  </p:childTnLst>
                                </p:cTn>
                              </p:par>
                            </p:childTnLst>
                          </p:cTn>
                        </p:par>
                        <p:par>
                          <p:cTn id="8" fill="hold">
                            <p:stCondLst>
                              <p:cond delay="0"/>
                            </p:stCondLst>
                            <p:childTnLst>
                              <p:par>
                                <p:cTn id="9" presetID="1"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par>
                          <p:cTn id="11" fill="hold">
                            <p:stCondLst>
                              <p:cond delay="0"/>
                            </p:stCondLst>
                            <p:childTnLst>
                              <p:par>
                                <p:cTn id="12" presetID="40" presetClass="entr" presetSubtype="0" fill="hold" grpId="0" nodeType="afterEffect">
                                  <p:stCondLst>
                                    <p:cond delay="0"/>
                                  </p:stCondLst>
                                  <p:iterate type="lt">
                                    <p:tmPct val="10000"/>
                                  </p:iterate>
                                  <p:childTnLst>
                                    <p:anim calcmode="lin" valueType="num">
                                      <p:cBhvr>
                                        <p:cTn id="13" dur="1000" fill="hold"/>
                                        <p:tgtEl>
                                          <p:spTgt spid="4"/>
                                        </p:tgtEl>
                                        <p:attrNameLst>
                                          <p:attrName>ppt_x</p:attrName>
                                        </p:attrNameLst>
                                      </p:cBhvr>
                                      <p:tavLst>
                                        <p:tav tm="0">
                                          <p:val>
                                            <p:strVal val="#ppt_x-.1"/>
                                          </p:val>
                                        </p:tav>
                                        <p:tav tm="100000">
                                          <p:val>
                                            <p:strVal val="#ppt_x"/>
                                          </p:val>
                                        </p:tav>
                                      </p:tavLst>
                                    </p:anim>
                                    <p:anim calcmode="lin" valueType="num">
                                      <p:cBhvr>
                                        <p:cTn id="14" dur="1000" fill="hold"/>
                                        <p:tgtEl>
                                          <p:spTgt spid="4"/>
                                        </p:tgtEl>
                                        <p:attrNameLst>
                                          <p:attrName>ppt_y</p:attrName>
                                        </p:attrNameLst>
                                      </p:cBhvr>
                                      <p:tavLst>
                                        <p:tav tm="0">
                                          <p:val>
                                            <p:strVal val="#ppt_y"/>
                                          </p:val>
                                        </p:tav>
                                        <p:tav tm="100000">
                                          <p:val>
                                            <p:strVal val="#ppt_y"/>
                                          </p:val>
                                        </p:tav>
                                      </p:tavLst>
                                    </p:anim>
                                    <p:animEffect transition="in" filter="fade">
                                      <p:cBhvr>
                                        <p:cTn id="15" dur="1000"/>
                                        <p:tgtEl>
                                          <p:spTgt spid="4"/>
                                        </p:tgtEl>
                                      </p:cBhvr>
                                    </p:animEffect>
                                    <p:set>
                                      <p:cBhvr>
                                        <p:cTn id="16" dur="1" fill="hold">
                                          <p:stCondLst>
                                            <p:cond delay="0"/>
                                          </p:stCondLst>
                                        </p:cTn>
                                        <p:tgtEl>
                                          <p:spTgt spid="4"/>
                                        </p:tgtEl>
                                        <p:attrNameLst>
                                          <p:attrName>style.visibility</p:attrName>
                                        </p:attrNameLst>
                                      </p:cBhvr>
                                      <p:to>
                                        <p:strVal val="visible"/>
                                      </p:to>
                                    </p:set>
                                  </p:childTnLst>
                                </p:cTn>
                              </p:par>
                            </p:childTnLst>
                          </p:cTn>
                        </p:par>
                        <p:par>
                          <p:cTn id="17" fill="hold">
                            <p:stCondLst>
                              <p:cond delay="0"/>
                            </p:stCondLst>
                            <p:childTnLst>
                              <p:par>
                                <p:cTn id="18" presetID="47" presetClass="entr" presetSubtype="0" fill="hold" nodeType="afterEffect">
                                  <p:stCondLst>
                                    <p:cond delay="0"/>
                                  </p:stCondLst>
                                  <p:childTnLst>
                                    <p:anim calcmode="lin" valueType="num">
                                      <p:cBhvr>
                                        <p:cTn id="19" dur="1000" fill="hold"/>
                                        <p:tgtEl>
                                          <p:spTgt spid="13"/>
                                        </p:tgtEl>
                                        <p:attrNameLst>
                                          <p:attrName>ppt_x</p:attrName>
                                        </p:attrNameLst>
                                      </p:cBhvr>
                                      <p:tavLst>
                                        <p:tav tm="0">
                                          <p:val>
                                            <p:strVal val="#ppt_x"/>
                                          </p:val>
                                        </p:tav>
                                        <p:tav tm="100000">
                                          <p:val>
                                            <p:strVal val="#ppt_x"/>
                                          </p:val>
                                        </p:tav>
                                      </p:tavLst>
                                    </p:anim>
                                    <p:anim calcmode="lin" valueType="num">
                                      <p:cBhvr>
                                        <p:cTn id="20" dur="1000" fill="hold"/>
                                        <p:tgtEl>
                                          <p:spTgt spid="13"/>
                                        </p:tgtEl>
                                        <p:attrNameLst>
                                          <p:attrName>ppt_y</p:attrName>
                                        </p:attrNameLst>
                                      </p:cBhvr>
                                      <p:tavLst>
                                        <p:tav tm="0">
                                          <p:val>
                                            <p:strVal val="#ppt_y-.1"/>
                                          </p:val>
                                        </p:tav>
                                        <p:tav tm="100000">
                                          <p:val>
                                            <p:strVal val="#ppt_y"/>
                                          </p:val>
                                        </p:tav>
                                      </p:tavLst>
                                    </p:anim>
                                    <p:animEffect transition="in" filter="fade">
                                      <p:cBhvr>
                                        <p:cTn id="21" dur="1000"/>
                                        <p:tgtEl>
                                          <p:spTgt spid="13"/>
                                        </p:tgtEl>
                                      </p:cBhvr>
                                    </p:animEffect>
                                    <p:set>
                                      <p:cBhvr>
                                        <p:cTn id="22" dur="1" fill="hold">
                                          <p:stCondLst>
                                            <p:cond delay="0"/>
                                          </p:stCondLst>
                                        </p:cTn>
                                        <p:tgtEl>
                                          <p:spTgt spid="13"/>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par>
                          <p:cTn id="26" fill="hold">
                            <p:stCondLst>
                              <p:cond delay="0"/>
                            </p:stCondLst>
                            <p:childTnLst>
                              <p:par>
                                <p:cTn id="27" presetID="23" presetClass="entr" presetSubtype="288" fill="hold" nodeType="afterEffect">
                                  <p:stCondLst>
                                    <p:cond delay="0"/>
                                  </p:stCondLst>
                                  <p:childTnLst>
                                    <p:anim calcmode="lin" valueType="num">
                                      <p:cBhvr>
                                        <p:cTn id="28" dur="500" fill="hold"/>
                                        <p:tgtEl>
                                          <p:spTgt spid="9"/>
                                        </p:tgtEl>
                                        <p:attrNameLst>
                                          <p:attrName>ppt_w</p:attrName>
                                        </p:attrNameLst>
                                      </p:cBhvr>
                                      <p:tavLst>
                                        <p:tav tm="0">
                                          <p:val>
                                            <p:strVal val="4/3*#ppt_w"/>
                                          </p:val>
                                        </p:tav>
                                        <p:tav tm="100000">
                                          <p:val>
                                            <p:strVal val="#ppt_w"/>
                                          </p:val>
                                        </p:tav>
                                      </p:tavLst>
                                    </p:anim>
                                    <p:anim calcmode="lin" valueType="num">
                                      <p:cBhvr>
                                        <p:cTn id="29" dur="500" fill="hold"/>
                                        <p:tgtEl>
                                          <p:spTgt spid="9"/>
                                        </p:tgtEl>
                                        <p:attrNameLst>
                                          <p:attrName>ppt_h</p:attrName>
                                        </p:attrNameLst>
                                      </p:cBhvr>
                                      <p:tavLst>
                                        <p:tav tm="0">
                                          <p:val>
                                            <p:strVal val="4/3*#ppt_h"/>
                                          </p:val>
                                        </p:tav>
                                        <p:tav tm="100000">
                                          <p:val>
                                            <p:strVal val="#ppt_h"/>
                                          </p:val>
                                        </p:tav>
                                      </p:tavLst>
                                    </p:anim>
                                    <p:set>
                                      <p:cBhvr>
                                        <p:cTn id="30" dur="500" fill="hold">
                                          <p:stCondLst>
                                            <p:cond delay="0"/>
                                          </p:stCondLst>
                                        </p:cTn>
                                        <p:tgtEl>
                                          <p:spTgt spid="9"/>
                                        </p:tgtEl>
                                        <p:attrNameLst>
                                          <p:attrName>style.visibility</p:attrName>
                                        </p:attrNameLst>
                                      </p:cBhvr>
                                      <p:to>
                                        <p:strVal val="visible"/>
                                      </p:to>
                                    </p:set>
                                  </p:childTnLst>
                                </p:cTn>
                              </p:par>
                            </p:childTnLst>
                          </p:cTn>
                        </p:par>
                        <p:par>
                          <p:cTn id="31" fill="hold">
                            <p:stCondLst>
                              <p:cond delay="0"/>
                            </p:stCondLst>
                            <p:childTnLst>
                              <p:par>
                                <p:cTn id="32" presetID="13" presetClass="entr" presetSubtype="32" fill="hold" nodeType="afterEffect">
                                  <p:stCondLst>
                                    <p:cond delay="0"/>
                                  </p:stCondLst>
                                  <p:childTnLst>
                                    <p:animEffect transition="in" filter="plus(out)">
                                      <p:cBhvr>
                                        <p:cTn id="33" dur="1000"/>
                                        <p:tgtEl>
                                          <p:spTgt spid="14"/>
                                        </p:tgtEl>
                                      </p:cBhvr>
                                    </p:animEffect>
                                    <p:set>
                                      <p:cBhvr>
                                        <p:cTn id="34" dur="1000"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a:xfrm>
            <a:off x="391725" y="472293"/>
            <a:ext cx="8520600" cy="572700"/>
          </a:xfrm>
        </p:spPr>
        <p:txBody>
          <a:bodyPr spcFirstLastPara="1" vert="horz" wrap="square" lIns="68580" tIns="34290" rIns="68580" bIns="34290" anchor="b" anchorCtr="0">
            <a:normAutofit/>
          </a:bodyPr>
          <a:lstStyle/>
          <a:p>
            <a:pPr algn="ctr">
              <a:lnSpc>
                <a:spcPct val="90000"/>
              </a:lnSpc>
              <a:spcBef>
                <a:spcPct val="0"/>
              </a:spcBef>
            </a:pPr>
            <a:r>
              <a:rPr lang="zh-CN" altLang="en-US" sz="2100" b="1" dirty="0">
                <a:solidFill>
                  <a:srgbClr val="2F2F2F"/>
                </a:solidFill>
                <a:latin typeface="微软雅黑"/>
                <a:ea typeface="微软雅黑"/>
              </a:rPr>
              <a:t>RIC and ML Model Integration</a:t>
            </a:r>
          </a:p>
        </p:txBody>
      </p:sp>
      <p:sp>
        <p:nvSpPr>
          <p:cNvPr id="3" name="AutoShape 3"/>
          <p:cNvSpPr/>
          <p:nvPr/>
        </p:nvSpPr>
        <p:spPr>
          <a:xfrm>
            <a:off x="495300" y="1665786"/>
            <a:ext cx="5355581" cy="1307000"/>
          </a:xfrm>
          <a:prstGeom prst="roundRect">
            <a:avLst>
              <a:gd name="adj" fmla="val 8000"/>
            </a:avLst>
          </a:prstGeom>
          <a:solidFill>
            <a:srgbClr val="778495">
              <a:alpha val="15000"/>
            </a:srgbClr>
          </a:solidFill>
          <a:ln cap="flat">
            <a:noFill/>
            <a:prstDash val="solid"/>
            <a:miter lim="800000"/>
          </a:ln>
        </p:spPr>
        <p:txBody>
          <a:bodyPr vert="horz" lIns="68580" tIns="34290" rIns="68580" bIns="34290" anchor="ctr">
            <a:noAutofit/>
          </a:bodyPr>
          <a:lstStyle/>
          <a:p>
            <a:pPr>
              <a:lnSpc>
                <a:spcPct val="130000"/>
              </a:lnSpc>
            </a:pPr>
            <a:r>
              <a:rPr lang="en-US" sz="1050">
                <a:solidFill>
                  <a:srgbClr val="2F2F2F"/>
                </a:solidFill>
                <a:latin typeface="+mn-ea"/>
                <a:ea typeface="+mn-ea"/>
              </a:rPr>
              <a:t>The simulation incorporates decision-making processes powered by integrated ML algorithms, generating insights that enable proactive resource management. The Near-RT RIC uses these decisions to ensure efficient handovers and adapt to changing network conditions.</a:t>
            </a:r>
          </a:p>
        </p:txBody>
      </p:sp>
      <p:sp>
        <p:nvSpPr>
          <p:cNvPr id="4" name="AutoShape 4"/>
          <p:cNvSpPr/>
          <p:nvPr/>
        </p:nvSpPr>
        <p:spPr>
          <a:xfrm>
            <a:off x="701225" y="1365782"/>
            <a:ext cx="3028176" cy="458173"/>
          </a:xfrm>
          <a:prstGeom prst="roundRect">
            <a:avLst/>
          </a:prstGeom>
          <a:solidFill>
            <a:schemeClr val="accent1"/>
          </a:solidFill>
          <a:ln>
            <a:noFill/>
          </a:ln>
        </p:spPr>
        <p:txBody>
          <a:bodyPr vert="horz" wrap="square" lIns="68580" tIns="34290" rIns="68580" bIns="34290" anchor="ctr">
            <a:noAutofit/>
          </a:bodyPr>
          <a:lstStyle/>
          <a:p>
            <a:pPr algn="ctr"/>
            <a:r>
              <a:rPr lang="en-US" sz="1200" b="1">
                <a:solidFill>
                  <a:schemeClr val="lt1"/>
                </a:solidFill>
                <a:latin typeface="+mn-ea"/>
                <a:ea typeface="+mn-ea"/>
              </a:rPr>
              <a:t>Decision-Making Processes</a:t>
            </a:r>
          </a:p>
        </p:txBody>
      </p:sp>
      <p:sp>
        <p:nvSpPr>
          <p:cNvPr id="5" name="AutoShape 5"/>
          <p:cNvSpPr/>
          <p:nvPr/>
        </p:nvSpPr>
        <p:spPr>
          <a:xfrm>
            <a:off x="495301" y="3293575"/>
            <a:ext cx="5355581" cy="1307000"/>
          </a:xfrm>
          <a:prstGeom prst="roundRect">
            <a:avLst>
              <a:gd name="adj" fmla="val 8000"/>
            </a:avLst>
          </a:prstGeom>
          <a:solidFill>
            <a:srgbClr val="778495">
              <a:alpha val="15000"/>
            </a:srgbClr>
          </a:solidFill>
          <a:ln cap="flat">
            <a:noFill/>
            <a:prstDash val="solid"/>
            <a:miter lim="800000"/>
          </a:ln>
        </p:spPr>
        <p:txBody>
          <a:bodyPr vert="horz" lIns="68580" tIns="34290" rIns="68580" bIns="34290" anchor="ctr">
            <a:noAutofit/>
          </a:bodyPr>
          <a:lstStyle/>
          <a:p>
            <a:pPr>
              <a:lnSpc>
                <a:spcPct val="130000"/>
              </a:lnSpc>
            </a:pPr>
            <a:r>
              <a:rPr lang="en-US" sz="1050">
                <a:solidFill>
                  <a:srgbClr val="2F2F2F"/>
                </a:solidFill>
                <a:latin typeface="+mn-ea"/>
                <a:ea typeface="+mn-ea"/>
              </a:rPr>
              <a:t>A key aspect of the simulation will be the reporting mechanisms that relay metrics back to the RIC. Based on these reports, the system will issue handover commands and other control actions to optimize resource allocation and enhance user experience.</a:t>
            </a:r>
          </a:p>
        </p:txBody>
      </p:sp>
      <p:sp>
        <p:nvSpPr>
          <p:cNvPr id="6" name="AutoShape 6"/>
          <p:cNvSpPr/>
          <p:nvPr/>
        </p:nvSpPr>
        <p:spPr>
          <a:xfrm>
            <a:off x="701225" y="3114622"/>
            <a:ext cx="3028176" cy="458171"/>
          </a:xfrm>
          <a:prstGeom prst="roundRect">
            <a:avLst/>
          </a:prstGeom>
          <a:solidFill>
            <a:schemeClr val="accent1"/>
          </a:solidFill>
          <a:ln>
            <a:noFill/>
          </a:ln>
        </p:spPr>
        <p:txBody>
          <a:bodyPr vert="horz" wrap="square" lIns="68580" tIns="34290" rIns="68580" bIns="34290" anchor="ctr">
            <a:noAutofit/>
          </a:bodyPr>
          <a:lstStyle/>
          <a:p>
            <a:pPr algn="ctr"/>
            <a:r>
              <a:rPr lang="en-US" sz="1200" b="1">
                <a:solidFill>
                  <a:schemeClr val="lt1"/>
                </a:solidFill>
                <a:latin typeface="+mn-ea"/>
                <a:ea typeface="+mn-ea"/>
              </a:rPr>
              <a:t>Reporting and Handover Commands</a:t>
            </a:r>
          </a:p>
        </p:txBody>
      </p:sp>
    </p:spTree>
  </p:cSld>
  <p:clrMapOvr>
    <a:masterClrMapping/>
  </p:clrMapOvr>
  <p:transition spd="med">
    <p:newsfla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8" fill="hold" nodeType="afterEffect">
                                  <p:stCondLst>
                                    <p:cond delay="0"/>
                                  </p:stCondLst>
                                  <p:childTnLst>
                                    <p:animEffect transition="in" filter="wheel(8)">
                                      <p:cBhvr>
                                        <p:cTn id="6" dur="1000"/>
                                        <p:tgtEl>
                                          <p:spTgt spid="2"/>
                                        </p:tgtEl>
                                      </p:cBhvr>
                                    </p:animEffect>
                                    <p:set>
                                      <p:cBhvr>
                                        <p:cTn id="7" dur="1000" fill="hold">
                                          <p:stCondLst>
                                            <p:cond delay="0"/>
                                          </p:stCondLst>
                                        </p:cTn>
                                        <p:tgtEl>
                                          <p:spTgt spid="2"/>
                                        </p:tgtEl>
                                        <p:attrNameLst>
                                          <p:attrName>style.visibility</p:attrName>
                                        </p:attrNameLst>
                                      </p:cBhvr>
                                      <p:to>
                                        <p:strVal val="visible"/>
                                      </p:to>
                                    </p:set>
                                  </p:childTnLst>
                                </p:cTn>
                              </p:par>
                            </p:childTnLst>
                          </p:cTn>
                        </p:par>
                        <p:par>
                          <p:cTn id="8" fill="hold">
                            <p:stCondLst>
                              <p:cond delay="0"/>
                            </p:stCondLst>
                            <p:childTnLst>
                              <p:par>
                                <p:cTn id="9" presetID="18" presetClass="entr" presetSubtype="12" fill="hold" nodeType="afterEffect">
                                  <p:stCondLst>
                                    <p:cond delay="0"/>
                                  </p:stCondLst>
                                  <p:childTnLst>
                                    <p:animEffect transition="in" filter="strips(downLeft)">
                                      <p:cBhvr>
                                        <p:cTn id="10" dur="500"/>
                                        <p:tgtEl>
                                          <p:spTgt spid="4"/>
                                        </p:tgtEl>
                                      </p:cBhvr>
                                    </p:animEffect>
                                    <p:set>
                                      <p:cBhvr>
                                        <p:cTn id="11" dur="500" fill="hold">
                                          <p:stCondLst>
                                            <p:cond delay="0"/>
                                          </p:stCondLst>
                                        </p:cTn>
                                        <p:tgtEl>
                                          <p:spTgt spid="4"/>
                                        </p:tgtEl>
                                        <p:attrNameLst>
                                          <p:attrName>style.visibility</p:attrName>
                                        </p:attrNameLst>
                                      </p:cBhvr>
                                      <p:to>
                                        <p:strVal val="visible"/>
                                      </p:to>
                                    </p:set>
                                  </p:childTnLst>
                                </p:cTn>
                              </p:par>
                            </p:childTnLst>
                          </p:cTn>
                        </p:par>
                        <p:par>
                          <p:cTn id="12" fill="hold">
                            <p:stCondLst>
                              <p:cond delay="0"/>
                            </p:stCondLst>
                            <p:childTnLst>
                              <p:par>
                                <p:cTn id="13" presetID="38" presetClass="entr" presetSubtype="0" fill="hold" grpId="0" nodeType="afterEffect">
                                  <p:stCondLst>
                                    <p:cond delay="0"/>
                                  </p:stCondLst>
                                  <p:iterate type="lt">
                                    <p:tmPct val="30000"/>
                                  </p:iterate>
                                  <p:childTnLst>
                                    <p:anim calcmode="lin" valueType="num">
                                      <p:cBhvr>
                                        <p:cTn id="14" dur="455" fill="hold">
                                          <p:stCondLst>
                                            <p:cond delay="455"/>
                                          </p:stCondLst>
                                        </p:cTn>
                                        <p:tgtEl>
                                          <p:spTgt spid="3"/>
                                        </p:tgtEl>
                                        <p:attrNameLst>
                                          <p:attrName>style.rotation</p:attrName>
                                        </p:attrNameLst>
                                      </p:cBhvr>
                                      <p:tavLst>
                                        <p:tav tm="0">
                                          <p:val>
                                            <p:fltVal val="-45"/>
                                          </p:val>
                                        </p:tav>
                                        <p:tav tm="69900">
                                          <p:val>
                                            <p:fltVal val="45"/>
                                          </p:val>
                                        </p:tav>
                                        <p:tav tm="100000">
                                          <p:val>
                                            <p:fltVal val="0"/>
                                          </p:val>
                                        </p:tav>
                                      </p:tavLst>
                                    </p:anim>
                                    <p:anim calcmode="lin" valueType="num">
                                      <p:cBhvr>
                                        <p:cTn id="15" dur="455" fill="hold">
                                          <p:stCondLst>
                                            <p:cond delay="0"/>
                                          </p:stCondLst>
                                        </p:cTn>
                                        <p:tgtEl>
                                          <p:spTgt spid="3"/>
                                        </p:tgtEl>
                                        <p:attrNameLst>
                                          <p:attrName>ppt_y</p:attrName>
                                        </p:attrNameLst>
                                      </p:cBhvr>
                                      <p:tavLst>
                                        <p:tav tm="0">
                                          <p:val>
                                            <p:strVal val="#ppt_y-1"/>
                                          </p:val>
                                        </p:tav>
                                        <p:tav tm="100000">
                                          <p:val>
                                            <p:strVal val="#ppt_y-(0.354*#ppt_w-0.172*#ppt_h)"/>
                                          </p:val>
                                        </p:tav>
                                      </p:tavLst>
                                    </p:anim>
                                    <p:anim calcmode="lin" valueType="num">
                                      <p:cBhvr>
                                        <p:cTn id="16" dur="156" decel="50000" autoRev="1" fill="hold">
                                          <p:stCondLst>
                                            <p:cond delay="455"/>
                                          </p:stCondLst>
                                        </p:cTn>
                                        <p:tgtEl>
                                          <p:spTgt spid="3"/>
                                        </p:tgtEl>
                                        <p:attrNameLst>
                                          <p:attrName>ppt_y</p:attrName>
                                        </p:attrNameLst>
                                      </p:cBhvr>
                                      <p:tavLst>
                                        <p:tav tm="0">
                                          <p:val>
                                            <p:strVal val="#ppt_y-(0.354*#ppt_w-0.172*#ppt_h)"/>
                                          </p:val>
                                        </p:tav>
                                        <p:tav tm="100000">
                                          <p:val>
                                            <p:strVal val="#ppt_y-(0.354*#ppt_w-0.172*#ppt_h)-#ppt_h/2"/>
                                          </p:val>
                                        </p:tav>
                                      </p:tavLst>
                                    </p:anim>
                                    <p:anim calcmode="lin" valueType="num">
                                      <p:cBhvr>
                                        <p:cTn id="17" dur="136" fill="hold">
                                          <p:stCondLst>
                                            <p:cond delay="864"/>
                                          </p:stCondLst>
                                        </p:cTn>
                                        <p:tgtEl>
                                          <p:spTgt spid="3"/>
                                        </p:tgtEl>
                                        <p:attrNameLst>
                                          <p:attrName>ppt_y</p:attrName>
                                        </p:attrNameLst>
                                      </p:cBhvr>
                                      <p:tavLst>
                                        <p:tav tm="0">
                                          <p:val>
                                            <p:strVal val="#ppt_y-(0.354*#ppt_w-0.172*#ppt_h)"/>
                                          </p:val>
                                        </p:tav>
                                        <p:tav tm="100000">
                                          <p:val>
                                            <p:strVal val="#ppt_y"/>
                                          </p:val>
                                        </p:tav>
                                      </p:tavLst>
                                    </p:anim>
                                    <p:set>
                                      <p:cBhvr>
                                        <p:cTn id="18" dur="1" fill="hold">
                                          <p:stCondLst>
                                            <p:cond delay="0"/>
                                          </p:stCondLst>
                                        </p:cTn>
                                        <p:tgtEl>
                                          <p:spTgt spid="3"/>
                                        </p:tgtEl>
                                        <p:attrNameLst>
                                          <p:attrName>style.visibility</p:attrName>
                                        </p:attrNameLst>
                                      </p:cBhvr>
                                      <p:to>
                                        <p:strVal val="visible"/>
                                      </p:to>
                                    </p:set>
                                    <p:set>
                                      <p:cBhvr>
                                        <p:cTn id="19" dur="455" fill="hold">
                                          <p:stCondLst>
                                            <p:cond delay="0"/>
                                          </p:stCondLst>
                                        </p:cTn>
                                        <p:tgtEl>
                                          <p:spTgt spid="3"/>
                                        </p:tgtEl>
                                        <p:attrNameLst>
                                          <p:attrName>style.rotation</p:attrName>
                                        </p:attrNameLst>
                                      </p:cBhvr>
                                      <p:to>
                                        <p:strVal val="-45.0"/>
                                      </p:to>
                                    </p:set>
                                  </p:childTnLst>
                                </p:cTn>
                              </p:par>
                            </p:childTnLst>
                          </p:cTn>
                        </p:par>
                        <p:par>
                          <p:cTn id="20" fill="hold">
                            <p:stCondLst>
                              <p:cond delay="0"/>
                            </p:stCondLst>
                            <p:childTnLst>
                              <p:par>
                                <p:cTn id="21" presetID="2" presetClass="entr" presetSubtype="8" fill="hold" nodeType="afterEffect">
                                  <p:stCondLst>
                                    <p:cond delay="0"/>
                                  </p:stCondLst>
                                  <p:childTnLst>
                                    <p:anim calcmode="lin" valueType="num">
                                      <p:cBhvr additive="base">
                                        <p:cTn id="22" dur="1000" fill="hold"/>
                                        <p:tgtEl>
                                          <p:spTgt spid="6"/>
                                        </p:tgtEl>
                                        <p:attrNameLst>
                                          <p:attrName>ppt_x</p:attrName>
                                        </p:attrNameLst>
                                      </p:cBhvr>
                                      <p:tavLst>
                                        <p:tav tm="0">
                                          <p:val>
                                            <p:strVal val="0-#ppt_w/2"/>
                                          </p:val>
                                        </p:tav>
                                        <p:tav tm="100000">
                                          <p:val>
                                            <p:strVal val="#ppt_x"/>
                                          </p:val>
                                        </p:tav>
                                      </p:tavLst>
                                    </p:anim>
                                    <p:anim calcmode="lin" valueType="num">
                                      <p:cBhvr additive="base">
                                        <p:cTn id="23" dur="1000" fill="hold"/>
                                        <p:tgtEl>
                                          <p:spTgt spid="6"/>
                                        </p:tgtEl>
                                        <p:attrNameLst>
                                          <p:attrName>ppt_y</p:attrName>
                                        </p:attrNameLst>
                                      </p:cBhvr>
                                      <p:tavLst>
                                        <p:tav tm="0">
                                          <p:val>
                                            <p:strVal val="#ppt_y"/>
                                          </p:val>
                                        </p:tav>
                                        <p:tav tm="100000">
                                          <p:val>
                                            <p:strVal val="#ppt_y"/>
                                          </p:val>
                                        </p:tav>
                                      </p:tavLst>
                                    </p:anim>
                                    <p:set>
                                      <p:cBhvr>
                                        <p:cTn id="24" dur="1000" fill="hold">
                                          <p:stCondLst>
                                            <p:cond delay="0"/>
                                          </p:stCondLst>
                                        </p:cTn>
                                        <p:tgtEl>
                                          <p:spTgt spid="6"/>
                                        </p:tgtEl>
                                        <p:attrNameLst>
                                          <p:attrName>style.visibility</p:attrName>
                                        </p:attrNameLst>
                                      </p:cBhvr>
                                      <p:to>
                                        <p:strVal val="visible"/>
                                      </p:to>
                                    </p:set>
                                  </p:childTnLst>
                                </p:cTn>
                              </p:par>
                            </p:childTnLst>
                          </p:cTn>
                        </p:par>
                        <p:par>
                          <p:cTn id="25" fill="hold">
                            <p:stCondLst>
                              <p:cond delay="0"/>
                            </p:stCondLst>
                            <p:childTnLst>
                              <p:par>
                                <p:cTn id="26" presetID="21" presetClass="entr" presetSubtype="2" fill="hold" nodeType="afterEffect">
                                  <p:stCondLst>
                                    <p:cond delay="0"/>
                                  </p:stCondLst>
                                  <p:childTnLst>
                                    <p:animEffect transition="in" filter="wheel(2)">
                                      <p:cBhvr>
                                        <p:cTn id="27" dur="1000"/>
                                        <p:tgtEl>
                                          <p:spTgt spid="5"/>
                                        </p:tgtEl>
                                      </p:cBhvr>
                                    </p:animEffect>
                                    <p:set>
                                      <p:cBhvr>
                                        <p:cTn id="28" dur="1000"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a:xfrm>
            <a:off x="687133" y="2611177"/>
            <a:ext cx="4775288" cy="360098"/>
          </a:xfrm>
        </p:spPr>
        <p:txBody>
          <a:bodyPr spcFirstLastPara="1" vert="horz" wrap="square" lIns="68580" tIns="34290" rIns="68580" bIns="34290" anchor="t" anchorCtr="0">
            <a:normAutofit/>
          </a:bodyPr>
          <a:lstStyle/>
          <a:p>
            <a:pPr algn="l">
              <a:lnSpc>
                <a:spcPct val="90000"/>
              </a:lnSpc>
              <a:spcBef>
                <a:spcPct val="0"/>
              </a:spcBef>
            </a:pPr>
            <a:r>
              <a:rPr lang="zh-CN" altLang="en-US" sz="1917" b="1">
                <a:solidFill>
                  <a:srgbClr val="2F2F2F"/>
                </a:solidFill>
                <a:latin typeface="微软雅黑"/>
                <a:ea typeface="微软雅黑"/>
              </a:rPr>
              <a:t>Results and Performance Analysis</a:t>
            </a:r>
          </a:p>
        </p:txBody>
      </p:sp>
      <p:sp>
        <p:nvSpPr>
          <p:cNvPr id="3" name="TextBox 3"/>
          <p:cNvSpPr txBox="1"/>
          <p:nvPr/>
        </p:nvSpPr>
        <p:spPr>
          <a:xfrm>
            <a:off x="759513" y="1439471"/>
            <a:ext cx="160238" cy="925365"/>
          </a:xfrm>
          <a:prstGeom prst="rect">
            <a:avLst/>
          </a:prstGeom>
          <a:noFill/>
          <a:ln>
            <a:noFill/>
          </a:ln>
        </p:spPr>
        <p:txBody>
          <a:bodyPr vert="horz" wrap="none" lIns="68580" tIns="34290" rIns="68580" bIns="34290" numCol="1" rtlCol="0" anchor="t">
            <a:prstTxWarp prst="textPlain">
              <a:avLst/>
            </a:prstTxWarp>
            <a:spAutoFit/>
          </a:bodyPr>
          <a:lstStyle/>
          <a:p>
            <a:pPr>
              <a:defRPr/>
            </a:pPr>
            <a:r>
              <a:rPr lang="en-US" sz="1350" spc="75">
                <a:solidFill>
                  <a:schemeClr val="accent1"/>
                </a:solidFill>
                <a:latin typeface="Impact"/>
                <a:ea typeface="Impact"/>
              </a:rPr>
              <a:t>/</a:t>
            </a:r>
            <a:endParaRPr lang="en-US" sz="825"/>
          </a:p>
        </p:txBody>
      </p:sp>
      <p:sp>
        <p:nvSpPr>
          <p:cNvPr id="4" name="TextBox 4"/>
          <p:cNvSpPr txBox="1"/>
          <p:nvPr/>
        </p:nvSpPr>
        <p:spPr>
          <a:xfrm>
            <a:off x="930205" y="1313531"/>
            <a:ext cx="1248689" cy="1177245"/>
          </a:xfrm>
          <a:prstGeom prst="rect">
            <a:avLst/>
          </a:prstGeom>
          <a:noFill/>
        </p:spPr>
        <p:txBody>
          <a:bodyPr vert="horz" wrap="square" lIns="68580" tIns="34290" rIns="68580" bIns="34290" rtlCol="0" anchor="t">
            <a:spAutoFit/>
          </a:bodyPr>
          <a:lstStyle/>
          <a:p>
            <a:pPr>
              <a:defRPr/>
            </a:pPr>
            <a:r>
              <a:rPr lang="en-US" sz="7200" spc="75">
                <a:solidFill>
                  <a:schemeClr val="accent1"/>
                </a:solidFill>
                <a:latin typeface="Impact"/>
                <a:ea typeface="Impact"/>
              </a:rPr>
              <a:t>05</a:t>
            </a:r>
            <a:endParaRPr lang="en-US" sz="825"/>
          </a:p>
        </p:txBody>
      </p:sp>
    </p:spTree>
  </p:cSld>
  <p:clrMapOvr>
    <a:masterClrMapping/>
  </p:clrMapOvr>
  <p:transition spd="slow">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anim calcmode="lin" valueType="num">
                                      <p:cBhvr>
                                        <p:cTn id="6" dur="1000" fill="hold"/>
                                        <p:tgtEl>
                                          <p:spTgt spid="4"/>
                                        </p:tgtEl>
                                        <p:attrNameLst>
                                          <p:attrName>ppt_w</p:attrName>
                                        </p:attrNameLst>
                                      </p:cBhvr>
                                      <p:tavLst>
                                        <p:tav tm="0">
                                          <p:val>
                                            <p:fltVal val="0"/>
                                          </p:val>
                                        </p:tav>
                                        <p:tav tm="100000">
                                          <p:val>
                                            <p:strVal val="#ppt_w"/>
                                          </p:val>
                                        </p:tav>
                                      </p:tavLst>
                                    </p:anim>
                                    <p:anim calcmode="lin" valueType="num">
                                      <p:cBhvr>
                                        <p:cTn id="7" dur="1000" fill="hold"/>
                                        <p:tgtEl>
                                          <p:spTgt spid="4"/>
                                        </p:tgtEl>
                                        <p:attrNameLst>
                                          <p:attrName>ppt_h</p:attrName>
                                        </p:attrNameLst>
                                      </p:cBhvr>
                                      <p:tavLst>
                                        <p:tav tm="0">
                                          <p:val>
                                            <p:fltVal val="0"/>
                                          </p:val>
                                        </p:tav>
                                        <p:tav tm="100000">
                                          <p:val>
                                            <p:strVal val="#ppt_h"/>
                                          </p:val>
                                        </p:tav>
                                      </p:tavLst>
                                    </p:anim>
                                    <p:animEffect transition="in" filter="fade">
                                      <p:cBhvr>
                                        <p:cTn id="8" dur="1000"/>
                                        <p:tgtEl>
                                          <p:spTgt spid="4"/>
                                        </p:tgtEl>
                                      </p:cBhvr>
                                    </p:animEffect>
                                    <p:set>
                                      <p:cBhvr>
                                        <p:cTn id="9" dur="1000" fill="hold">
                                          <p:stCondLst>
                                            <p:cond delay="0"/>
                                          </p:stCondLst>
                                        </p:cTn>
                                        <p:tgtEl>
                                          <p:spTgt spid="4"/>
                                        </p:tgtEl>
                                        <p:attrNameLst>
                                          <p:attrName>style.visibility</p:attrName>
                                        </p:attrNameLst>
                                      </p:cBhvr>
                                      <p:to>
                                        <p:strVal val="visible"/>
                                      </p:to>
                                    </p:set>
                                  </p:childTnLst>
                                </p:cTn>
                              </p:par>
                            </p:childTnLst>
                          </p:cTn>
                        </p:par>
                        <p:par>
                          <p:cTn id="10" fill="hold">
                            <p:stCondLst>
                              <p:cond delay="0"/>
                            </p:stCondLst>
                            <p:childTnLst>
                              <p:par>
                                <p:cTn id="11" presetID="14" presetClass="entr" presetSubtype="5" fill="hold" nodeType="afterEffect">
                                  <p:stCondLst>
                                    <p:cond delay="0"/>
                                  </p:stCondLst>
                                  <p:childTnLst>
                                    <p:animEffect transition="in" filter="randombar(vertical)">
                                      <p:cBhvr>
                                        <p:cTn id="12" dur="1000"/>
                                        <p:tgtEl>
                                          <p:spTgt spid="2"/>
                                        </p:tgtEl>
                                      </p:cBhvr>
                                    </p:animEffect>
                                    <p:set>
                                      <p:cBhvr>
                                        <p:cTn id="13" dur="1000"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a:xfrm>
            <a:off x="297070" y="166228"/>
            <a:ext cx="8520600" cy="572700"/>
          </a:xfrm>
        </p:spPr>
        <p:txBody>
          <a:bodyPr spcFirstLastPara="1" vert="horz" wrap="square" lIns="68580" tIns="34290" rIns="68580" bIns="34290" anchor="b" anchorCtr="0">
            <a:normAutofit/>
          </a:bodyPr>
          <a:lstStyle/>
          <a:p>
            <a:pPr algn="ctr">
              <a:lnSpc>
                <a:spcPct val="90000"/>
              </a:lnSpc>
              <a:spcBef>
                <a:spcPct val="0"/>
              </a:spcBef>
            </a:pPr>
            <a:r>
              <a:rPr lang="zh-CN" altLang="en-US" sz="2100" b="1" dirty="0">
                <a:solidFill>
                  <a:srgbClr val="2F2F2F"/>
                </a:solidFill>
                <a:latin typeface="微软雅黑"/>
                <a:ea typeface="微软雅黑"/>
              </a:rPr>
              <a:t>Collected Metrics</a:t>
            </a:r>
          </a:p>
        </p:txBody>
      </p:sp>
      <p:sp>
        <p:nvSpPr>
          <p:cNvPr id="3" name="AutoShape 3"/>
          <p:cNvSpPr/>
          <p:nvPr/>
        </p:nvSpPr>
        <p:spPr>
          <a:xfrm>
            <a:off x="5769003" y="1812106"/>
            <a:ext cx="2870173" cy="2788469"/>
          </a:xfrm>
          <a:prstGeom prst="roundRect">
            <a:avLst>
              <a:gd name="adj" fmla="val 8927"/>
            </a:avLst>
          </a:prstGeom>
          <a:solidFill>
            <a:schemeClr val="accent1"/>
          </a:solidFill>
          <a:ln>
            <a:noFill/>
          </a:ln>
        </p:spPr>
        <p:txBody>
          <a:bodyPr vert="horz" lIns="68580" tIns="34290" rIns="68580" bIns="34290" anchor="ctr">
            <a:normAutofit/>
          </a:bodyPr>
          <a:lstStyle/>
          <a:p>
            <a:pPr algn="ctr"/>
            <a:endParaRPr sz="1050"/>
          </a:p>
        </p:txBody>
      </p:sp>
      <p:sp>
        <p:nvSpPr>
          <p:cNvPr id="4" name="AutoShape 4"/>
          <p:cNvSpPr/>
          <p:nvPr/>
        </p:nvSpPr>
        <p:spPr>
          <a:xfrm>
            <a:off x="5181492" y="1215361"/>
            <a:ext cx="3261702" cy="3125192"/>
          </a:xfrm>
          <a:prstGeom prst="roundRect">
            <a:avLst>
              <a:gd name="adj" fmla="val 8000"/>
            </a:avLst>
          </a:prstGeom>
          <a:blipFill>
            <a:blip r:embed="rId2"/>
            <a:srcRect/>
            <a:stretch>
              <a:fillRect l="-13967" r="-13885"/>
            </a:stretch>
          </a:blipFill>
          <a:ln cap="flat" cmpd="sng">
            <a:noFill/>
            <a:prstDash val="solid"/>
            <a:miter lim="800000"/>
          </a:ln>
          <a:effectLst/>
        </p:spPr>
        <p:txBody>
          <a:bodyPr rot="0" vert="horz" wrap="square" lIns="68580" tIns="34290" rIns="68580" bIns="34290" anchor="ctr">
            <a:prstTxWarp prst="textNoShape">
              <a:avLst/>
            </a:prstTxWarp>
            <a:noAutofit/>
          </a:bodyPr>
          <a:lstStyle/>
          <a:p>
            <a:pPr algn="ctr"/>
            <a:endParaRPr sz="1050"/>
          </a:p>
        </p:txBody>
      </p:sp>
      <p:sp>
        <p:nvSpPr>
          <p:cNvPr id="5" name="AutoShape 5"/>
          <p:cNvSpPr/>
          <p:nvPr/>
        </p:nvSpPr>
        <p:spPr>
          <a:xfrm>
            <a:off x="551037" y="2815139"/>
            <a:ext cx="4006333" cy="419279"/>
          </a:xfrm>
          <a:prstGeom prst="roundRect">
            <a:avLst>
              <a:gd name="adj" fmla="val 16000"/>
            </a:avLst>
          </a:prstGeom>
          <a:solidFill>
            <a:schemeClr val="accent1"/>
          </a:solidFill>
          <a:ln>
            <a:noFill/>
          </a:ln>
        </p:spPr>
        <p:txBody>
          <a:bodyPr vert="horz" wrap="square" lIns="68580" tIns="34290" rIns="68580" bIns="34290" anchor="ctr">
            <a:noAutofit/>
          </a:bodyPr>
          <a:lstStyle/>
          <a:p>
            <a:r>
              <a:rPr lang="en-US" sz="1200" b="1">
                <a:solidFill>
                  <a:schemeClr val="lt1"/>
                </a:solidFill>
                <a:latin typeface="+mn-ea"/>
                <a:ea typeface="+mn-ea"/>
              </a:rPr>
              <a:t>Latency in Decision-Making</a:t>
            </a:r>
          </a:p>
        </p:txBody>
      </p:sp>
      <p:sp>
        <p:nvSpPr>
          <p:cNvPr id="6" name="AutoShape 6"/>
          <p:cNvSpPr/>
          <p:nvPr/>
        </p:nvSpPr>
        <p:spPr>
          <a:xfrm>
            <a:off x="500095" y="3296656"/>
            <a:ext cx="4062380" cy="1005532"/>
          </a:xfrm>
          <a:prstGeom prst="rect">
            <a:avLst/>
          </a:prstGeom>
          <a:noFill/>
          <a:ln>
            <a:noFill/>
          </a:ln>
        </p:spPr>
        <p:txBody>
          <a:bodyPr vert="horz" wrap="square" lIns="68580" tIns="34290" rIns="68580" bIns="34290" anchor="t">
            <a:spAutoFit/>
          </a:bodyPr>
          <a:lstStyle/>
          <a:p>
            <a:pPr algn="just">
              <a:lnSpc>
                <a:spcPct val="130000"/>
              </a:lnSpc>
            </a:pPr>
            <a:r>
              <a:rPr lang="en-US" sz="1200">
                <a:solidFill>
                  <a:srgbClr val="2F2F2F"/>
                </a:solidFill>
                <a:latin typeface="Times New Roman" panose="02020603050405020304" pitchFamily="18" charset="0"/>
                <a:ea typeface="+mn-ea"/>
                <a:cs typeface="Times New Roman" panose="02020603050405020304" pitchFamily="18" charset="0"/>
              </a:rPr>
              <a:t>The simulation will also measure latency in the decision-making process of the RIC, providing insights into how quickly the system can adapt to real-time conditions and manage network resources effectively for optimal performance.</a:t>
            </a:r>
          </a:p>
        </p:txBody>
      </p:sp>
      <p:cxnSp>
        <p:nvCxnSpPr>
          <p:cNvPr id="7" name="Connector 7"/>
          <p:cNvCxnSpPr/>
          <p:nvPr/>
        </p:nvCxnSpPr>
        <p:spPr>
          <a:xfrm>
            <a:off x="551037" y="2559712"/>
            <a:ext cx="4006333" cy="0"/>
          </a:xfrm>
          <a:prstGeom prst="straightConnector1">
            <a:avLst/>
          </a:prstGeom>
          <a:ln w="15875">
            <a:solidFill>
              <a:schemeClr val="accent1">
                <a:alpha val="50000"/>
              </a:schemeClr>
            </a:solidFill>
            <a:tailEnd type="oval"/>
          </a:ln>
        </p:spPr>
      </p:cxnSp>
      <p:sp>
        <p:nvSpPr>
          <p:cNvPr id="8" name="AutoShape 8"/>
          <p:cNvSpPr/>
          <p:nvPr/>
        </p:nvSpPr>
        <p:spPr>
          <a:xfrm>
            <a:off x="560562" y="866641"/>
            <a:ext cx="4006333" cy="419279"/>
          </a:xfrm>
          <a:prstGeom prst="roundRect">
            <a:avLst>
              <a:gd name="adj" fmla="val 16000"/>
            </a:avLst>
          </a:prstGeom>
          <a:solidFill>
            <a:schemeClr val="accent1"/>
          </a:solidFill>
          <a:ln>
            <a:noFill/>
          </a:ln>
        </p:spPr>
        <p:txBody>
          <a:bodyPr vert="horz" wrap="square" lIns="68580" tIns="34290" rIns="68580" bIns="34290" anchor="ctr">
            <a:noAutofit/>
          </a:bodyPr>
          <a:lstStyle/>
          <a:p>
            <a:r>
              <a:rPr lang="en-US" sz="1200" b="1">
                <a:solidFill>
                  <a:schemeClr val="lt1"/>
                </a:solidFill>
                <a:latin typeface="+mn-ea"/>
                <a:ea typeface="+mn-ea"/>
              </a:rPr>
              <a:t>Packet Loss and Handover Success Rate</a:t>
            </a:r>
          </a:p>
        </p:txBody>
      </p:sp>
      <p:sp>
        <p:nvSpPr>
          <p:cNvPr id="9" name="AutoShape 9"/>
          <p:cNvSpPr/>
          <p:nvPr/>
        </p:nvSpPr>
        <p:spPr>
          <a:xfrm>
            <a:off x="509620" y="1348158"/>
            <a:ext cx="4062380" cy="1005532"/>
          </a:xfrm>
          <a:prstGeom prst="rect">
            <a:avLst/>
          </a:prstGeom>
          <a:noFill/>
          <a:ln>
            <a:noFill/>
          </a:ln>
        </p:spPr>
        <p:txBody>
          <a:bodyPr vert="horz" wrap="square" lIns="68580" tIns="34290" rIns="68580" bIns="34290" anchor="t">
            <a:spAutoFit/>
          </a:bodyPr>
          <a:lstStyle/>
          <a:p>
            <a:pPr algn="just">
              <a:lnSpc>
                <a:spcPct val="130000"/>
              </a:lnSpc>
            </a:pPr>
            <a:r>
              <a:rPr lang="en-US" sz="1200" dirty="0">
                <a:solidFill>
                  <a:srgbClr val="2F2F2F"/>
                </a:solidFill>
                <a:latin typeface="Times New Roman" panose="02020603050405020304" pitchFamily="18" charset="0"/>
                <a:ea typeface="+mn-ea"/>
                <a:cs typeface="Times New Roman" panose="02020603050405020304" pitchFamily="18" charset="0"/>
              </a:rPr>
              <a:t>Performance results will focus on evaluating packet loss rates and the success rates of handovers under various scenarios. This data will be critical in understanding the effectiveness of ML-driven approaches versus traditional methods.</a:t>
            </a:r>
          </a:p>
        </p:txBody>
      </p:sp>
    </p:spTree>
  </p:cSld>
  <p:clrMapOvr>
    <a:masterClrMapping/>
  </p:clrMapOvr>
  <p:transition spd="slow">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nodeType="afterEffect">
                                  <p:stCondLst>
                                    <p:cond delay="0"/>
                                  </p:stCondLst>
                                  <p:childTnLst>
                                    <p:animEffect transition="in" filter="circle(out)">
                                      <p:cBhvr>
                                        <p:cTn id="6" dur="1000"/>
                                        <p:tgtEl>
                                          <p:spTgt spid="2"/>
                                        </p:tgtEl>
                                      </p:cBhvr>
                                    </p:animEffect>
                                    <p:set>
                                      <p:cBhvr>
                                        <p:cTn id="7" dur="1000" fill="hold">
                                          <p:stCondLst>
                                            <p:cond delay="0"/>
                                          </p:stCondLst>
                                        </p:cTn>
                                        <p:tgtEl>
                                          <p:spTgt spid="2"/>
                                        </p:tgtEl>
                                        <p:attrNameLst>
                                          <p:attrName>style.visibility</p:attrName>
                                        </p:attrNameLst>
                                      </p:cBhvr>
                                      <p:to>
                                        <p:strVal val="visible"/>
                                      </p:to>
                                    </p:set>
                                  </p:childTnLst>
                                </p:cTn>
                              </p:par>
                            </p:childTnLst>
                          </p:cTn>
                        </p:par>
                        <p:par>
                          <p:cTn id="8" fill="hold">
                            <p:stCondLst>
                              <p:cond delay="0"/>
                            </p:stCondLst>
                            <p:childTnLst>
                              <p:par>
                                <p:cTn id="9" presetID="30" presetClass="entr" presetSubtype="0" fill="hold" nodeType="afterEffect">
                                  <p:stCondLst>
                                    <p:cond delay="0"/>
                                  </p:stCondLst>
                                  <p:childTnLst>
                                    <p:anim calcmode="lin" valueType="num">
                                      <p:cBhvr>
                                        <p:cTn id="10" dur="800" decel="100000" fill="hold"/>
                                        <p:tgtEl>
                                          <p:spTgt spid="8"/>
                                        </p:tgtEl>
                                        <p:attrNameLst>
                                          <p:attrName>style.rotation</p:attrName>
                                        </p:attrNameLst>
                                      </p:cBhvr>
                                      <p:tavLst>
                                        <p:tav tm="0">
                                          <p:val>
                                            <p:fltVal val="-90"/>
                                          </p:val>
                                        </p:tav>
                                        <p:tav tm="100000">
                                          <p:val>
                                            <p:fltVal val="0"/>
                                          </p:val>
                                        </p:tav>
                                      </p:tavLst>
                                    </p:anim>
                                    <p:anim calcmode="lin" valueType="num">
                                      <p:cBhvr>
                                        <p:cTn id="11" dur="800" decel="100000" fill="hold"/>
                                        <p:tgtEl>
                                          <p:spTgt spid="8"/>
                                        </p:tgtEl>
                                        <p:attrNameLst>
                                          <p:attrName>ppt_x</p:attrName>
                                        </p:attrNameLst>
                                      </p:cBhvr>
                                      <p:tavLst>
                                        <p:tav tm="0">
                                          <p:val>
                                            <p:strVal val="#ppt_x+0.4"/>
                                          </p:val>
                                        </p:tav>
                                        <p:tav tm="100000">
                                          <p:val>
                                            <p:strVal val="#ppt_x-0.05"/>
                                          </p:val>
                                        </p:tav>
                                      </p:tavLst>
                                    </p:anim>
                                    <p:anim calcmode="lin" valueType="num">
                                      <p:cBhvr>
                                        <p:cTn id="12" dur="800" decel="100000" fill="hold"/>
                                        <p:tgtEl>
                                          <p:spTgt spid="8"/>
                                        </p:tgtEl>
                                        <p:attrNameLst>
                                          <p:attrName>ppt_y</p:attrName>
                                        </p:attrNameLst>
                                      </p:cBhvr>
                                      <p:tavLst>
                                        <p:tav tm="0">
                                          <p:val>
                                            <p:strVal val="#ppt_y-0.4"/>
                                          </p:val>
                                        </p:tav>
                                        <p:tav tm="100000">
                                          <p:val>
                                            <p:strVal val="#ppt_y+0.1"/>
                                          </p:val>
                                        </p:tav>
                                      </p:tavLst>
                                    </p:anim>
                                    <p:anim calcmode="lin" valueType="num">
                                      <p:cBhvr>
                                        <p:cTn id="13" dur="200" accel="100000" fill="hold">
                                          <p:stCondLst>
                                            <p:cond delay="800"/>
                                          </p:stCondLst>
                                        </p:cTn>
                                        <p:tgtEl>
                                          <p:spTgt spid="8"/>
                                        </p:tgtEl>
                                        <p:attrNameLst>
                                          <p:attrName>ppt_x</p:attrName>
                                        </p:attrNameLst>
                                      </p:cBhvr>
                                      <p:tavLst>
                                        <p:tav tm="0">
                                          <p:val>
                                            <p:strVal val="#ppt_x-0.05"/>
                                          </p:val>
                                        </p:tav>
                                        <p:tav tm="100000">
                                          <p:val>
                                            <p:strVal val="#ppt_x"/>
                                          </p:val>
                                        </p:tav>
                                      </p:tavLst>
                                    </p:anim>
                                    <p:anim calcmode="lin" valueType="num">
                                      <p:cBhvr>
                                        <p:cTn id="14" dur="200" accel="100000" fill="hold">
                                          <p:stCondLst>
                                            <p:cond delay="800"/>
                                          </p:stCondLst>
                                        </p:cTn>
                                        <p:tgtEl>
                                          <p:spTgt spid="8"/>
                                        </p:tgtEl>
                                        <p:attrNameLst>
                                          <p:attrName>ppt_y</p:attrName>
                                        </p:attrNameLst>
                                      </p:cBhvr>
                                      <p:tavLst>
                                        <p:tav tm="0">
                                          <p:val>
                                            <p:strVal val="#ppt_y+0.1"/>
                                          </p:val>
                                        </p:tav>
                                        <p:tav tm="100000">
                                          <p:val>
                                            <p:strVal val="#ppt_y"/>
                                          </p:val>
                                        </p:tav>
                                      </p:tavLst>
                                    </p:anim>
                                    <p:animEffect transition="in" filter="fade">
                                      <p:cBhvr>
                                        <p:cTn id="15" dur="800" decel="100000"/>
                                        <p:tgtEl>
                                          <p:spTgt spid="8"/>
                                        </p:tgtEl>
                                      </p:cBhvr>
                                    </p:animEffect>
                                    <p:set>
                                      <p:cBhvr>
                                        <p:cTn id="16" dur="1" fill="hold">
                                          <p:stCondLst>
                                            <p:cond delay="0"/>
                                          </p:stCondLst>
                                        </p:cTn>
                                        <p:tgtEl>
                                          <p:spTgt spid="8"/>
                                        </p:tgtEl>
                                        <p:attrNameLst>
                                          <p:attrName>style.visibility</p:attrName>
                                        </p:attrNameLst>
                                      </p:cBhvr>
                                      <p:to>
                                        <p:strVal val="visible"/>
                                      </p:to>
                                    </p:set>
                                  </p:childTnLst>
                                </p:cTn>
                              </p:par>
                            </p:childTnLst>
                          </p:cTn>
                        </p:par>
                        <p:par>
                          <p:cTn id="17" fill="hold">
                            <p:stCondLst>
                              <p:cond delay="0"/>
                            </p:stCondLst>
                            <p:childTnLst>
                              <p:par>
                                <p:cTn id="18" presetID="6" presetClass="entr" presetSubtype="32" fill="hold" nodeType="afterEffect">
                                  <p:stCondLst>
                                    <p:cond delay="0"/>
                                  </p:stCondLst>
                                  <p:childTnLst>
                                    <p:animEffect transition="in" filter="circle(out)">
                                      <p:cBhvr>
                                        <p:cTn id="19" dur="1000"/>
                                        <p:tgtEl>
                                          <p:spTgt spid="9"/>
                                        </p:tgtEl>
                                      </p:cBhvr>
                                    </p:animEffect>
                                    <p:set>
                                      <p:cBhvr>
                                        <p:cTn id="20" dur="1000" fill="hold">
                                          <p:stCondLst>
                                            <p:cond delay="0"/>
                                          </p:stCondLst>
                                        </p:cTn>
                                        <p:tgtEl>
                                          <p:spTgt spid="9"/>
                                        </p:tgtEl>
                                        <p:attrNameLst>
                                          <p:attrName>style.visibility</p:attrName>
                                        </p:attrNameLst>
                                      </p:cBhvr>
                                      <p:to>
                                        <p:strVal val="visible"/>
                                      </p:to>
                                    </p:set>
                                  </p:childTnLst>
                                </p:cTn>
                              </p:par>
                            </p:childTnLst>
                          </p:cTn>
                        </p:par>
                        <p:par>
                          <p:cTn id="21" fill="hold">
                            <p:stCondLst>
                              <p:cond delay="0"/>
                            </p:stCondLst>
                            <p:childTnLst>
                              <p:par>
                                <p:cTn id="22" presetID="8" presetClass="entr" presetSubtype="16" fill="hold" nodeType="afterEffect">
                                  <p:stCondLst>
                                    <p:cond delay="0"/>
                                  </p:stCondLst>
                                  <p:childTnLst>
                                    <p:animEffect transition="in" filter="diamond(in)">
                                      <p:cBhvr>
                                        <p:cTn id="23" dur="1000"/>
                                        <p:tgtEl>
                                          <p:spTgt spid="5"/>
                                        </p:tgtEl>
                                      </p:cBhvr>
                                    </p:animEffect>
                                    <p:set>
                                      <p:cBhvr>
                                        <p:cTn id="24" dur="1000" fill="hold">
                                          <p:stCondLst>
                                            <p:cond delay="0"/>
                                          </p:stCondLst>
                                        </p:cTn>
                                        <p:tgtEl>
                                          <p:spTgt spid="5"/>
                                        </p:tgtEl>
                                        <p:attrNameLst>
                                          <p:attrName>style.visibility</p:attrName>
                                        </p:attrNameLst>
                                      </p:cBhvr>
                                      <p:to>
                                        <p:strVal val="visible"/>
                                      </p:to>
                                    </p:set>
                                  </p:childTnLst>
                                </p:cTn>
                              </p:par>
                            </p:childTnLst>
                          </p:cTn>
                        </p:par>
                        <p:par>
                          <p:cTn id="25" fill="hold">
                            <p:stCondLst>
                              <p:cond delay="0"/>
                            </p:stCondLst>
                            <p:childTnLst>
                              <p:par>
                                <p:cTn id="26" presetID="48" presetClass="entr" presetSubtype="0" fill="hold" nodeType="afterEffect">
                                  <p:stCondLst>
                                    <p:cond delay="0"/>
                                  </p:stCondLst>
                                  <p:childTnLst>
                                    <p:anim calcmode="lin" valueType="num">
                                      <p:cBhvr>
                                        <p:cTn id="27" dur="1000" fill="hold"/>
                                        <p:tgtEl>
                                          <p:spTgt spid="6"/>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28" dur="1000" fill="hold"/>
                                        <p:tgtEl>
                                          <p:spTgt spid="6"/>
                                        </p:tgtEl>
                                        <p:attrNameLst>
                                          <p:attrName>ppt_x</p:attrName>
                                        </p:attrNameLst>
                                      </p:cBhvr>
                                      <p:tavLst>
                                        <p:tav tm="0">
                                          <p:val>
                                            <p:fltVal val="-1"/>
                                          </p:val>
                                        </p:tav>
                                        <p:tav tm="50000">
                                          <p:val>
                                            <p:fltVal val="0.95"/>
                                          </p:val>
                                        </p:tav>
                                        <p:tav tm="100000">
                                          <p:val>
                                            <p:strVal val="#ppt_x"/>
                                          </p:val>
                                        </p:tav>
                                      </p:tavLst>
                                    </p:anim>
                                    <p:anim calcmode="lin" valueType="num">
                                      <p:cBhvr>
                                        <p:cTn id="29" dur="1000" fill="hold"/>
                                        <p:tgtEl>
                                          <p:spTgt spid="6"/>
                                        </p:tgtEl>
                                        <p:attrNameLst>
                                          <p:attrName>ppt_y</p:attrName>
                                        </p:attrNameLst>
                                      </p:cBhvr>
                                      <p:tavLst>
                                        <p:tav tm="0">
                                          <p:val>
                                            <p:strVal val="#ppt_y"/>
                                          </p:val>
                                        </p:tav>
                                        <p:tav tm="100000">
                                          <p:val>
                                            <p:strVal val="#ppt_y"/>
                                          </p:val>
                                        </p:tav>
                                      </p:tavLst>
                                    </p:anim>
                                    <p:animEffect transition="in" filter="fade">
                                      <p:cBhvr>
                                        <p:cTn id="30" dur="1000"/>
                                        <p:tgtEl>
                                          <p:spTgt spid="6"/>
                                        </p:tgtEl>
                                      </p:cBhvr>
                                    </p:animEffect>
                                    <p:set>
                                      <p:cBhvr>
                                        <p:cTn id="31" dur="1" fill="hold">
                                          <p:stCondLst>
                                            <p:cond delay="0"/>
                                          </p:stCondLst>
                                        </p:cTn>
                                        <p:tgtEl>
                                          <p:spTgt spid="6"/>
                                        </p:tgtEl>
                                        <p:attrNameLst>
                                          <p:attrName>style.visibility</p:attrName>
                                        </p:attrNameLst>
                                      </p:cBhvr>
                                      <p:to>
                                        <p:strVal val="visible"/>
                                      </p:to>
                                    </p:set>
                                  </p:childTnLst>
                                </p:cTn>
                              </p:par>
                            </p:childTnLst>
                          </p:cTn>
                        </p:par>
                        <p:par>
                          <p:cTn id="32" fill="hold">
                            <p:stCondLst>
                              <p:cond delay="0"/>
                            </p:stCondLst>
                            <p:childTnLst>
                              <p:par>
                                <p:cTn id="33" presetID="58" presetClass="entr" presetSubtype="0" fill="hold" nodeType="afterEffect">
                                  <p:stCondLst>
                                    <p:cond delay="0"/>
                                  </p:stCondLst>
                                  <p:childTnLst>
                                    <p:anim calcmode="lin" valueType="num">
                                      <p:cBhvr>
                                        <p:cTn id="34" dur="1000" fill="hold"/>
                                        <p:tgtEl>
                                          <p:spTgt spid="4"/>
                                        </p:tgtEl>
                                        <p:attrNameLst>
                                          <p:attrName>ppt_w</p:attrName>
                                        </p:attrNameLst>
                                      </p:cBhvr>
                                      <p:tavLst>
                                        <p:tav tm="0">
                                          <p:val>
                                            <p:strVal val="#ppt_w*2.5"/>
                                          </p:val>
                                        </p:tav>
                                        <p:tav tm="100000">
                                          <p:val>
                                            <p:strVal val="#ppt_w"/>
                                          </p:val>
                                        </p:tav>
                                      </p:tavLst>
                                    </p:anim>
                                    <p:anim calcmode="lin" valueType="num">
                                      <p:cBhvr>
                                        <p:cTn id="35" dur="1000" fill="hold"/>
                                        <p:tgtEl>
                                          <p:spTgt spid="4"/>
                                        </p:tgtEl>
                                        <p:attrNameLst>
                                          <p:attrName>ppt_h</p:attrName>
                                        </p:attrNameLst>
                                      </p:cBhvr>
                                      <p:tavLst>
                                        <p:tav tm="0">
                                          <p:val>
                                            <p:strVal val="#ppt_h*0.01"/>
                                          </p:val>
                                        </p:tav>
                                        <p:tav tm="100000">
                                          <p:val>
                                            <p:strVal val="#ppt_h"/>
                                          </p:val>
                                        </p:tav>
                                      </p:tavLst>
                                    </p:anim>
                                    <p:anim calcmode="lin" valueType="num">
                                      <p:cBhvr>
                                        <p:cTn id="36" dur="1000" fill="hold"/>
                                        <p:tgtEl>
                                          <p:spTgt spid="4"/>
                                        </p:tgtEl>
                                        <p:attrNameLst>
                                          <p:attrName>ppt_x</p:attrName>
                                        </p:attrNameLst>
                                      </p:cBhvr>
                                      <p:tavLst>
                                        <p:tav tm="0">
                                          <p:val>
                                            <p:strVal val="#ppt_x"/>
                                          </p:val>
                                        </p:tav>
                                        <p:tav tm="100000">
                                          <p:val>
                                            <p:strVal val="#ppt_x"/>
                                          </p:val>
                                        </p:tav>
                                      </p:tavLst>
                                    </p:anim>
                                    <p:anim calcmode="lin" valueType="num">
                                      <p:cBhvr>
                                        <p:cTn id="37" dur="1000" fill="hold"/>
                                        <p:tgtEl>
                                          <p:spTgt spid="4"/>
                                        </p:tgtEl>
                                        <p:attrNameLst>
                                          <p:attrName>ppt_y</p:attrName>
                                        </p:attrNameLst>
                                      </p:cBhvr>
                                      <p:tavLst>
                                        <p:tav tm="0">
                                          <p:val>
                                            <p:strVal val="#ppt_h+1"/>
                                          </p:val>
                                        </p:tav>
                                        <p:tav tm="100000">
                                          <p:val>
                                            <p:strVal val="#ppt_y"/>
                                          </p:val>
                                        </p:tav>
                                      </p:tavLst>
                                    </p:anim>
                                    <p:animEffect transition="in" filter="fade">
                                      <p:cBhvr>
                                        <p:cTn id="38" dur="1000"/>
                                        <p:tgtEl>
                                          <p:spTgt spid="4"/>
                                        </p:tgtEl>
                                      </p:cBhvr>
                                    </p:animEffect>
                                    <p:set>
                                      <p:cBhvr>
                                        <p:cTn id="39" dur="1000"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p:txBody>
          <a:bodyPr spcFirstLastPara="1" vert="horz" wrap="square" lIns="68580" tIns="34290" rIns="68580" bIns="34290" anchor="b" anchorCtr="0">
            <a:normAutofit/>
          </a:bodyPr>
          <a:lstStyle/>
          <a:p>
            <a:pPr algn="l">
              <a:lnSpc>
                <a:spcPct val="90000"/>
              </a:lnSpc>
              <a:spcBef>
                <a:spcPct val="0"/>
              </a:spcBef>
            </a:pPr>
            <a:r>
              <a:rPr lang="zh-CN" altLang="en-US" sz="2100" b="1">
                <a:solidFill>
                  <a:srgbClr val="2F2F2F"/>
                </a:solidFill>
                <a:latin typeface="微软雅黑"/>
                <a:ea typeface="微软雅黑"/>
              </a:rPr>
              <a:t>Performance Comparison</a:t>
            </a:r>
          </a:p>
        </p:txBody>
      </p:sp>
      <p:sp>
        <p:nvSpPr>
          <p:cNvPr id="3" name="AutoShape 3"/>
          <p:cNvSpPr/>
          <p:nvPr/>
        </p:nvSpPr>
        <p:spPr>
          <a:xfrm>
            <a:off x="795887" y="1330487"/>
            <a:ext cx="3219683" cy="2930363"/>
          </a:xfrm>
          <a:prstGeom prst="rect">
            <a:avLst/>
          </a:prstGeom>
          <a:solidFill>
            <a:srgbClr val="2F2F2F">
              <a:alpha val="10000"/>
              <a:lumMod val="50000"/>
              <a:lumOff val="50000"/>
            </a:srgbClr>
          </a:solidFill>
          <a:ln cap="rnd">
            <a:noFill/>
            <a:prstDash val="solid"/>
          </a:ln>
          <a:effectLst/>
        </p:spPr>
        <p:txBody>
          <a:bodyPr rot="0" vert="horz" wrap="square" lIns="68580" tIns="34290" rIns="68580" bIns="34290" anchor="ctr">
            <a:normAutofit/>
          </a:bodyPr>
          <a:lstStyle/>
          <a:p>
            <a:pPr algn="ctr"/>
            <a:endParaRPr sz="1050"/>
          </a:p>
        </p:txBody>
      </p:sp>
      <p:sp>
        <p:nvSpPr>
          <p:cNvPr id="4" name="TextBox 4"/>
          <p:cNvSpPr txBox="1"/>
          <p:nvPr/>
        </p:nvSpPr>
        <p:spPr>
          <a:xfrm>
            <a:off x="866148" y="2156305"/>
            <a:ext cx="2714842" cy="253916"/>
          </a:xfrm>
          <a:prstGeom prst="rect">
            <a:avLst/>
          </a:prstGeom>
          <a:noFill/>
          <a:ln cap="rnd">
            <a:noFill/>
            <a:prstDash val="solid"/>
          </a:ln>
          <a:effectLst/>
        </p:spPr>
        <p:txBody>
          <a:bodyPr rot="0" vert="horz" wrap="square" lIns="68580" tIns="34290" rIns="68580" bIns="34290" rtlCol="0" anchor="b">
            <a:prstTxWarp prst="textNoShape">
              <a:avLst/>
            </a:prstTxWarp>
            <a:spAutoFit/>
          </a:bodyPr>
          <a:lstStyle/>
          <a:p>
            <a:pPr>
              <a:defRPr/>
            </a:pPr>
            <a:r>
              <a:rPr lang="en-US" sz="1200" b="1">
                <a:solidFill>
                  <a:srgbClr val="2F2F2F"/>
                </a:solidFill>
                <a:latin typeface="+mn-ea"/>
                <a:ea typeface="+mn-ea"/>
              </a:rPr>
              <a:t>Traditional vs ML-Based Results</a:t>
            </a:r>
            <a:endParaRPr lang="en-US" sz="825"/>
          </a:p>
        </p:txBody>
      </p:sp>
      <p:sp>
        <p:nvSpPr>
          <p:cNvPr id="5" name="TextBox 5"/>
          <p:cNvSpPr txBox="1"/>
          <p:nvPr/>
        </p:nvSpPr>
        <p:spPr>
          <a:xfrm>
            <a:off x="3040457" y="3282088"/>
            <a:ext cx="1081065" cy="1084912"/>
          </a:xfrm>
          <a:prstGeom prst="rect">
            <a:avLst/>
          </a:prstGeom>
          <a:noFill/>
          <a:effectLst/>
        </p:spPr>
        <p:txBody>
          <a:bodyPr vert="horz" wrap="none" lIns="68580" tIns="34290" rIns="68580" bIns="34290" rtlCol="0" anchor="t">
            <a:spAutoFit/>
          </a:bodyPr>
          <a:lstStyle/>
          <a:p>
            <a:pPr>
              <a:defRPr/>
            </a:pPr>
            <a:r>
              <a:rPr lang="en-US" sz="6600" b="1" dirty="0">
                <a:solidFill>
                  <a:srgbClr val="FFFFFF"/>
                </a:solidFill>
              </a:rPr>
              <a:t>01</a:t>
            </a:r>
            <a:endParaRPr lang="en-US" sz="825" dirty="0"/>
          </a:p>
        </p:txBody>
      </p:sp>
      <p:cxnSp>
        <p:nvCxnSpPr>
          <p:cNvPr id="6" name="Connector 6"/>
          <p:cNvCxnSpPr/>
          <p:nvPr/>
        </p:nvCxnSpPr>
        <p:spPr>
          <a:xfrm>
            <a:off x="799458" y="1330487"/>
            <a:ext cx="3219683" cy="0"/>
          </a:xfrm>
          <a:prstGeom prst="line">
            <a:avLst/>
          </a:prstGeom>
          <a:ln w="25400">
            <a:solidFill>
              <a:schemeClr val="accent1"/>
            </a:solidFill>
          </a:ln>
        </p:spPr>
      </p:cxnSp>
      <p:sp>
        <p:nvSpPr>
          <p:cNvPr id="7" name="Freeform 7"/>
          <p:cNvSpPr/>
          <p:nvPr/>
        </p:nvSpPr>
        <p:spPr>
          <a:xfrm>
            <a:off x="938543" y="1653270"/>
            <a:ext cx="240578" cy="324779"/>
          </a:xfrm>
          <a:custGeom>
            <a:avLst/>
            <a:gdLst/>
            <a:ahLst/>
            <a:cxnLst/>
            <a:rect l="l" t="t" r="r" b="b"/>
            <a:pathLst>
              <a:path w="381000" h="514350">
                <a:moveTo>
                  <a:pt x="86973" y="38721"/>
                </a:moveTo>
                <a:lnTo>
                  <a:pt x="86973" y="95871"/>
                </a:lnTo>
                <a:lnTo>
                  <a:pt x="296523" y="95871"/>
                </a:lnTo>
                <a:lnTo>
                  <a:pt x="296523" y="38721"/>
                </a:lnTo>
                <a:lnTo>
                  <a:pt x="382248" y="38721"/>
                </a:lnTo>
                <a:lnTo>
                  <a:pt x="382248" y="514971"/>
                </a:lnTo>
                <a:lnTo>
                  <a:pt x="1248" y="514971"/>
                </a:lnTo>
                <a:lnTo>
                  <a:pt x="1248" y="38721"/>
                </a:lnTo>
                <a:lnTo>
                  <a:pt x="86973" y="38721"/>
                </a:lnTo>
                <a:close/>
                <a:moveTo>
                  <a:pt x="191748" y="333996"/>
                </a:moveTo>
                <a:lnTo>
                  <a:pt x="77448" y="333996"/>
                </a:lnTo>
                <a:lnTo>
                  <a:pt x="77448" y="353046"/>
                </a:lnTo>
                <a:lnTo>
                  <a:pt x="191748" y="353046"/>
                </a:lnTo>
                <a:lnTo>
                  <a:pt x="191748" y="333996"/>
                </a:lnTo>
                <a:close/>
                <a:moveTo>
                  <a:pt x="306048" y="257796"/>
                </a:moveTo>
                <a:lnTo>
                  <a:pt x="77448" y="257796"/>
                </a:lnTo>
                <a:lnTo>
                  <a:pt x="77448" y="276846"/>
                </a:lnTo>
                <a:lnTo>
                  <a:pt x="306048" y="276846"/>
                </a:lnTo>
                <a:lnTo>
                  <a:pt x="306048" y="257796"/>
                </a:lnTo>
                <a:close/>
                <a:moveTo>
                  <a:pt x="306048" y="181596"/>
                </a:moveTo>
                <a:lnTo>
                  <a:pt x="77448" y="181596"/>
                </a:lnTo>
                <a:lnTo>
                  <a:pt x="77448" y="200646"/>
                </a:lnTo>
                <a:lnTo>
                  <a:pt x="306048" y="200646"/>
                </a:lnTo>
                <a:lnTo>
                  <a:pt x="306048" y="181596"/>
                </a:lnTo>
                <a:close/>
                <a:moveTo>
                  <a:pt x="277473" y="621"/>
                </a:moveTo>
                <a:lnTo>
                  <a:pt x="277473" y="76821"/>
                </a:lnTo>
                <a:lnTo>
                  <a:pt x="106023" y="76821"/>
                </a:lnTo>
                <a:lnTo>
                  <a:pt x="106023" y="621"/>
                </a:lnTo>
                <a:lnTo>
                  <a:pt x="277473" y="621"/>
                </a:lnTo>
                <a:close/>
              </a:path>
            </a:pathLst>
          </a:custGeom>
          <a:solidFill>
            <a:schemeClr val="accent1"/>
          </a:solidFill>
          <a:ln>
            <a:noFill/>
          </a:ln>
        </p:spPr>
        <p:txBody>
          <a:bodyPr vert="horz" lIns="68580" tIns="34290" rIns="68580" bIns="34290" anchor="t">
            <a:normAutofit/>
          </a:bodyPr>
          <a:lstStyle/>
          <a:p>
            <a:endParaRPr sz="1050"/>
          </a:p>
        </p:txBody>
      </p:sp>
      <p:sp>
        <p:nvSpPr>
          <p:cNvPr id="8" name="AutoShape 8"/>
          <p:cNvSpPr/>
          <p:nvPr/>
        </p:nvSpPr>
        <p:spPr>
          <a:xfrm>
            <a:off x="5036096" y="1320689"/>
            <a:ext cx="3219683" cy="2868045"/>
          </a:xfrm>
          <a:prstGeom prst="rect">
            <a:avLst/>
          </a:prstGeom>
          <a:solidFill>
            <a:srgbClr val="2F2F2F">
              <a:alpha val="10000"/>
              <a:lumMod val="50000"/>
              <a:lumOff val="50000"/>
            </a:srgbClr>
          </a:solidFill>
          <a:ln cap="rnd">
            <a:noFill/>
            <a:prstDash val="solid"/>
          </a:ln>
          <a:effectLst/>
        </p:spPr>
        <p:txBody>
          <a:bodyPr rot="0" vert="horz" wrap="square" lIns="68580" tIns="34290" rIns="68580" bIns="34290" anchor="ctr">
            <a:normAutofit/>
          </a:bodyPr>
          <a:lstStyle/>
          <a:p>
            <a:pPr algn="ctr"/>
            <a:endParaRPr sz="1050"/>
          </a:p>
        </p:txBody>
      </p:sp>
      <p:sp>
        <p:nvSpPr>
          <p:cNvPr id="9" name="TextBox 9"/>
          <p:cNvSpPr txBox="1"/>
          <p:nvPr/>
        </p:nvSpPr>
        <p:spPr>
          <a:xfrm>
            <a:off x="5102786" y="2156305"/>
            <a:ext cx="2714842" cy="253916"/>
          </a:xfrm>
          <a:prstGeom prst="rect">
            <a:avLst/>
          </a:prstGeom>
          <a:noFill/>
          <a:ln cap="rnd">
            <a:noFill/>
            <a:prstDash val="solid"/>
          </a:ln>
          <a:effectLst/>
        </p:spPr>
        <p:txBody>
          <a:bodyPr rot="0" vert="horz" wrap="square" lIns="68580" tIns="34290" rIns="68580" bIns="34290" rtlCol="0" anchor="b">
            <a:prstTxWarp prst="textNoShape">
              <a:avLst/>
            </a:prstTxWarp>
            <a:spAutoFit/>
          </a:bodyPr>
          <a:lstStyle/>
          <a:p>
            <a:pPr>
              <a:defRPr/>
            </a:pPr>
            <a:r>
              <a:rPr lang="en-US" sz="1200" b="1">
                <a:solidFill>
                  <a:srgbClr val="2F2F2F"/>
                </a:solidFill>
                <a:latin typeface="+mn-ea"/>
                <a:ea typeface="+mn-ea"/>
              </a:rPr>
              <a:t>Graphical Data Analysis</a:t>
            </a:r>
            <a:endParaRPr lang="en-US" sz="825"/>
          </a:p>
        </p:txBody>
      </p:sp>
      <p:sp>
        <p:nvSpPr>
          <p:cNvPr id="10" name="TextBox 10"/>
          <p:cNvSpPr txBox="1"/>
          <p:nvPr/>
        </p:nvSpPr>
        <p:spPr>
          <a:xfrm>
            <a:off x="7263477" y="3225006"/>
            <a:ext cx="1081065" cy="1084912"/>
          </a:xfrm>
          <a:prstGeom prst="rect">
            <a:avLst/>
          </a:prstGeom>
          <a:noFill/>
          <a:effectLst/>
        </p:spPr>
        <p:txBody>
          <a:bodyPr vert="horz" wrap="none" lIns="68580" tIns="34290" rIns="68580" bIns="34290" rtlCol="0" anchor="t">
            <a:spAutoFit/>
          </a:bodyPr>
          <a:lstStyle/>
          <a:p>
            <a:pPr>
              <a:defRPr/>
            </a:pPr>
            <a:r>
              <a:rPr lang="en-US" sz="6600" b="1" dirty="0">
                <a:solidFill>
                  <a:srgbClr val="FFFFFF"/>
                </a:solidFill>
              </a:rPr>
              <a:t>02</a:t>
            </a:r>
            <a:endParaRPr lang="en-US" sz="825" dirty="0"/>
          </a:p>
        </p:txBody>
      </p:sp>
      <p:cxnSp>
        <p:nvCxnSpPr>
          <p:cNvPr id="11" name="Connector 11"/>
          <p:cNvCxnSpPr/>
          <p:nvPr/>
        </p:nvCxnSpPr>
        <p:spPr>
          <a:xfrm>
            <a:off x="5036096" y="1330487"/>
            <a:ext cx="3219683" cy="0"/>
          </a:xfrm>
          <a:prstGeom prst="line">
            <a:avLst/>
          </a:prstGeom>
          <a:ln w="25400">
            <a:solidFill>
              <a:schemeClr val="accent1"/>
            </a:solidFill>
          </a:ln>
        </p:spPr>
      </p:cxnSp>
      <p:sp>
        <p:nvSpPr>
          <p:cNvPr id="12" name="Freeform 12"/>
          <p:cNvSpPr/>
          <p:nvPr/>
        </p:nvSpPr>
        <p:spPr>
          <a:xfrm>
            <a:off x="5192709" y="1631349"/>
            <a:ext cx="318875" cy="324779"/>
          </a:xfrm>
          <a:custGeom>
            <a:avLst/>
            <a:gdLst/>
            <a:ahLst/>
            <a:cxnLst/>
            <a:rect l="l" t="t" r="r" b="b"/>
            <a:pathLst>
              <a:path w="514350" h="523875">
                <a:moveTo>
                  <a:pt x="257175" y="266700"/>
                </a:moveTo>
                <a:cubicBezTo>
                  <a:pt x="330518" y="266700"/>
                  <a:pt x="390525" y="206693"/>
                  <a:pt x="390525" y="133350"/>
                </a:cubicBezTo>
                <a:cubicBezTo>
                  <a:pt x="390525" y="60008"/>
                  <a:pt x="330518" y="0"/>
                  <a:pt x="257175" y="0"/>
                </a:cubicBezTo>
                <a:cubicBezTo>
                  <a:pt x="183833" y="0"/>
                  <a:pt x="123825" y="60008"/>
                  <a:pt x="123825" y="133350"/>
                </a:cubicBezTo>
                <a:cubicBezTo>
                  <a:pt x="123825" y="206693"/>
                  <a:pt x="183833" y="266700"/>
                  <a:pt x="257175" y="266700"/>
                </a:cubicBezTo>
                <a:close/>
                <a:moveTo>
                  <a:pt x="457200" y="333375"/>
                </a:moveTo>
                <a:lnTo>
                  <a:pt x="57150" y="333375"/>
                </a:lnTo>
                <a:lnTo>
                  <a:pt x="0" y="390525"/>
                </a:lnTo>
                <a:lnTo>
                  <a:pt x="0" y="523875"/>
                </a:lnTo>
                <a:lnTo>
                  <a:pt x="514350" y="523875"/>
                </a:lnTo>
                <a:lnTo>
                  <a:pt x="514350" y="390525"/>
                </a:lnTo>
                <a:lnTo>
                  <a:pt x="457200" y="333375"/>
                </a:lnTo>
                <a:close/>
                <a:moveTo>
                  <a:pt x="447675" y="457200"/>
                </a:moveTo>
                <a:lnTo>
                  <a:pt x="333375" y="457200"/>
                </a:lnTo>
                <a:lnTo>
                  <a:pt x="333375" y="438150"/>
                </a:lnTo>
                <a:lnTo>
                  <a:pt x="447675" y="438150"/>
                </a:lnTo>
                <a:lnTo>
                  <a:pt x="447675" y="457200"/>
                </a:lnTo>
                <a:close/>
              </a:path>
            </a:pathLst>
          </a:custGeom>
          <a:solidFill>
            <a:schemeClr val="accent1"/>
          </a:solidFill>
          <a:ln>
            <a:noFill/>
          </a:ln>
        </p:spPr>
        <p:txBody>
          <a:bodyPr vert="horz" lIns="68580" tIns="34290" rIns="68580" bIns="34290" anchor="t">
            <a:normAutofit/>
          </a:bodyPr>
          <a:lstStyle/>
          <a:p>
            <a:endParaRPr sz="1050"/>
          </a:p>
        </p:txBody>
      </p:sp>
      <p:sp>
        <p:nvSpPr>
          <p:cNvPr id="13" name="AutoShape 13"/>
          <p:cNvSpPr/>
          <p:nvPr/>
        </p:nvSpPr>
        <p:spPr>
          <a:xfrm>
            <a:off x="866147" y="2452816"/>
            <a:ext cx="2714843" cy="1735924"/>
          </a:xfrm>
          <a:prstGeom prst="rect">
            <a:avLst/>
          </a:prstGeom>
        </p:spPr>
        <p:txBody>
          <a:bodyPr vert="horz" wrap="square" lIns="68580" tIns="34290" rIns="68580" bIns="34290" anchor="t">
            <a:spAutoFit/>
          </a:bodyPr>
          <a:lstStyle/>
          <a:p>
            <a:pPr>
              <a:lnSpc>
                <a:spcPct val="150000"/>
              </a:lnSpc>
            </a:pPr>
            <a:r>
              <a:rPr lang="en-US" sz="1050">
                <a:solidFill>
                  <a:srgbClr val="2F2F2F"/>
                </a:solidFill>
                <a:latin typeface="+mn-ea"/>
                <a:ea typeface="+mn-ea"/>
              </a:rPr>
              <a:t>A comprehensive comparison will be conducted between traditional network management strategies and those enhanced by ML integration. By evaluating performance metrics side by side, the benefits of adopting machine learning can be clearly illustrated.</a:t>
            </a:r>
          </a:p>
        </p:txBody>
      </p:sp>
      <p:sp>
        <p:nvSpPr>
          <p:cNvPr id="14" name="AutoShape 14"/>
          <p:cNvSpPr/>
          <p:nvPr/>
        </p:nvSpPr>
        <p:spPr>
          <a:xfrm>
            <a:off x="5102785" y="2452816"/>
            <a:ext cx="2714843" cy="1493550"/>
          </a:xfrm>
          <a:prstGeom prst="rect">
            <a:avLst/>
          </a:prstGeom>
        </p:spPr>
        <p:txBody>
          <a:bodyPr vert="horz" wrap="square" lIns="68580" tIns="34290" rIns="68580" bIns="34290" anchor="t">
            <a:spAutoFit/>
          </a:bodyPr>
          <a:lstStyle/>
          <a:p>
            <a:pPr>
              <a:lnSpc>
                <a:spcPct val="150000"/>
              </a:lnSpc>
            </a:pPr>
            <a:r>
              <a:rPr lang="en-US" sz="1050">
                <a:solidFill>
                  <a:srgbClr val="2F2F2F"/>
                </a:solidFill>
                <a:latin typeface="+mn-ea"/>
                <a:ea typeface="+mn-ea"/>
              </a:rPr>
              <a:t>Graphical representations of simulation data will illustrate key performance indicators, such as packet loss against handover attempts. These visual aids will facilitate understanding of trends and outcomes from the simulation.</a:t>
            </a:r>
          </a:p>
        </p:txBody>
      </p:sp>
    </p:spTree>
  </p:cSld>
  <p:clrMapOvr>
    <a:masterClrMapping/>
  </p:clrMapOvr>
  <p:transition spd="slow">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afterEffect">
                                  <p:stCondLst>
                                    <p:cond delay="0"/>
                                  </p:stCondLst>
                                  <p:childTnLst>
                                    <p:anim calcmode="lin" valueType="num">
                                      <p:cBhvr additive="base">
                                        <p:cTn id="6" dur="1000" fill="hold"/>
                                        <p:tgtEl>
                                          <p:spTgt spid="2"/>
                                        </p:tgtEl>
                                        <p:attrNameLst>
                                          <p:attrName>ppt_x</p:attrName>
                                        </p:attrNameLst>
                                      </p:cBhvr>
                                      <p:tavLst>
                                        <p:tav tm="0">
                                          <p:val>
                                            <p:strVal val="0-#ppt_w/2"/>
                                          </p:val>
                                        </p:tav>
                                        <p:tav tm="100000">
                                          <p:val>
                                            <p:strVal val="#ppt_x"/>
                                          </p:val>
                                        </p:tav>
                                      </p:tavLst>
                                    </p:anim>
                                    <p:anim calcmode="lin" valueType="num">
                                      <p:cBhvr additive="base">
                                        <p:cTn id="7" dur="1000" fill="hold"/>
                                        <p:tgtEl>
                                          <p:spTgt spid="2"/>
                                        </p:tgtEl>
                                        <p:attrNameLst>
                                          <p:attrName>ppt_y</p:attrName>
                                        </p:attrNameLst>
                                      </p:cBhvr>
                                      <p:tavLst>
                                        <p:tav tm="0">
                                          <p:val>
                                            <p:strVal val="1+#ppt_h/2"/>
                                          </p:val>
                                        </p:tav>
                                        <p:tav tm="100000">
                                          <p:val>
                                            <p:strVal val="#ppt_y"/>
                                          </p:val>
                                        </p:tav>
                                      </p:tavLst>
                                    </p:anim>
                                    <p:set>
                                      <p:cBhvr>
                                        <p:cTn id="8" dur="1000" fill="hold">
                                          <p:stCondLst>
                                            <p:cond delay="0"/>
                                          </p:stCondLst>
                                        </p:cTn>
                                        <p:tgtEl>
                                          <p:spTgt spid="2"/>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par>
                          <p:cTn id="12" fill="hold">
                            <p:stCondLst>
                              <p:cond delay="0"/>
                            </p:stCondLst>
                            <p:childTnLst>
                              <p:par>
                                <p:cTn id="13" presetID="2" presetClass="entr" presetSubtype="2" fill="hold" nodeType="afterEffect">
                                  <p:stCondLst>
                                    <p:cond delay="0"/>
                                  </p:stCondLst>
                                  <p:childTnLst>
                                    <p:anim calcmode="lin" valueType="num">
                                      <p:cBhvr additive="base">
                                        <p:cTn id="14" dur="1000" fill="hold"/>
                                        <p:tgtEl>
                                          <p:spTgt spid="4"/>
                                        </p:tgtEl>
                                        <p:attrNameLst>
                                          <p:attrName>ppt_x</p:attrName>
                                        </p:attrNameLst>
                                      </p:cBhvr>
                                      <p:tavLst>
                                        <p:tav tm="0">
                                          <p:val>
                                            <p:strVal val="1+#ppt_w/2"/>
                                          </p:val>
                                        </p:tav>
                                        <p:tav tm="100000">
                                          <p:val>
                                            <p:strVal val="#ppt_x"/>
                                          </p:val>
                                        </p:tav>
                                      </p:tavLst>
                                    </p:anim>
                                    <p:anim calcmode="lin" valueType="num">
                                      <p:cBhvr additive="base">
                                        <p:cTn id="15" dur="1000" fill="hold"/>
                                        <p:tgtEl>
                                          <p:spTgt spid="4"/>
                                        </p:tgtEl>
                                        <p:attrNameLst>
                                          <p:attrName>ppt_y</p:attrName>
                                        </p:attrNameLst>
                                      </p:cBhvr>
                                      <p:tavLst>
                                        <p:tav tm="0">
                                          <p:val>
                                            <p:strVal val="#ppt_y"/>
                                          </p:val>
                                        </p:tav>
                                        <p:tav tm="100000">
                                          <p:val>
                                            <p:strVal val="#ppt_y"/>
                                          </p:val>
                                        </p:tav>
                                      </p:tavLst>
                                    </p:anim>
                                    <p:set>
                                      <p:cBhvr>
                                        <p:cTn id="16" dur="1000" fill="hold">
                                          <p:stCondLst>
                                            <p:cond delay="0"/>
                                          </p:stCondLst>
                                        </p:cTn>
                                        <p:tgtEl>
                                          <p:spTgt spid="4"/>
                                        </p:tgtEl>
                                        <p:attrNameLst>
                                          <p:attrName>style.visibility</p:attrName>
                                        </p:attrNameLst>
                                      </p:cBhvr>
                                      <p:to>
                                        <p:strVal val="visible"/>
                                      </p:to>
                                    </p:set>
                                  </p:childTnLst>
                                </p:cTn>
                              </p:par>
                            </p:childTnLst>
                          </p:cTn>
                        </p:par>
                        <p:par>
                          <p:cTn id="17" fill="hold">
                            <p:stCondLst>
                              <p:cond delay="0"/>
                            </p:stCondLst>
                            <p:childTnLst>
                              <p:par>
                                <p:cTn id="18" presetID="23" presetClass="entr" presetSubtype="16" fill="hold" nodeType="afterEffect">
                                  <p:stCondLst>
                                    <p:cond delay="0"/>
                                  </p:stCondLst>
                                  <p:childTnLs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fltVal val="0"/>
                                          </p:val>
                                        </p:tav>
                                        <p:tav tm="100000">
                                          <p:val>
                                            <p:strVal val="#ppt_h"/>
                                          </p:val>
                                        </p:tav>
                                      </p:tavLst>
                                    </p:anim>
                                    <p:set>
                                      <p:cBhvr>
                                        <p:cTn id="21" dur="1" fill="hold">
                                          <p:stCondLst>
                                            <p:cond delay="0"/>
                                          </p:stCondLst>
                                        </p:cTn>
                                        <p:tgtEl>
                                          <p:spTgt spid="13"/>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par>
                          <p:cTn id="25" fill="hold">
                            <p:stCondLst>
                              <p:cond delay="0"/>
                            </p:stCondLst>
                            <p:childTnLst>
                              <p:par>
                                <p:cTn id="26" presetID="21" presetClass="entr" presetSubtype="8" fill="hold" nodeType="afterEffect">
                                  <p:stCondLst>
                                    <p:cond delay="0"/>
                                  </p:stCondLst>
                                  <p:childTnLst>
                                    <p:animEffect transition="in" filter="wheel(8)">
                                      <p:cBhvr>
                                        <p:cTn id="27" dur="1000"/>
                                        <p:tgtEl>
                                          <p:spTgt spid="9"/>
                                        </p:tgtEl>
                                      </p:cBhvr>
                                    </p:animEffect>
                                    <p:set>
                                      <p:cBhvr>
                                        <p:cTn id="28" dur="1000" fill="hold">
                                          <p:stCondLst>
                                            <p:cond delay="0"/>
                                          </p:stCondLst>
                                        </p:cTn>
                                        <p:tgtEl>
                                          <p:spTgt spid="9"/>
                                        </p:tgtEl>
                                        <p:attrNameLst>
                                          <p:attrName>style.visibility</p:attrName>
                                        </p:attrNameLst>
                                      </p:cBhvr>
                                      <p:to>
                                        <p:strVal val="visible"/>
                                      </p:to>
                                    </p:set>
                                  </p:childTnLst>
                                </p:cTn>
                              </p:par>
                            </p:childTnLst>
                          </p:cTn>
                        </p:par>
                        <p:par>
                          <p:cTn id="29" fill="hold">
                            <p:stCondLst>
                              <p:cond delay="0"/>
                            </p:stCondLst>
                            <p:childTnLst>
                              <p:par>
                                <p:cTn id="30" presetID="47" presetClass="entr" presetSubtype="0" fill="hold" nodeType="afterEffect">
                                  <p:stCondLst>
                                    <p:cond delay="0"/>
                                  </p:stCondLst>
                                  <p:childTnLst>
                                    <p:anim calcmode="lin" valueType="num">
                                      <p:cBhvr>
                                        <p:cTn id="31" dur="1000" fill="hold"/>
                                        <p:tgtEl>
                                          <p:spTgt spid="14"/>
                                        </p:tgtEl>
                                        <p:attrNameLst>
                                          <p:attrName>ppt_x</p:attrName>
                                        </p:attrNameLst>
                                      </p:cBhvr>
                                      <p:tavLst>
                                        <p:tav tm="0">
                                          <p:val>
                                            <p:strVal val="#ppt_x"/>
                                          </p:val>
                                        </p:tav>
                                        <p:tav tm="100000">
                                          <p:val>
                                            <p:strVal val="#ppt_x"/>
                                          </p:val>
                                        </p:tav>
                                      </p:tavLst>
                                    </p:anim>
                                    <p:anim calcmode="lin" valueType="num">
                                      <p:cBhvr>
                                        <p:cTn id="32" dur="1000" fill="hold"/>
                                        <p:tgtEl>
                                          <p:spTgt spid="14"/>
                                        </p:tgtEl>
                                        <p:attrNameLst>
                                          <p:attrName>ppt_y</p:attrName>
                                        </p:attrNameLst>
                                      </p:cBhvr>
                                      <p:tavLst>
                                        <p:tav tm="0">
                                          <p:val>
                                            <p:strVal val="#ppt_y-.1"/>
                                          </p:val>
                                        </p:tav>
                                        <p:tav tm="100000">
                                          <p:val>
                                            <p:strVal val="#ppt_y"/>
                                          </p:val>
                                        </p:tav>
                                      </p:tavLst>
                                    </p:anim>
                                    <p:animEffect transition="in" filter="fade">
                                      <p:cBhvr>
                                        <p:cTn id="33" dur="1000"/>
                                        <p:tgtEl>
                                          <p:spTgt spid="14"/>
                                        </p:tgtEl>
                                      </p:cBhvr>
                                    </p:animEffec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a:xfrm>
            <a:off x="687133" y="2611177"/>
            <a:ext cx="4775288" cy="360098"/>
          </a:xfrm>
        </p:spPr>
        <p:txBody>
          <a:bodyPr spcFirstLastPara="1" vert="horz" wrap="square" lIns="68580" tIns="34290" rIns="68580" bIns="34290" anchor="t" anchorCtr="0">
            <a:normAutofit fontScale="90000"/>
          </a:bodyPr>
          <a:lstStyle/>
          <a:p>
            <a:pPr algn="l">
              <a:lnSpc>
                <a:spcPct val="90000"/>
              </a:lnSpc>
              <a:spcBef>
                <a:spcPct val="0"/>
              </a:spcBef>
            </a:pPr>
            <a:r>
              <a:rPr lang="zh-CN" altLang="en-US" sz="1917" b="1">
                <a:solidFill>
                  <a:srgbClr val="2F2F2F"/>
                </a:solidFill>
                <a:latin typeface="微软雅黑"/>
                <a:ea typeface="微软雅黑"/>
              </a:rPr>
              <a:t>Challenges, Limitations, and Future Work</a:t>
            </a:r>
          </a:p>
        </p:txBody>
      </p:sp>
      <p:sp>
        <p:nvSpPr>
          <p:cNvPr id="3" name="TextBox 3"/>
          <p:cNvSpPr txBox="1"/>
          <p:nvPr/>
        </p:nvSpPr>
        <p:spPr>
          <a:xfrm>
            <a:off x="759513" y="1439471"/>
            <a:ext cx="160238" cy="925365"/>
          </a:xfrm>
          <a:prstGeom prst="rect">
            <a:avLst/>
          </a:prstGeom>
          <a:noFill/>
          <a:ln>
            <a:noFill/>
          </a:ln>
        </p:spPr>
        <p:txBody>
          <a:bodyPr vert="horz" wrap="none" lIns="68580" tIns="34290" rIns="68580" bIns="34290" numCol="1" rtlCol="0" anchor="t">
            <a:prstTxWarp prst="textPlain">
              <a:avLst/>
            </a:prstTxWarp>
            <a:spAutoFit/>
          </a:bodyPr>
          <a:lstStyle/>
          <a:p>
            <a:pPr>
              <a:defRPr/>
            </a:pPr>
            <a:r>
              <a:rPr lang="en-US" sz="1350" spc="75">
                <a:solidFill>
                  <a:schemeClr val="accent1"/>
                </a:solidFill>
                <a:latin typeface="Impact"/>
                <a:ea typeface="Impact"/>
              </a:rPr>
              <a:t>/</a:t>
            </a:r>
            <a:endParaRPr lang="en-US" sz="825"/>
          </a:p>
        </p:txBody>
      </p:sp>
      <p:sp>
        <p:nvSpPr>
          <p:cNvPr id="4" name="TextBox 4"/>
          <p:cNvSpPr txBox="1"/>
          <p:nvPr/>
        </p:nvSpPr>
        <p:spPr>
          <a:xfrm>
            <a:off x="930205" y="1313531"/>
            <a:ext cx="1248689" cy="1177245"/>
          </a:xfrm>
          <a:prstGeom prst="rect">
            <a:avLst/>
          </a:prstGeom>
          <a:noFill/>
        </p:spPr>
        <p:txBody>
          <a:bodyPr vert="horz" wrap="square" lIns="68580" tIns="34290" rIns="68580" bIns="34290" rtlCol="0" anchor="t">
            <a:spAutoFit/>
          </a:bodyPr>
          <a:lstStyle/>
          <a:p>
            <a:pPr>
              <a:defRPr/>
            </a:pPr>
            <a:r>
              <a:rPr lang="en-US" sz="7200" spc="75">
                <a:solidFill>
                  <a:schemeClr val="accent1"/>
                </a:solidFill>
                <a:latin typeface="Impact"/>
                <a:ea typeface="Impact"/>
              </a:rPr>
              <a:t>06</a:t>
            </a:r>
            <a:endParaRPr lang="en-US" sz="825"/>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animEffect transition="in" filter="blinds(horizontal)">
                                      <p:cBhvr>
                                        <p:cTn id="6" dur="1000"/>
                                        <p:tgtEl>
                                          <p:spTgt spid="4"/>
                                        </p:tgtEl>
                                      </p:cBhvr>
                                    </p:animEffect>
                                    <p:set>
                                      <p:cBhvr>
                                        <p:cTn id="7" dur="1000" fill="hold">
                                          <p:stCondLst>
                                            <p:cond delay="0"/>
                                          </p:stCondLst>
                                        </p:cTn>
                                        <p:tgtEl>
                                          <p:spTgt spid="4"/>
                                        </p:tgtEl>
                                        <p:attrNameLst>
                                          <p:attrName>style.visibility</p:attrName>
                                        </p:attrNameLst>
                                      </p:cBhvr>
                                      <p:to>
                                        <p:strVal val="visible"/>
                                      </p:to>
                                    </p:set>
                                  </p:childTnLst>
                                </p:cTn>
                              </p:par>
                            </p:childTnLst>
                          </p:cTn>
                        </p:par>
                        <p:par>
                          <p:cTn id="8" fill="hold">
                            <p:stCondLst>
                              <p:cond delay="0"/>
                            </p:stCondLst>
                            <p:childTnLst>
                              <p:par>
                                <p:cTn id="9" presetID="9" presetClass="entr" presetSubtype="0" fill="hold" nodeType="afterEffect">
                                  <p:stCondLst>
                                    <p:cond delay="0"/>
                                  </p:stCondLst>
                                  <p:childTnLst>
                                    <p:animEffect transition="in" filter="dissolve">
                                      <p:cBhvr>
                                        <p:cTn id="10" dur="1000"/>
                                        <p:tgtEl>
                                          <p:spTgt spid="2"/>
                                        </p:tgtEl>
                                      </p:cBhvr>
                                    </p:animEffect>
                                    <p:set>
                                      <p:cBhvr>
                                        <p:cTn id="11" dur="1000"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p:txBody>
          <a:bodyPr spcFirstLastPara="1" vert="horz" wrap="square" lIns="68580" tIns="34290" rIns="68580" bIns="34290" anchor="b" anchorCtr="0">
            <a:normAutofit/>
          </a:bodyPr>
          <a:lstStyle/>
          <a:p>
            <a:pPr algn="l">
              <a:lnSpc>
                <a:spcPct val="90000"/>
              </a:lnSpc>
              <a:spcBef>
                <a:spcPct val="0"/>
              </a:spcBef>
            </a:pPr>
            <a:r>
              <a:rPr lang="zh-CN" altLang="en-US" sz="2100" b="1">
                <a:solidFill>
                  <a:srgbClr val="2F2F2F"/>
                </a:solidFill>
                <a:latin typeface="微软雅黑"/>
                <a:ea typeface="微软雅黑"/>
              </a:rPr>
              <a:t>Challenges Encountered</a:t>
            </a:r>
          </a:p>
        </p:txBody>
      </p:sp>
      <p:grpSp>
        <p:nvGrpSpPr>
          <p:cNvPr id="3" name="Group 3"/>
          <p:cNvGrpSpPr/>
          <p:nvPr/>
        </p:nvGrpSpPr>
        <p:grpSpPr>
          <a:xfrm>
            <a:off x="1731014" y="1409564"/>
            <a:ext cx="1271166" cy="1271166"/>
            <a:chOff x="0" y="0"/>
            <a:chExt cx="3843866" cy="3843866"/>
          </a:xfrm>
        </p:grpSpPr>
        <p:sp>
          <p:nvSpPr>
            <p:cNvPr id="4" name="AutoShape 4"/>
            <p:cNvSpPr/>
            <p:nvPr/>
          </p:nvSpPr>
          <p:spPr>
            <a:xfrm>
              <a:off x="0" y="0"/>
              <a:ext cx="3843866" cy="3843866"/>
            </a:xfrm>
            <a:prstGeom prst="ellipse">
              <a:avLst/>
            </a:prstGeom>
            <a:solidFill>
              <a:srgbClr val="FFFFFF"/>
            </a:solidFill>
            <a:ln w="12700" cap="flat">
              <a:solidFill>
                <a:srgbClr val="DCDEE0"/>
              </a:solidFill>
              <a:prstDash val="solid"/>
            </a:ln>
            <a:effectLst/>
          </p:spPr>
          <p:txBody>
            <a:bodyPr vert="horz" wrap="square" lIns="68580" tIns="34290" rIns="68580" bIns="34290" anchor="ctr">
              <a:normAutofit/>
            </a:bodyPr>
            <a:lstStyle/>
            <a:p>
              <a:pPr algn="ctr"/>
              <a:endParaRPr sz="1050"/>
            </a:p>
          </p:txBody>
        </p:sp>
        <p:sp>
          <p:nvSpPr>
            <p:cNvPr id="5" name="AutoShape 5"/>
            <p:cNvSpPr/>
            <p:nvPr/>
          </p:nvSpPr>
          <p:spPr>
            <a:xfrm>
              <a:off x="228243" y="217139"/>
              <a:ext cx="3398481" cy="3398483"/>
            </a:xfrm>
            <a:prstGeom prst="ellipse">
              <a:avLst/>
            </a:prstGeom>
            <a:blipFill>
              <a:blip r:embed="rId2"/>
              <a:stretch>
                <a:fillRect l="-39219" r="-38559"/>
              </a:stretch>
            </a:blipFill>
            <a:ln cap="flat" cmpd="sng">
              <a:noFill/>
              <a:prstDash val="solid"/>
              <a:miter lim="800000"/>
            </a:ln>
            <a:effectLst/>
          </p:spPr>
          <p:txBody>
            <a:bodyPr vert="horz" lIns="68580" tIns="34290" rIns="68580" bIns="34290" anchor="ctr">
              <a:normAutofit/>
            </a:bodyPr>
            <a:lstStyle/>
            <a:p>
              <a:pPr algn="ctr"/>
              <a:endParaRPr sz="1050"/>
            </a:p>
          </p:txBody>
        </p:sp>
      </p:grpSp>
      <p:grpSp>
        <p:nvGrpSpPr>
          <p:cNvPr id="6" name="Group 6"/>
          <p:cNvGrpSpPr/>
          <p:nvPr/>
        </p:nvGrpSpPr>
        <p:grpSpPr>
          <a:xfrm>
            <a:off x="2112812" y="1791363"/>
            <a:ext cx="507569" cy="507569"/>
            <a:chOff x="1025999" y="1411000"/>
            <a:chExt cx="767418" cy="767418"/>
          </a:xfrm>
        </p:grpSpPr>
        <p:sp>
          <p:nvSpPr>
            <p:cNvPr id="7" name="AutoShape 7"/>
            <p:cNvSpPr/>
            <p:nvPr/>
          </p:nvSpPr>
          <p:spPr>
            <a:xfrm>
              <a:off x="1025999" y="1411000"/>
              <a:ext cx="767418" cy="767418"/>
            </a:xfrm>
            <a:prstGeom prst="ellipse">
              <a:avLst/>
            </a:prstGeom>
            <a:solidFill>
              <a:srgbClr val="2F2F2F">
                <a:alpha val="70000"/>
              </a:srgbClr>
            </a:solidFill>
            <a:ln w="38100">
              <a:solidFill>
                <a:srgbClr val="FFFFFF"/>
              </a:solidFill>
            </a:ln>
          </p:spPr>
          <p:txBody>
            <a:bodyPr vert="horz" wrap="square" lIns="68580" tIns="34290" rIns="68580" bIns="34290" anchor="ctr">
              <a:normAutofit/>
            </a:bodyPr>
            <a:lstStyle/>
            <a:p>
              <a:pPr algn="ctr"/>
              <a:endParaRPr sz="1050"/>
            </a:p>
          </p:txBody>
        </p:sp>
        <p:sp>
          <p:nvSpPr>
            <p:cNvPr id="8" name="Freeform 8"/>
            <p:cNvSpPr/>
            <p:nvPr/>
          </p:nvSpPr>
          <p:spPr>
            <a:xfrm>
              <a:off x="1203096" y="1592753"/>
              <a:ext cx="413225" cy="403914"/>
            </a:xfrm>
            <a:custGeom>
              <a:avLst/>
              <a:gdLst/>
              <a:ahLst/>
              <a:cxnLst/>
              <a:rect l="l" t="t" r="r" b="b"/>
              <a:pathLst>
                <a:path w="607933" h="594235">
                  <a:moveTo>
                    <a:pt x="163904" y="368072"/>
                  </a:moveTo>
                  <a:cubicBezTo>
                    <a:pt x="173837" y="383943"/>
                    <a:pt x="183771" y="399814"/>
                    <a:pt x="194698" y="416677"/>
                  </a:cubicBezTo>
                  <a:cubicBezTo>
                    <a:pt x="100329" y="430564"/>
                    <a:pt x="52648" y="460323"/>
                    <a:pt x="52648" y="475202"/>
                  </a:cubicBezTo>
                  <a:cubicBezTo>
                    <a:pt x="52648" y="495041"/>
                    <a:pt x="138076" y="542654"/>
                    <a:pt x="303966" y="542654"/>
                  </a:cubicBezTo>
                  <a:cubicBezTo>
                    <a:pt x="469857" y="542654"/>
                    <a:pt x="555285" y="495041"/>
                    <a:pt x="555285" y="475202"/>
                  </a:cubicBezTo>
                  <a:cubicBezTo>
                    <a:pt x="555285" y="460323"/>
                    <a:pt x="506611" y="430564"/>
                    <a:pt x="412242" y="416677"/>
                  </a:cubicBezTo>
                  <a:cubicBezTo>
                    <a:pt x="424162" y="399814"/>
                    <a:pt x="434096" y="383943"/>
                    <a:pt x="444030" y="368072"/>
                  </a:cubicBezTo>
                  <a:cubicBezTo>
                    <a:pt x="536412" y="385927"/>
                    <a:pt x="607933" y="421637"/>
                    <a:pt x="607933" y="475202"/>
                  </a:cubicBezTo>
                  <a:cubicBezTo>
                    <a:pt x="607933" y="553565"/>
                    <a:pt x="454956" y="594235"/>
                    <a:pt x="303966" y="594235"/>
                  </a:cubicBezTo>
                  <a:cubicBezTo>
                    <a:pt x="152977" y="594235"/>
                    <a:pt x="0" y="553565"/>
                    <a:pt x="0" y="475202"/>
                  </a:cubicBezTo>
                  <a:cubicBezTo>
                    <a:pt x="0" y="421637"/>
                    <a:pt x="70528" y="385927"/>
                    <a:pt x="163904" y="368072"/>
                  </a:cubicBezTo>
                  <a:close/>
                  <a:moveTo>
                    <a:pt x="304444" y="119134"/>
                  </a:moveTo>
                  <a:cubicBezTo>
                    <a:pt x="339849" y="119134"/>
                    <a:pt x="368550" y="147978"/>
                    <a:pt x="368550" y="183559"/>
                  </a:cubicBezTo>
                  <a:cubicBezTo>
                    <a:pt x="368550" y="219140"/>
                    <a:pt x="339849" y="247984"/>
                    <a:pt x="304444" y="247984"/>
                  </a:cubicBezTo>
                  <a:cubicBezTo>
                    <a:pt x="269039" y="247984"/>
                    <a:pt x="240338" y="219140"/>
                    <a:pt x="240338" y="183559"/>
                  </a:cubicBezTo>
                  <a:cubicBezTo>
                    <a:pt x="240338" y="147978"/>
                    <a:pt x="269039" y="119134"/>
                    <a:pt x="304444" y="119134"/>
                  </a:cubicBezTo>
                  <a:close/>
                  <a:moveTo>
                    <a:pt x="304941" y="78375"/>
                  </a:moveTo>
                  <a:cubicBezTo>
                    <a:pt x="246335" y="78375"/>
                    <a:pt x="198655" y="125003"/>
                    <a:pt x="198655" y="183536"/>
                  </a:cubicBezTo>
                  <a:cubicBezTo>
                    <a:pt x="198655" y="242070"/>
                    <a:pt x="246335" y="288698"/>
                    <a:pt x="304941" y="288698"/>
                  </a:cubicBezTo>
                  <a:cubicBezTo>
                    <a:pt x="362554" y="288698"/>
                    <a:pt x="410234" y="242070"/>
                    <a:pt x="410234" y="183536"/>
                  </a:cubicBezTo>
                  <a:cubicBezTo>
                    <a:pt x="410234" y="125003"/>
                    <a:pt x="362554" y="78375"/>
                    <a:pt x="304941" y="78375"/>
                  </a:cubicBezTo>
                  <a:close/>
                  <a:moveTo>
                    <a:pt x="304941" y="0"/>
                  </a:moveTo>
                  <a:cubicBezTo>
                    <a:pt x="403281" y="0"/>
                    <a:pt x="482747" y="80359"/>
                    <a:pt x="482747" y="178576"/>
                  </a:cubicBezTo>
                  <a:cubicBezTo>
                    <a:pt x="482747" y="249014"/>
                    <a:pt x="391361" y="383938"/>
                    <a:pt x="338714" y="454376"/>
                  </a:cubicBezTo>
                  <a:cubicBezTo>
                    <a:pt x="330768" y="465289"/>
                    <a:pt x="317854" y="472234"/>
                    <a:pt x="304941" y="472234"/>
                  </a:cubicBezTo>
                  <a:cubicBezTo>
                    <a:pt x="291035" y="472234"/>
                    <a:pt x="278121" y="465289"/>
                    <a:pt x="270175" y="454376"/>
                  </a:cubicBezTo>
                  <a:cubicBezTo>
                    <a:pt x="217528" y="383938"/>
                    <a:pt x="126142" y="249014"/>
                    <a:pt x="126142" y="178576"/>
                  </a:cubicBezTo>
                  <a:cubicBezTo>
                    <a:pt x="126142" y="80359"/>
                    <a:pt x="205608" y="0"/>
                    <a:pt x="304941" y="0"/>
                  </a:cubicBezTo>
                  <a:close/>
                </a:path>
              </a:pathLst>
            </a:custGeom>
            <a:solidFill>
              <a:srgbClr val="FFFFFF"/>
            </a:solidFill>
            <a:ln>
              <a:noFill/>
            </a:ln>
          </p:spPr>
          <p:txBody>
            <a:bodyPr vert="horz" wrap="square" lIns="68580" tIns="34290" rIns="68580" bIns="34290" anchor="ctr">
              <a:normAutofit/>
            </a:bodyPr>
            <a:lstStyle/>
            <a:p>
              <a:pPr algn="ctr"/>
              <a:endParaRPr sz="1050"/>
            </a:p>
          </p:txBody>
        </p:sp>
      </p:grpSp>
      <p:sp>
        <p:nvSpPr>
          <p:cNvPr id="9" name="AutoShape 9"/>
          <p:cNvSpPr/>
          <p:nvPr/>
        </p:nvSpPr>
        <p:spPr>
          <a:xfrm>
            <a:off x="4896580" y="3161893"/>
            <a:ext cx="3742595" cy="1252812"/>
          </a:xfrm>
          <a:prstGeom prst="rect">
            <a:avLst/>
          </a:prstGeom>
          <a:noFill/>
          <a:ln>
            <a:noFill/>
          </a:ln>
        </p:spPr>
        <p:txBody>
          <a:bodyPr vert="horz" wrap="square" lIns="67500" tIns="35100" rIns="67500" bIns="35100" anchor="t">
            <a:spAutoFit/>
          </a:bodyPr>
          <a:lstStyle/>
          <a:p>
            <a:pPr algn="ctr">
              <a:lnSpc>
                <a:spcPct val="150000"/>
              </a:lnSpc>
            </a:pPr>
            <a:r>
              <a:rPr lang="en-US" sz="1050">
                <a:solidFill>
                  <a:srgbClr val="2F2F2F"/>
                </a:solidFill>
                <a:latin typeface="+mn-ea"/>
                <a:ea typeface="+mn-ea"/>
              </a:rPr>
              <a:t>In certain simulation environments, limitations in ONNX framework support can lead to compatibility issues. This may restrict the use of some pretrained models or add complexity when attempting to incorporate various machine learning solutions.</a:t>
            </a:r>
          </a:p>
        </p:txBody>
      </p:sp>
      <p:sp>
        <p:nvSpPr>
          <p:cNvPr id="10" name="TextBox 10"/>
          <p:cNvSpPr txBox="1"/>
          <p:nvPr/>
        </p:nvSpPr>
        <p:spPr>
          <a:xfrm>
            <a:off x="4896580" y="2906342"/>
            <a:ext cx="3742595" cy="255551"/>
          </a:xfrm>
          <a:prstGeom prst="rect">
            <a:avLst/>
          </a:prstGeom>
          <a:noFill/>
          <a:ln>
            <a:noFill/>
          </a:ln>
        </p:spPr>
        <p:txBody>
          <a:bodyPr vert="horz" wrap="square" lIns="67500" tIns="35100" rIns="67500" bIns="35100" rtlCol="0" anchor="b">
            <a:spAutoFit/>
          </a:bodyPr>
          <a:lstStyle/>
          <a:p>
            <a:pPr algn="ctr">
              <a:spcBef>
                <a:spcPct val="0"/>
              </a:spcBef>
              <a:defRPr/>
            </a:pPr>
            <a:r>
              <a:rPr lang="en-US" sz="1200" b="1">
                <a:solidFill>
                  <a:srgbClr val="2F2F2F"/>
                </a:solidFill>
                <a:latin typeface="+mn-ea"/>
                <a:ea typeface="+mn-ea"/>
              </a:rPr>
              <a:t>Scenarios with Limited ONNX Support</a:t>
            </a:r>
            <a:endParaRPr lang="en-US" sz="825"/>
          </a:p>
        </p:txBody>
      </p:sp>
      <p:sp>
        <p:nvSpPr>
          <p:cNvPr id="11" name="AutoShape 11"/>
          <p:cNvSpPr/>
          <p:nvPr/>
        </p:nvSpPr>
        <p:spPr>
          <a:xfrm>
            <a:off x="495299" y="3161894"/>
            <a:ext cx="3742595" cy="1252812"/>
          </a:xfrm>
          <a:prstGeom prst="rect">
            <a:avLst/>
          </a:prstGeom>
          <a:noFill/>
          <a:ln>
            <a:noFill/>
          </a:ln>
        </p:spPr>
        <p:txBody>
          <a:bodyPr vert="horz" wrap="square" lIns="67500" tIns="35100" rIns="67500" bIns="35100" anchor="t">
            <a:spAutoFit/>
          </a:bodyPr>
          <a:lstStyle/>
          <a:p>
            <a:pPr algn="ctr">
              <a:lnSpc>
                <a:spcPct val="150000"/>
              </a:lnSpc>
            </a:pPr>
            <a:r>
              <a:rPr lang="en-US" sz="1050">
                <a:solidFill>
                  <a:srgbClr val="2F2F2F"/>
                </a:solidFill>
                <a:latin typeface="+mn-ea"/>
                <a:ea typeface="+mn-ea"/>
              </a:rPr>
              <a:t>Integrating machine learning models into the O-RAN framework presents challenges, particularly with respect to model compatibility and training efficiency. These challenges can affect implementation timelines and performance assessments during simulations.</a:t>
            </a:r>
          </a:p>
        </p:txBody>
      </p:sp>
      <p:sp>
        <p:nvSpPr>
          <p:cNvPr id="12" name="TextBox 12"/>
          <p:cNvSpPr txBox="1"/>
          <p:nvPr/>
        </p:nvSpPr>
        <p:spPr>
          <a:xfrm>
            <a:off x="495299" y="2906342"/>
            <a:ext cx="3742595" cy="255551"/>
          </a:xfrm>
          <a:prstGeom prst="rect">
            <a:avLst/>
          </a:prstGeom>
          <a:noFill/>
          <a:ln>
            <a:noFill/>
          </a:ln>
        </p:spPr>
        <p:txBody>
          <a:bodyPr vert="horz" wrap="square" lIns="67500" tIns="35100" rIns="67500" bIns="35100" rtlCol="0" anchor="b">
            <a:spAutoFit/>
          </a:bodyPr>
          <a:lstStyle/>
          <a:p>
            <a:pPr algn="ctr">
              <a:spcBef>
                <a:spcPct val="0"/>
              </a:spcBef>
              <a:defRPr/>
            </a:pPr>
            <a:r>
              <a:rPr lang="en-US" sz="1200" b="1">
                <a:solidFill>
                  <a:srgbClr val="2F2F2F"/>
                </a:solidFill>
                <a:latin typeface="+mn-ea"/>
                <a:ea typeface="+mn-ea"/>
              </a:rPr>
              <a:t>Integration Complexity of ML Models</a:t>
            </a:r>
            <a:endParaRPr lang="en-US" sz="825"/>
          </a:p>
        </p:txBody>
      </p:sp>
      <p:grpSp>
        <p:nvGrpSpPr>
          <p:cNvPr id="13" name="Group 13"/>
          <p:cNvGrpSpPr/>
          <p:nvPr/>
        </p:nvGrpSpPr>
        <p:grpSpPr>
          <a:xfrm>
            <a:off x="6132294" y="1409564"/>
            <a:ext cx="1271166" cy="1271166"/>
            <a:chOff x="0" y="0"/>
            <a:chExt cx="3843866" cy="3843866"/>
          </a:xfrm>
        </p:grpSpPr>
        <p:sp>
          <p:nvSpPr>
            <p:cNvPr id="14" name="AutoShape 14"/>
            <p:cNvSpPr/>
            <p:nvPr/>
          </p:nvSpPr>
          <p:spPr>
            <a:xfrm>
              <a:off x="0" y="0"/>
              <a:ext cx="3843866" cy="3843866"/>
            </a:xfrm>
            <a:prstGeom prst="ellipse">
              <a:avLst/>
            </a:prstGeom>
            <a:solidFill>
              <a:srgbClr val="FFFFFF"/>
            </a:solidFill>
            <a:ln w="12700" cap="flat">
              <a:solidFill>
                <a:srgbClr val="DCDEE0"/>
              </a:solidFill>
              <a:prstDash val="solid"/>
            </a:ln>
            <a:effectLst/>
          </p:spPr>
          <p:txBody>
            <a:bodyPr vert="horz" wrap="square" lIns="68580" tIns="34290" rIns="68580" bIns="34290" anchor="ctr">
              <a:normAutofit/>
            </a:bodyPr>
            <a:lstStyle/>
            <a:p>
              <a:pPr algn="ctr"/>
              <a:endParaRPr sz="1050"/>
            </a:p>
          </p:txBody>
        </p:sp>
        <p:sp>
          <p:nvSpPr>
            <p:cNvPr id="15" name="AutoShape 15"/>
            <p:cNvSpPr/>
            <p:nvPr/>
          </p:nvSpPr>
          <p:spPr>
            <a:xfrm>
              <a:off x="228243" y="217139"/>
              <a:ext cx="3398481" cy="3398483"/>
            </a:xfrm>
            <a:prstGeom prst="ellipse">
              <a:avLst/>
            </a:prstGeom>
            <a:blipFill>
              <a:blip r:embed="rId3"/>
              <a:stretch>
                <a:fillRect l="-25212" r="-24788"/>
              </a:stretch>
            </a:blipFill>
            <a:ln cap="flat" cmpd="sng">
              <a:noFill/>
              <a:prstDash val="solid"/>
              <a:miter lim="800000"/>
            </a:ln>
            <a:effectLst/>
          </p:spPr>
          <p:txBody>
            <a:bodyPr vert="horz" lIns="68580" tIns="34290" rIns="68580" bIns="34290" anchor="ctr">
              <a:normAutofit/>
            </a:bodyPr>
            <a:lstStyle/>
            <a:p>
              <a:pPr algn="ctr"/>
              <a:endParaRPr sz="1050"/>
            </a:p>
          </p:txBody>
        </p:sp>
      </p:grpSp>
      <p:grpSp>
        <p:nvGrpSpPr>
          <p:cNvPr id="16" name="Group 16"/>
          <p:cNvGrpSpPr/>
          <p:nvPr/>
        </p:nvGrpSpPr>
        <p:grpSpPr>
          <a:xfrm>
            <a:off x="6514093" y="1791363"/>
            <a:ext cx="507569" cy="507569"/>
            <a:chOff x="1025999" y="1411000"/>
            <a:chExt cx="767418" cy="767418"/>
          </a:xfrm>
        </p:grpSpPr>
        <p:sp>
          <p:nvSpPr>
            <p:cNvPr id="17" name="AutoShape 17"/>
            <p:cNvSpPr/>
            <p:nvPr/>
          </p:nvSpPr>
          <p:spPr>
            <a:xfrm>
              <a:off x="1025999" y="1411000"/>
              <a:ext cx="767418" cy="767418"/>
            </a:xfrm>
            <a:prstGeom prst="ellipse">
              <a:avLst/>
            </a:prstGeom>
            <a:solidFill>
              <a:schemeClr val="accent1">
                <a:alpha val="70000"/>
              </a:schemeClr>
            </a:solidFill>
            <a:ln w="38100">
              <a:solidFill>
                <a:srgbClr val="FFFFFF"/>
              </a:solidFill>
            </a:ln>
          </p:spPr>
          <p:txBody>
            <a:bodyPr vert="horz" wrap="square" lIns="68580" tIns="34290" rIns="68580" bIns="34290" anchor="ctr">
              <a:normAutofit/>
            </a:bodyPr>
            <a:lstStyle/>
            <a:p>
              <a:pPr algn="ctr"/>
              <a:endParaRPr sz="1050"/>
            </a:p>
          </p:txBody>
        </p:sp>
        <p:sp>
          <p:nvSpPr>
            <p:cNvPr id="18" name="Freeform 18"/>
            <p:cNvSpPr/>
            <p:nvPr/>
          </p:nvSpPr>
          <p:spPr>
            <a:xfrm>
              <a:off x="1203096" y="1592753"/>
              <a:ext cx="413225" cy="403914"/>
            </a:xfrm>
            <a:custGeom>
              <a:avLst/>
              <a:gdLst/>
              <a:ahLst/>
              <a:cxnLst/>
              <a:rect l="l" t="t" r="r" b="b"/>
              <a:pathLst>
                <a:path w="607933" h="594235">
                  <a:moveTo>
                    <a:pt x="163904" y="368072"/>
                  </a:moveTo>
                  <a:cubicBezTo>
                    <a:pt x="173837" y="383943"/>
                    <a:pt x="183771" y="399814"/>
                    <a:pt x="194698" y="416677"/>
                  </a:cubicBezTo>
                  <a:cubicBezTo>
                    <a:pt x="100329" y="430564"/>
                    <a:pt x="52648" y="460323"/>
                    <a:pt x="52648" y="475202"/>
                  </a:cubicBezTo>
                  <a:cubicBezTo>
                    <a:pt x="52648" y="495041"/>
                    <a:pt x="138076" y="542654"/>
                    <a:pt x="303966" y="542654"/>
                  </a:cubicBezTo>
                  <a:cubicBezTo>
                    <a:pt x="469857" y="542654"/>
                    <a:pt x="555285" y="495041"/>
                    <a:pt x="555285" y="475202"/>
                  </a:cubicBezTo>
                  <a:cubicBezTo>
                    <a:pt x="555285" y="460323"/>
                    <a:pt x="506611" y="430564"/>
                    <a:pt x="412242" y="416677"/>
                  </a:cubicBezTo>
                  <a:cubicBezTo>
                    <a:pt x="424162" y="399814"/>
                    <a:pt x="434096" y="383943"/>
                    <a:pt x="444030" y="368072"/>
                  </a:cubicBezTo>
                  <a:cubicBezTo>
                    <a:pt x="536412" y="385927"/>
                    <a:pt x="607933" y="421637"/>
                    <a:pt x="607933" y="475202"/>
                  </a:cubicBezTo>
                  <a:cubicBezTo>
                    <a:pt x="607933" y="553565"/>
                    <a:pt x="454956" y="594235"/>
                    <a:pt x="303966" y="594235"/>
                  </a:cubicBezTo>
                  <a:cubicBezTo>
                    <a:pt x="152977" y="594235"/>
                    <a:pt x="0" y="553565"/>
                    <a:pt x="0" y="475202"/>
                  </a:cubicBezTo>
                  <a:cubicBezTo>
                    <a:pt x="0" y="421637"/>
                    <a:pt x="70528" y="385927"/>
                    <a:pt x="163904" y="368072"/>
                  </a:cubicBezTo>
                  <a:close/>
                  <a:moveTo>
                    <a:pt x="304444" y="119134"/>
                  </a:moveTo>
                  <a:cubicBezTo>
                    <a:pt x="339849" y="119134"/>
                    <a:pt x="368550" y="147978"/>
                    <a:pt x="368550" y="183559"/>
                  </a:cubicBezTo>
                  <a:cubicBezTo>
                    <a:pt x="368550" y="219140"/>
                    <a:pt x="339849" y="247984"/>
                    <a:pt x="304444" y="247984"/>
                  </a:cubicBezTo>
                  <a:cubicBezTo>
                    <a:pt x="269039" y="247984"/>
                    <a:pt x="240338" y="219140"/>
                    <a:pt x="240338" y="183559"/>
                  </a:cubicBezTo>
                  <a:cubicBezTo>
                    <a:pt x="240338" y="147978"/>
                    <a:pt x="269039" y="119134"/>
                    <a:pt x="304444" y="119134"/>
                  </a:cubicBezTo>
                  <a:close/>
                  <a:moveTo>
                    <a:pt x="304941" y="78375"/>
                  </a:moveTo>
                  <a:cubicBezTo>
                    <a:pt x="246335" y="78375"/>
                    <a:pt x="198655" y="125003"/>
                    <a:pt x="198655" y="183536"/>
                  </a:cubicBezTo>
                  <a:cubicBezTo>
                    <a:pt x="198655" y="242070"/>
                    <a:pt x="246335" y="288698"/>
                    <a:pt x="304941" y="288698"/>
                  </a:cubicBezTo>
                  <a:cubicBezTo>
                    <a:pt x="362554" y="288698"/>
                    <a:pt x="410234" y="242070"/>
                    <a:pt x="410234" y="183536"/>
                  </a:cubicBezTo>
                  <a:cubicBezTo>
                    <a:pt x="410234" y="125003"/>
                    <a:pt x="362554" y="78375"/>
                    <a:pt x="304941" y="78375"/>
                  </a:cubicBezTo>
                  <a:close/>
                  <a:moveTo>
                    <a:pt x="304941" y="0"/>
                  </a:moveTo>
                  <a:cubicBezTo>
                    <a:pt x="403281" y="0"/>
                    <a:pt x="482747" y="80359"/>
                    <a:pt x="482747" y="178576"/>
                  </a:cubicBezTo>
                  <a:cubicBezTo>
                    <a:pt x="482747" y="249014"/>
                    <a:pt x="391361" y="383938"/>
                    <a:pt x="338714" y="454376"/>
                  </a:cubicBezTo>
                  <a:cubicBezTo>
                    <a:pt x="330768" y="465289"/>
                    <a:pt x="317854" y="472234"/>
                    <a:pt x="304941" y="472234"/>
                  </a:cubicBezTo>
                  <a:cubicBezTo>
                    <a:pt x="291035" y="472234"/>
                    <a:pt x="278121" y="465289"/>
                    <a:pt x="270175" y="454376"/>
                  </a:cubicBezTo>
                  <a:cubicBezTo>
                    <a:pt x="217528" y="383938"/>
                    <a:pt x="126142" y="249014"/>
                    <a:pt x="126142" y="178576"/>
                  </a:cubicBezTo>
                  <a:cubicBezTo>
                    <a:pt x="126142" y="80359"/>
                    <a:pt x="205608" y="0"/>
                    <a:pt x="304941" y="0"/>
                  </a:cubicBezTo>
                  <a:close/>
                </a:path>
              </a:pathLst>
            </a:custGeom>
            <a:solidFill>
              <a:srgbClr val="FFFFFF"/>
            </a:solidFill>
            <a:ln>
              <a:noFill/>
            </a:ln>
          </p:spPr>
          <p:txBody>
            <a:bodyPr vert="horz" wrap="square" lIns="68580" tIns="34290" rIns="68580" bIns="34290" anchor="ctr">
              <a:normAutofit/>
            </a:bodyPr>
            <a:lstStyle/>
            <a:p>
              <a:pPr algn="ctr"/>
              <a:endParaRPr sz="1050"/>
            </a:p>
          </p:txBody>
        </p:sp>
      </p:grpSp>
    </p:spTree>
  </p:cSld>
  <p:clrMapOvr>
    <a:masterClrMapping/>
  </p:clrMapOvr>
  <p:transition spd="slow">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nodeType="afterEffect">
                                  <p:stCondLst>
                                    <p:cond delay="0"/>
                                  </p:stCondLst>
                                  <p:childTnLst>
                                    <p:anim calcmode="lin" valueType="num">
                                      <p:cBhvr>
                                        <p:cTn id="6" dur="500" fill="hold"/>
                                        <p:tgtEl>
                                          <p:spTgt spid="2"/>
                                        </p:tgtEl>
                                        <p:attrNameLst>
                                          <p:attrName>ppt_w</p:attrName>
                                        </p:attrNameLst>
                                      </p:cBhvr>
                                      <p:tavLst>
                                        <p:tav tm="0">
                                          <p:val>
                                            <p:strVal val="4*#ppt_w"/>
                                          </p:val>
                                        </p:tav>
                                        <p:tav tm="100000">
                                          <p:val>
                                            <p:strVal val="#ppt_w"/>
                                          </p:val>
                                        </p:tav>
                                      </p:tavLst>
                                    </p:anim>
                                    <p:anim calcmode="lin" valueType="num">
                                      <p:cBhvr>
                                        <p:cTn id="7" dur="500" fill="hold"/>
                                        <p:tgtEl>
                                          <p:spTgt spid="2"/>
                                        </p:tgtEl>
                                        <p:attrNameLst>
                                          <p:attrName>ppt_h</p:attrName>
                                        </p:attrNameLst>
                                      </p:cBhvr>
                                      <p:tavLst>
                                        <p:tav tm="0">
                                          <p:val>
                                            <p:strVal val="4*#ppt_h"/>
                                          </p:val>
                                        </p:tav>
                                        <p:tav tm="100000">
                                          <p:val>
                                            <p:strVal val="#ppt_h"/>
                                          </p:val>
                                        </p:tav>
                                      </p:tavLst>
                                    </p:anim>
                                    <p:set>
                                      <p:cBhvr>
                                        <p:cTn id="8" dur="500" fill="hold">
                                          <p:stCondLst>
                                            <p:cond delay="0"/>
                                          </p:stCondLst>
                                        </p:cTn>
                                        <p:tgtEl>
                                          <p:spTgt spid="2"/>
                                        </p:tgtEl>
                                        <p:attrNameLst>
                                          <p:attrName>style.visibility</p:attrName>
                                        </p:attrNameLst>
                                      </p:cBhvr>
                                      <p:to>
                                        <p:strVal val="visible"/>
                                      </p:to>
                                    </p:set>
                                  </p:childTnLst>
                                </p:cTn>
                              </p:par>
                            </p:childTnLst>
                          </p:cTn>
                        </p:par>
                        <p:par>
                          <p:cTn id="9" fill="hold">
                            <p:stCondLst>
                              <p:cond delay="0"/>
                            </p:stCondLst>
                            <p:childTnLst>
                              <p:par>
                                <p:cTn id="10" presetID="6" presetClass="entr" presetSubtype="16" fill="hold" nodeType="afterEffect">
                                  <p:stCondLst>
                                    <p:cond delay="0"/>
                                  </p:stCondLst>
                                  <p:childTnLst>
                                    <p:animEffect transition="in" filter="circle(in)">
                                      <p:cBhvr>
                                        <p:cTn id="11" dur="1000"/>
                                        <p:tgtEl>
                                          <p:spTgt spid="12"/>
                                        </p:tgtEl>
                                      </p:cBhvr>
                                    </p:animEffect>
                                    <p:set>
                                      <p:cBhvr>
                                        <p:cTn id="12" dur="1000" fill="hold">
                                          <p:stCondLst>
                                            <p:cond delay="0"/>
                                          </p:stCondLst>
                                        </p:cTn>
                                        <p:tgtEl>
                                          <p:spTgt spid="12"/>
                                        </p:tgtEl>
                                        <p:attrNameLst>
                                          <p:attrName>style.visibility</p:attrName>
                                        </p:attrNameLst>
                                      </p:cBhvr>
                                      <p:to>
                                        <p:strVal val="visible"/>
                                      </p:to>
                                    </p:set>
                                  </p:childTnLst>
                                </p:cTn>
                              </p:par>
                            </p:childTnLst>
                          </p:cTn>
                        </p:par>
                        <p:par>
                          <p:cTn id="13" fill="hold">
                            <p:stCondLst>
                              <p:cond delay="0"/>
                            </p:stCondLst>
                            <p:childTnLst>
                              <p:par>
                                <p:cTn id="14" presetID="47" presetClass="entr" presetSubtype="0" fill="hold" nodeType="afterEffect">
                                  <p:stCondLst>
                                    <p:cond delay="0"/>
                                  </p:stCondLst>
                                  <p:childTnLs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animEffect transition="in" filter="fade">
                                      <p:cBhvr>
                                        <p:cTn id="17" dur="1000"/>
                                        <p:tgtEl>
                                          <p:spTgt spid="11"/>
                                        </p:tgtEl>
                                      </p:cBhvr>
                                    </p:animEffect>
                                    <p:set>
                                      <p:cBhvr>
                                        <p:cTn id="18" dur="1" fill="hold">
                                          <p:stCondLst>
                                            <p:cond delay="0"/>
                                          </p:stCondLst>
                                        </p:cTn>
                                        <p:tgtEl>
                                          <p:spTgt spid="11"/>
                                        </p:tgtEl>
                                        <p:attrNameLst>
                                          <p:attrName>style.visibility</p:attrName>
                                        </p:attrNameLst>
                                      </p:cBhvr>
                                      <p:to>
                                        <p:strVal val="visible"/>
                                      </p:to>
                                    </p:set>
                                  </p:childTnLst>
                                </p:cTn>
                              </p:par>
                            </p:childTnLst>
                          </p:cTn>
                        </p:par>
                        <p:par>
                          <p:cTn id="19" fill="hold">
                            <p:stCondLst>
                              <p:cond delay="0"/>
                            </p:stCondLst>
                            <p:childTnLst>
                              <p:par>
                                <p:cTn id="20" presetID="12" presetClass="entr" presetSubtype="2" fill="hold" nodeType="afterEffect">
                                  <p:stCondLst>
                                    <p:cond delay="0"/>
                                  </p:stCondLst>
                                  <p:childTnLst>
                                    <p:anim calcmode="lin" valueType="num">
                                      <p:cBhvr additive="base">
                                        <p:cTn id="21" dur="500"/>
                                        <p:tgtEl>
                                          <p:spTgt spid="5"/>
                                        </p:tgtEl>
                                        <p:attrNameLst>
                                          <p:attrName>ppt_x</p:attrName>
                                        </p:attrNameLst>
                                      </p:cBhvr>
                                      <p:tavLst>
                                        <p:tav tm="0">
                                          <p:val>
                                            <p:strVal val="#ppt_x+#ppt_w*1.125000"/>
                                          </p:val>
                                        </p:tav>
                                        <p:tav tm="100000">
                                          <p:val>
                                            <p:strVal val="#ppt_x"/>
                                          </p:val>
                                        </p:tav>
                                      </p:tavLst>
                                    </p:anim>
                                    <p:animEffect transition="in" filter="wipe(left)">
                                      <p:cBhvr>
                                        <p:cTn id="22" dur="500"/>
                                        <p:tgtEl>
                                          <p:spTgt spid="5"/>
                                        </p:tgtEl>
                                      </p:cBhvr>
                                    </p:animEffect>
                                    <p:set>
                                      <p:cBhvr>
                                        <p:cTn id="23" dur="500" fill="hold">
                                          <p:stCondLst>
                                            <p:cond delay="0"/>
                                          </p:stCondLst>
                                        </p:cTn>
                                        <p:tgtEl>
                                          <p:spTgt spid="5"/>
                                        </p:tgtEl>
                                        <p:attrNameLst>
                                          <p:attrName>style.visibility</p:attrName>
                                        </p:attrNameLst>
                                      </p:cBhvr>
                                      <p:to>
                                        <p:strVal val="visible"/>
                                      </p:to>
                                    </p:set>
                                  </p:childTnLst>
                                </p:cTn>
                              </p:par>
                            </p:childTnLst>
                          </p:cTn>
                        </p:par>
                        <p:par>
                          <p:cTn id="24" fill="hold">
                            <p:stCondLst>
                              <p:cond delay="0"/>
                            </p:stCondLst>
                            <p:childTnLst>
                              <p:par>
                                <p:cTn id="25" presetID="13" presetClass="entr" presetSubtype="16" fill="hold" nodeType="afterEffect">
                                  <p:stCondLst>
                                    <p:cond delay="0"/>
                                  </p:stCondLst>
                                  <p:childTnLst>
                                    <p:animEffect transition="in" filter="plus(in)">
                                      <p:cBhvr>
                                        <p:cTn id="26" dur="1000"/>
                                        <p:tgtEl>
                                          <p:spTgt spid="10"/>
                                        </p:tgtEl>
                                      </p:cBhvr>
                                    </p:animEffect>
                                    <p:set>
                                      <p:cBhvr>
                                        <p:cTn id="27" dur="1000" fill="hold">
                                          <p:stCondLst>
                                            <p:cond delay="0"/>
                                          </p:stCondLst>
                                        </p:cTn>
                                        <p:tgtEl>
                                          <p:spTgt spid="10"/>
                                        </p:tgtEl>
                                        <p:attrNameLst>
                                          <p:attrName>style.visibility</p:attrName>
                                        </p:attrNameLst>
                                      </p:cBhvr>
                                      <p:to>
                                        <p:strVal val="visible"/>
                                      </p:to>
                                    </p:set>
                                  </p:childTnLst>
                                </p:cTn>
                              </p:par>
                            </p:childTnLst>
                          </p:cTn>
                        </p:par>
                        <p:par>
                          <p:cTn id="28" fill="hold">
                            <p:stCondLst>
                              <p:cond delay="0"/>
                            </p:stCondLst>
                            <p:childTnLst>
                              <p:par>
                                <p:cTn id="29" presetID="2" presetClass="entr" presetSubtype="4" fill="hold" nodeType="afterEffect">
                                  <p:stCondLst>
                                    <p:cond delay="0"/>
                                  </p:stCondLst>
                                  <p:childTnLst>
                                    <p:anim calcmode="lin" valueType="num">
                                      <p:cBhvr additive="base">
                                        <p:cTn id="30" dur="1000" fill="hold"/>
                                        <p:tgtEl>
                                          <p:spTgt spid="9"/>
                                        </p:tgtEl>
                                        <p:attrNameLst>
                                          <p:attrName>ppt_x</p:attrName>
                                        </p:attrNameLst>
                                      </p:cBhvr>
                                      <p:tavLst>
                                        <p:tav tm="0">
                                          <p:val>
                                            <p:strVal val="#ppt_x"/>
                                          </p:val>
                                        </p:tav>
                                        <p:tav tm="100000">
                                          <p:val>
                                            <p:strVal val="#ppt_x"/>
                                          </p:val>
                                        </p:tav>
                                      </p:tavLst>
                                    </p:anim>
                                    <p:anim calcmode="lin" valueType="num">
                                      <p:cBhvr additive="base">
                                        <p:cTn id="31" dur="1000" fill="hold"/>
                                        <p:tgtEl>
                                          <p:spTgt spid="9"/>
                                        </p:tgtEl>
                                        <p:attrNameLst>
                                          <p:attrName>ppt_y</p:attrName>
                                        </p:attrNameLst>
                                      </p:cBhvr>
                                      <p:tavLst>
                                        <p:tav tm="0">
                                          <p:val>
                                            <p:strVal val="1+#ppt_h/2"/>
                                          </p:val>
                                        </p:tav>
                                        <p:tav tm="100000">
                                          <p:val>
                                            <p:strVal val="#ppt_y"/>
                                          </p:val>
                                        </p:tav>
                                      </p:tavLst>
                                    </p:anim>
                                    <p:set>
                                      <p:cBhvr>
                                        <p:cTn id="32" dur="1000" fill="hold">
                                          <p:stCondLst>
                                            <p:cond delay="0"/>
                                          </p:stCondLst>
                                        </p:cTn>
                                        <p:tgtEl>
                                          <p:spTgt spid="9"/>
                                        </p:tgtEl>
                                        <p:attrNameLst>
                                          <p:attrName>style.visibility</p:attrName>
                                        </p:attrNameLst>
                                      </p:cBhvr>
                                      <p:to>
                                        <p:strVal val="visible"/>
                                      </p:to>
                                    </p:set>
                                  </p:childTnLst>
                                </p:cTn>
                              </p:par>
                            </p:childTnLst>
                          </p:cTn>
                        </p:par>
                        <p:par>
                          <p:cTn id="33" fill="hold">
                            <p:stCondLst>
                              <p:cond delay="0"/>
                            </p:stCondLst>
                            <p:childTnLst>
                              <p:par>
                                <p:cTn id="34" presetID="2" presetClass="entr" presetSubtype="6" fill="hold" nodeType="afterEffect">
                                  <p:stCondLst>
                                    <p:cond delay="0"/>
                                  </p:stCondLst>
                                  <p:childTnLst>
                                    <p:anim calcmode="lin" valueType="num">
                                      <p:cBhvr additive="base">
                                        <p:cTn id="35" dur="1000" fill="hold"/>
                                        <p:tgtEl>
                                          <p:spTgt spid="15"/>
                                        </p:tgtEl>
                                        <p:attrNameLst>
                                          <p:attrName>ppt_x</p:attrName>
                                        </p:attrNameLst>
                                      </p:cBhvr>
                                      <p:tavLst>
                                        <p:tav tm="0">
                                          <p:val>
                                            <p:strVal val="1+#ppt_w/2"/>
                                          </p:val>
                                        </p:tav>
                                        <p:tav tm="100000">
                                          <p:val>
                                            <p:strVal val="#ppt_x"/>
                                          </p:val>
                                        </p:tav>
                                      </p:tavLst>
                                    </p:anim>
                                    <p:anim calcmode="lin" valueType="num">
                                      <p:cBhvr additive="base">
                                        <p:cTn id="36" dur="1000" fill="hold"/>
                                        <p:tgtEl>
                                          <p:spTgt spid="15"/>
                                        </p:tgtEl>
                                        <p:attrNameLst>
                                          <p:attrName>ppt_y</p:attrName>
                                        </p:attrNameLst>
                                      </p:cBhvr>
                                      <p:tavLst>
                                        <p:tav tm="0">
                                          <p:val>
                                            <p:strVal val="1+#ppt_h/2"/>
                                          </p:val>
                                        </p:tav>
                                        <p:tav tm="100000">
                                          <p:val>
                                            <p:strVal val="#ppt_y"/>
                                          </p:val>
                                        </p:tav>
                                      </p:tavLst>
                                    </p:anim>
                                    <p:set>
                                      <p:cBhvr>
                                        <p:cTn id="37" dur="1000"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p:txBody>
          <a:bodyPr spcFirstLastPara="1" vert="horz" wrap="square" lIns="68580" tIns="34290" rIns="68580" bIns="34290" anchor="b" anchorCtr="0">
            <a:normAutofit/>
          </a:bodyPr>
          <a:lstStyle/>
          <a:p>
            <a:pPr algn="ctr">
              <a:lnSpc>
                <a:spcPct val="90000"/>
              </a:lnSpc>
              <a:spcBef>
                <a:spcPct val="0"/>
              </a:spcBef>
            </a:pPr>
            <a:r>
              <a:rPr lang="zh-CN" altLang="en-US" sz="2100" b="1" dirty="0">
                <a:solidFill>
                  <a:srgbClr val="2F2F2F"/>
                </a:solidFill>
                <a:latin typeface="微软雅黑"/>
                <a:ea typeface="微软雅黑"/>
              </a:rPr>
              <a:t>Future Directions</a:t>
            </a:r>
          </a:p>
        </p:txBody>
      </p:sp>
      <p:sp>
        <p:nvSpPr>
          <p:cNvPr id="3" name="AutoShape 3"/>
          <p:cNvSpPr/>
          <p:nvPr/>
        </p:nvSpPr>
        <p:spPr>
          <a:xfrm>
            <a:off x="495300" y="1578411"/>
            <a:ext cx="5355581" cy="1307000"/>
          </a:xfrm>
          <a:prstGeom prst="roundRect">
            <a:avLst>
              <a:gd name="adj" fmla="val 8000"/>
            </a:avLst>
          </a:prstGeom>
          <a:solidFill>
            <a:srgbClr val="778495">
              <a:alpha val="15000"/>
            </a:srgbClr>
          </a:solidFill>
          <a:ln cap="flat">
            <a:noFill/>
            <a:prstDash val="solid"/>
            <a:miter lim="800000"/>
          </a:ln>
        </p:spPr>
        <p:txBody>
          <a:bodyPr vert="horz" lIns="68580" tIns="34290" rIns="68580" bIns="34290" anchor="ctr">
            <a:noAutofit/>
          </a:bodyPr>
          <a:lstStyle/>
          <a:p>
            <a:pPr>
              <a:lnSpc>
                <a:spcPct val="130000"/>
              </a:lnSpc>
            </a:pPr>
            <a:r>
              <a:rPr lang="en-US" sz="1050" dirty="0">
                <a:solidFill>
                  <a:srgbClr val="2F2F2F"/>
                </a:solidFill>
                <a:latin typeface="+mn-ea"/>
                <a:ea typeface="+mn-ea"/>
              </a:rPr>
              <a:t>Future work will focus on refining machine learning models using real-world data to enhance their predictive capabilities and effectiveness in network management scenarios, aiming to bridge the gap between theoretical models and practical applications.</a:t>
            </a:r>
          </a:p>
        </p:txBody>
      </p:sp>
      <p:sp>
        <p:nvSpPr>
          <p:cNvPr id="4" name="AutoShape 4"/>
          <p:cNvSpPr/>
          <p:nvPr/>
        </p:nvSpPr>
        <p:spPr>
          <a:xfrm>
            <a:off x="495300" y="1282294"/>
            <a:ext cx="3028176" cy="458173"/>
          </a:xfrm>
          <a:prstGeom prst="roundRect">
            <a:avLst/>
          </a:prstGeom>
          <a:solidFill>
            <a:schemeClr val="accent1"/>
          </a:solidFill>
          <a:ln>
            <a:noFill/>
          </a:ln>
        </p:spPr>
        <p:txBody>
          <a:bodyPr vert="horz" wrap="square" lIns="68580" tIns="34290" rIns="68580" bIns="34290" anchor="ctr">
            <a:noAutofit/>
          </a:bodyPr>
          <a:lstStyle/>
          <a:p>
            <a:pPr algn="ctr"/>
            <a:r>
              <a:rPr lang="en-US" sz="1200" b="1">
                <a:solidFill>
                  <a:schemeClr val="lt1"/>
                </a:solidFill>
                <a:latin typeface="+mn-ea"/>
                <a:ea typeface="+mn-ea"/>
              </a:rPr>
              <a:t>Improving ML Models with Real Data</a:t>
            </a:r>
          </a:p>
        </p:txBody>
      </p:sp>
      <p:sp>
        <p:nvSpPr>
          <p:cNvPr id="5" name="AutoShape 5"/>
          <p:cNvSpPr/>
          <p:nvPr/>
        </p:nvSpPr>
        <p:spPr>
          <a:xfrm>
            <a:off x="495301" y="3293575"/>
            <a:ext cx="5355581" cy="1307000"/>
          </a:xfrm>
          <a:prstGeom prst="roundRect">
            <a:avLst>
              <a:gd name="adj" fmla="val 8000"/>
            </a:avLst>
          </a:prstGeom>
          <a:solidFill>
            <a:srgbClr val="778495">
              <a:alpha val="15000"/>
            </a:srgbClr>
          </a:solidFill>
          <a:ln cap="flat">
            <a:noFill/>
            <a:prstDash val="solid"/>
            <a:miter lim="800000"/>
          </a:ln>
        </p:spPr>
        <p:txBody>
          <a:bodyPr vert="horz" lIns="68580" tIns="34290" rIns="68580" bIns="34290" anchor="ctr">
            <a:noAutofit/>
          </a:bodyPr>
          <a:lstStyle/>
          <a:p>
            <a:pPr>
              <a:lnSpc>
                <a:spcPct val="130000"/>
              </a:lnSpc>
            </a:pPr>
            <a:r>
              <a:rPr lang="en-US" sz="1050">
                <a:solidFill>
                  <a:srgbClr val="2F2F2F"/>
                </a:solidFill>
                <a:latin typeface="+mn-ea"/>
                <a:ea typeface="+mn-ea"/>
              </a:rPr>
              <a:t>There is a need to expand the xApp library to support additional functionalities, and future tests with 5G New Radio (NR) will assess the O-RAN module's scalability and adaptability in next-generation network environments, ensuring its relevance moving forward.</a:t>
            </a:r>
          </a:p>
        </p:txBody>
      </p:sp>
      <p:sp>
        <p:nvSpPr>
          <p:cNvPr id="6" name="AutoShape 6"/>
          <p:cNvSpPr/>
          <p:nvPr/>
        </p:nvSpPr>
        <p:spPr>
          <a:xfrm>
            <a:off x="701225" y="3114622"/>
            <a:ext cx="3028176" cy="458171"/>
          </a:xfrm>
          <a:prstGeom prst="roundRect">
            <a:avLst/>
          </a:prstGeom>
          <a:solidFill>
            <a:schemeClr val="accent1"/>
          </a:solidFill>
          <a:ln>
            <a:noFill/>
          </a:ln>
        </p:spPr>
        <p:txBody>
          <a:bodyPr vert="horz" wrap="square" lIns="68580" tIns="34290" rIns="68580" bIns="34290" anchor="ctr">
            <a:noAutofit/>
          </a:bodyPr>
          <a:lstStyle/>
          <a:p>
            <a:pPr algn="ctr"/>
            <a:r>
              <a:rPr lang="en-US" sz="1200" b="1">
                <a:solidFill>
                  <a:schemeClr val="lt1"/>
                </a:solidFill>
                <a:latin typeface="+mn-ea"/>
                <a:ea typeface="+mn-ea"/>
              </a:rPr>
              <a:t>Expanding xApp Library and Testing with 5G NR</a:t>
            </a:r>
          </a:p>
        </p:txBody>
      </p:sp>
    </p:spTree>
  </p:cSld>
  <p:clrMapOvr>
    <a:masterClrMapping/>
  </p:clrMapOvr>
  <p:transition spd="slow">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anim calcmode="lin" valueType="num">
                                      <p:cBhvr>
                                        <p:cTn id="6" dur="1000" fill="hold"/>
                                        <p:tgtEl>
                                          <p:spTgt spid="2"/>
                                        </p:tgtEl>
                                        <p:attrNameLst>
                                          <p:attrName>ppt_w</p:attrName>
                                        </p:attrNameLst>
                                      </p:cBhvr>
                                      <p:tavLst>
                                        <p:tav tm="0">
                                          <p:val>
                                            <p:fltVal val="0"/>
                                          </p:val>
                                        </p:tav>
                                        <p:tav tm="100000">
                                          <p:val>
                                            <p:strVal val="#ppt_w"/>
                                          </p:val>
                                        </p:tav>
                                      </p:tavLst>
                                    </p:anim>
                                    <p:anim calcmode="lin" valueType="num">
                                      <p:cBhvr>
                                        <p:cTn id="7" dur="1000" fill="hold"/>
                                        <p:tgtEl>
                                          <p:spTgt spid="2"/>
                                        </p:tgtEl>
                                        <p:attrNameLst>
                                          <p:attrName>ppt_h</p:attrName>
                                        </p:attrNameLst>
                                      </p:cBhvr>
                                      <p:tavLst>
                                        <p:tav tm="0">
                                          <p:val>
                                            <p:fltVal val="0"/>
                                          </p:val>
                                        </p:tav>
                                        <p:tav tm="100000">
                                          <p:val>
                                            <p:strVal val="#ppt_h"/>
                                          </p:val>
                                        </p:tav>
                                      </p:tavLst>
                                    </p:anim>
                                    <p:animEffect transition="in" filter="fade">
                                      <p:cBhvr>
                                        <p:cTn id="8" dur="1000"/>
                                        <p:tgtEl>
                                          <p:spTgt spid="2"/>
                                        </p:tgtEl>
                                      </p:cBhvr>
                                    </p:animEffect>
                                    <p:set>
                                      <p:cBhvr>
                                        <p:cTn id="9" dur="1000" fill="hold">
                                          <p:stCondLst>
                                            <p:cond delay="0"/>
                                          </p:stCondLst>
                                        </p:cTn>
                                        <p:tgtEl>
                                          <p:spTgt spid="2"/>
                                        </p:tgtEl>
                                        <p:attrNameLst>
                                          <p:attrName>style.visibility</p:attrName>
                                        </p:attrNameLst>
                                      </p:cBhvr>
                                      <p:to>
                                        <p:strVal val="visible"/>
                                      </p:to>
                                    </p:set>
                                  </p:childTnLst>
                                </p:cTn>
                              </p:par>
                            </p:childTnLst>
                          </p:cTn>
                        </p:par>
                        <p:par>
                          <p:cTn id="10" fill="hold">
                            <p:stCondLst>
                              <p:cond delay="0"/>
                            </p:stCondLst>
                            <p:childTnLst>
                              <p:par>
                                <p:cTn id="11" presetID="49" presetClass="entr" presetSubtype="0" fill="hold" nodeType="afterEffect">
                                  <p:stCondLst>
                                    <p:cond delay="0"/>
                                  </p:stCondLst>
                                  <p:childTnLst>
                                    <p:anim calcmode="lin" valueType="num">
                                      <p:cBhvr>
                                        <p:cTn id="12" dur="1000" fill="hold"/>
                                        <p:tgtEl>
                                          <p:spTgt spid="4"/>
                                        </p:tgtEl>
                                        <p:attrNameLst>
                                          <p:attrName>ppt_w</p:attrName>
                                        </p:attrNameLst>
                                      </p:cBhvr>
                                      <p:tavLst>
                                        <p:tav tm="0">
                                          <p:val>
                                            <p:fltVal val="0"/>
                                          </p:val>
                                        </p:tav>
                                        <p:tav tm="100000">
                                          <p:val>
                                            <p:strVal val="#ppt_w"/>
                                          </p:val>
                                        </p:tav>
                                      </p:tavLst>
                                    </p:anim>
                                    <p:anim calcmode="lin" valueType="num">
                                      <p:cBhvr>
                                        <p:cTn id="13" dur="1000" fill="hold"/>
                                        <p:tgtEl>
                                          <p:spTgt spid="4"/>
                                        </p:tgtEl>
                                        <p:attrNameLst>
                                          <p:attrName>ppt_h</p:attrName>
                                        </p:attrNameLst>
                                      </p:cBhvr>
                                      <p:tavLst>
                                        <p:tav tm="0">
                                          <p:val>
                                            <p:fltVal val="0"/>
                                          </p:val>
                                        </p:tav>
                                        <p:tav tm="100000">
                                          <p:val>
                                            <p:strVal val="#ppt_h"/>
                                          </p:val>
                                        </p:tav>
                                      </p:tavLst>
                                    </p:anim>
                                    <p:anim calcmode="lin" valueType="num">
                                      <p:cBhvr>
                                        <p:cTn id="14" dur="1000" fill="hold"/>
                                        <p:tgtEl>
                                          <p:spTgt spid="4"/>
                                        </p:tgtEl>
                                        <p:attrNameLst>
                                          <p:attrName>style.rotation</p:attrName>
                                        </p:attrNameLst>
                                      </p:cBhvr>
                                      <p:tavLst>
                                        <p:tav tm="0">
                                          <p:val>
                                            <p:fltVal val="360"/>
                                          </p:val>
                                        </p:tav>
                                        <p:tav tm="100000">
                                          <p:val>
                                            <p:fltVal val="0"/>
                                          </p:val>
                                        </p:tav>
                                      </p:tavLst>
                                    </p:anim>
                                    <p:animEffect transition="in" filter="fade">
                                      <p:cBhvr>
                                        <p:cTn id="15" dur="1000"/>
                                        <p:tgtEl>
                                          <p:spTgt spid="4"/>
                                        </p:tgtEl>
                                      </p:cBhvr>
                                    </p:animEffect>
                                    <p:set>
                                      <p:cBhvr>
                                        <p:cTn id="16" dur="1000" fill="hold">
                                          <p:stCondLst>
                                            <p:cond delay="0"/>
                                          </p:stCondLst>
                                        </p:cTn>
                                        <p:tgtEl>
                                          <p:spTgt spid="4"/>
                                        </p:tgtEl>
                                        <p:attrNameLst>
                                          <p:attrName>style.visibility</p:attrName>
                                        </p:attrNameLst>
                                      </p:cBhvr>
                                      <p:to>
                                        <p:strVal val="visible"/>
                                      </p:to>
                                    </p:set>
                                  </p:childTnLst>
                                </p:cTn>
                              </p:par>
                            </p:childTnLst>
                          </p:cTn>
                        </p:par>
                        <p:par>
                          <p:cTn id="17" fill="hold">
                            <p:stCondLst>
                              <p:cond delay="0"/>
                            </p:stCondLst>
                            <p:childTnLst>
                              <p:par>
                                <p:cTn id="18" presetID="4" presetClass="entr" presetSubtype="16" fill="hold" nodeType="afterEffect">
                                  <p:stCondLst>
                                    <p:cond delay="0"/>
                                  </p:stCondLst>
                                  <p:childTnLst>
                                    <p:animEffect transition="in" filter="box(in)">
                                      <p:cBhvr>
                                        <p:cTn id="19" dur="1000"/>
                                        <p:tgtEl>
                                          <p:spTgt spid="3"/>
                                        </p:tgtEl>
                                      </p:cBhvr>
                                    </p:animEffect>
                                    <p:set>
                                      <p:cBhvr>
                                        <p:cTn id="20" dur="1000" fill="hold">
                                          <p:stCondLst>
                                            <p:cond delay="0"/>
                                          </p:stCondLst>
                                        </p:cTn>
                                        <p:tgtEl>
                                          <p:spTgt spid="3"/>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par>
                          <p:cTn id="24" fill="hold">
                            <p:stCondLst>
                              <p:cond delay="0"/>
                            </p:stCondLst>
                            <p:childTnLst>
                              <p:par>
                                <p:cTn id="25" presetID="30" presetClass="entr" presetSubtype="0" fill="hold" nodeType="afterEffect">
                                  <p:stCondLst>
                                    <p:cond delay="0"/>
                                  </p:stCondLst>
                                  <p:childTnLst>
                                    <p:anim calcmode="lin" valueType="num">
                                      <p:cBhvr>
                                        <p:cTn id="26" dur="800" decel="100000" fill="hold"/>
                                        <p:tgtEl>
                                          <p:spTgt spid="5"/>
                                        </p:tgtEl>
                                        <p:attrNameLst>
                                          <p:attrName>style.rotation</p:attrName>
                                        </p:attrNameLst>
                                      </p:cBhvr>
                                      <p:tavLst>
                                        <p:tav tm="0">
                                          <p:val>
                                            <p:fltVal val="-90"/>
                                          </p:val>
                                        </p:tav>
                                        <p:tav tm="100000">
                                          <p:val>
                                            <p:fltVal val="0"/>
                                          </p:val>
                                        </p:tav>
                                      </p:tavLst>
                                    </p:anim>
                                    <p:anim calcmode="lin" valueType="num">
                                      <p:cBhvr>
                                        <p:cTn id="27" dur="800" decel="100000" fill="hold"/>
                                        <p:tgtEl>
                                          <p:spTgt spid="5"/>
                                        </p:tgtEl>
                                        <p:attrNameLst>
                                          <p:attrName>ppt_x</p:attrName>
                                        </p:attrNameLst>
                                      </p:cBhvr>
                                      <p:tavLst>
                                        <p:tav tm="0">
                                          <p:val>
                                            <p:strVal val="#ppt_x+0.4"/>
                                          </p:val>
                                        </p:tav>
                                        <p:tav tm="100000">
                                          <p:val>
                                            <p:strVal val="#ppt_x-0.05"/>
                                          </p:val>
                                        </p:tav>
                                      </p:tavLst>
                                    </p:anim>
                                    <p:anim calcmode="lin" valueType="num">
                                      <p:cBhvr>
                                        <p:cTn id="28" dur="800" decel="100000" fill="hold"/>
                                        <p:tgtEl>
                                          <p:spTgt spid="5"/>
                                        </p:tgtEl>
                                        <p:attrNameLst>
                                          <p:attrName>ppt_y</p:attrName>
                                        </p:attrNameLst>
                                      </p:cBhvr>
                                      <p:tavLst>
                                        <p:tav tm="0">
                                          <p:val>
                                            <p:strVal val="#ppt_y-0.4"/>
                                          </p:val>
                                        </p:tav>
                                        <p:tav tm="100000">
                                          <p:val>
                                            <p:strVal val="#ppt_y+0.1"/>
                                          </p:val>
                                        </p:tav>
                                      </p:tavLst>
                                    </p:anim>
                                    <p:anim calcmode="lin" valueType="num">
                                      <p:cBhvr>
                                        <p:cTn id="29"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30" dur="200" accel="100000" fill="hold">
                                          <p:stCondLst>
                                            <p:cond delay="800"/>
                                          </p:stCondLst>
                                        </p:cTn>
                                        <p:tgtEl>
                                          <p:spTgt spid="5"/>
                                        </p:tgtEl>
                                        <p:attrNameLst>
                                          <p:attrName>ppt_y</p:attrName>
                                        </p:attrNameLst>
                                      </p:cBhvr>
                                      <p:tavLst>
                                        <p:tav tm="0">
                                          <p:val>
                                            <p:strVal val="#ppt_y+0.1"/>
                                          </p:val>
                                        </p:tav>
                                        <p:tav tm="100000">
                                          <p:val>
                                            <p:strVal val="#ppt_y"/>
                                          </p:val>
                                        </p:tav>
                                      </p:tavLst>
                                    </p:anim>
                                    <p:animEffect transition="in" filter="fade">
                                      <p:cBhvr>
                                        <p:cTn id="31" dur="800" decel="100000"/>
                                        <p:tgtEl>
                                          <p:spTgt spid="5"/>
                                        </p:tgtEl>
                                      </p:cBhvr>
                                    </p:animEffec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1797</Words>
  <Application>Microsoft Office PowerPoint</Application>
  <PresentationFormat>On-screen Show (16:9)</PresentationFormat>
  <Paragraphs>113</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微软雅黑</vt:lpstr>
      <vt:lpstr>Arial</vt:lpstr>
      <vt:lpstr>Calibri</vt:lpstr>
      <vt:lpstr>Impact</vt:lpstr>
      <vt:lpstr>Playfair Display</vt:lpstr>
      <vt:lpstr>Times New Roman</vt:lpstr>
      <vt:lpstr>Simple Light</vt:lpstr>
      <vt:lpstr>PowerPoint Presentation</vt:lpstr>
      <vt:lpstr>PowerPoint Presentation</vt:lpstr>
      <vt:lpstr>Introduction to O-RAN and ns-3</vt:lpstr>
      <vt:lpstr>O-RAN Concept</vt:lpstr>
      <vt:lpstr>ns-3 Simulation Tool</vt:lpstr>
      <vt:lpstr>O-RAN Architecture Components</vt:lpstr>
      <vt:lpstr>Key Components Overview</vt:lpstr>
      <vt:lpstr>Interfaces and Protocols</vt:lpstr>
      <vt:lpstr>Project Objectives</vt:lpstr>
      <vt:lpstr>Modeling O-RAN in ns-3</vt:lpstr>
      <vt:lpstr>Machine Learning Integration</vt:lpstr>
      <vt:lpstr>Methodology of Simulation Setup</vt:lpstr>
      <vt:lpstr>Network Topology Design</vt:lpstr>
      <vt:lpstr>RIC and ML Model Integration</vt:lpstr>
      <vt:lpstr>Results and Performance Analysis</vt:lpstr>
      <vt:lpstr>Collected Metrics</vt:lpstr>
      <vt:lpstr>Performance Comparison</vt:lpstr>
      <vt:lpstr>Challenges, Limitations, and Future Work</vt:lpstr>
      <vt:lpstr>Challenges Encountered</vt:lpstr>
      <vt:lpstr>Future Directions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sachin deshik</cp:lastModifiedBy>
  <cp:revision>75</cp:revision>
  <dcterms:modified xsi:type="dcterms:W3CDTF">2025-07-07T14:44:11Z</dcterms:modified>
</cp:coreProperties>
</file>